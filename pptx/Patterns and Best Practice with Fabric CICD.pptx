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551" r:id="rId4"/>
    <p:sldMasterId id="2147484576" r:id="rId5"/>
  </p:sldMasterIdLst>
  <p:notesMasterIdLst>
    <p:notesMasterId r:id="rId69"/>
  </p:notesMasterIdLst>
  <p:handoutMasterIdLst>
    <p:handoutMasterId r:id="rId70"/>
  </p:handoutMasterIdLst>
  <p:sldIdLst>
    <p:sldId id="2147482125" r:id="rId6"/>
    <p:sldId id="2147482173" r:id="rId7"/>
    <p:sldId id="2147482112" r:id="rId8"/>
    <p:sldId id="2147482113" r:id="rId9"/>
    <p:sldId id="2147482203" r:id="rId10"/>
    <p:sldId id="2147482205" r:id="rId11"/>
    <p:sldId id="2147482229" r:id="rId12"/>
    <p:sldId id="2147482200" r:id="rId13"/>
    <p:sldId id="2147482219" r:id="rId14"/>
    <p:sldId id="2147482175" r:id="rId15"/>
    <p:sldId id="2147482181" r:id="rId16"/>
    <p:sldId id="2147482182" r:id="rId17"/>
    <p:sldId id="2147482183" r:id="rId18"/>
    <p:sldId id="2147482227" r:id="rId19"/>
    <p:sldId id="2147482166" r:id="rId20"/>
    <p:sldId id="2147482198" r:id="rId21"/>
    <p:sldId id="2147482176" r:id="rId22"/>
    <p:sldId id="2147482208" r:id="rId23"/>
    <p:sldId id="2147482256" r:id="rId24"/>
    <p:sldId id="2147482209" r:id="rId25"/>
    <p:sldId id="2147482218" r:id="rId26"/>
    <p:sldId id="2147482211" r:id="rId27"/>
    <p:sldId id="2147482210" r:id="rId28"/>
    <p:sldId id="2147482212" r:id="rId29"/>
    <p:sldId id="2147482216" r:id="rId30"/>
    <p:sldId id="2147482213" r:id="rId31"/>
    <p:sldId id="2147482214" r:id="rId32"/>
    <p:sldId id="2147482215" r:id="rId33"/>
    <p:sldId id="2147482246" r:id="rId34"/>
    <p:sldId id="2147482177" r:id="rId35"/>
    <p:sldId id="2147482220" r:id="rId36"/>
    <p:sldId id="2147482221" r:id="rId37"/>
    <p:sldId id="2147482223" r:id="rId38"/>
    <p:sldId id="2147482222" r:id="rId39"/>
    <p:sldId id="2147482225" r:id="rId40"/>
    <p:sldId id="2147482233" r:id="rId41"/>
    <p:sldId id="2147482234" r:id="rId42"/>
    <p:sldId id="2147482162" r:id="rId43"/>
    <p:sldId id="2147482242" r:id="rId44"/>
    <p:sldId id="2147482100" r:id="rId45"/>
    <p:sldId id="2147482244" r:id="rId46"/>
    <p:sldId id="2147482165" r:id="rId47"/>
    <p:sldId id="2147482245" r:id="rId48"/>
    <p:sldId id="2147482241" r:id="rId49"/>
    <p:sldId id="2147482160" r:id="rId50"/>
    <p:sldId id="2147482163" r:id="rId51"/>
    <p:sldId id="2147482255" r:id="rId52"/>
    <p:sldId id="2147482247" r:id="rId53"/>
    <p:sldId id="2147482248" r:id="rId54"/>
    <p:sldId id="2147482178" r:id="rId55"/>
    <p:sldId id="2147482231" r:id="rId56"/>
    <p:sldId id="2147482232" r:id="rId57"/>
    <p:sldId id="2147482235" r:id="rId58"/>
    <p:sldId id="2147482170" r:id="rId59"/>
    <p:sldId id="2147482250" r:id="rId60"/>
    <p:sldId id="2147482236" r:id="rId61"/>
    <p:sldId id="2147482252" r:id="rId62"/>
    <p:sldId id="2147482171" r:id="rId63"/>
    <p:sldId id="2147482253" r:id="rId64"/>
    <p:sldId id="2147482254" r:id="rId65"/>
    <p:sldId id="2147482238" r:id="rId66"/>
    <p:sldId id="2147482249" r:id="rId67"/>
    <p:sldId id="2147482180" r:id="rId68"/>
  </p:sldIdLst>
  <p:sldSz cx="12436475" cy="6994525"/>
  <p:notesSz cx="7010400" cy="92964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E73487-5996-4DE0-B97B-80AE53F81838}">
          <p14:sldIdLst>
            <p14:sldId id="2147482125"/>
            <p14:sldId id="2147482173"/>
            <p14:sldId id="2147482112"/>
            <p14:sldId id="2147482113"/>
            <p14:sldId id="2147482203"/>
            <p14:sldId id="2147482205"/>
            <p14:sldId id="2147482229"/>
            <p14:sldId id="2147482200"/>
            <p14:sldId id="2147482219"/>
            <p14:sldId id="2147482175"/>
            <p14:sldId id="2147482181"/>
            <p14:sldId id="2147482182"/>
            <p14:sldId id="2147482183"/>
            <p14:sldId id="2147482227"/>
            <p14:sldId id="2147482166"/>
            <p14:sldId id="2147482198"/>
            <p14:sldId id="2147482176"/>
            <p14:sldId id="2147482208"/>
            <p14:sldId id="2147482256"/>
            <p14:sldId id="2147482209"/>
            <p14:sldId id="2147482218"/>
            <p14:sldId id="2147482211"/>
            <p14:sldId id="2147482210"/>
            <p14:sldId id="2147482212"/>
            <p14:sldId id="2147482216"/>
            <p14:sldId id="2147482213"/>
            <p14:sldId id="2147482214"/>
            <p14:sldId id="2147482215"/>
            <p14:sldId id="2147482246"/>
            <p14:sldId id="2147482177"/>
            <p14:sldId id="2147482220"/>
            <p14:sldId id="2147482221"/>
            <p14:sldId id="2147482223"/>
            <p14:sldId id="2147482222"/>
            <p14:sldId id="2147482225"/>
            <p14:sldId id="2147482233"/>
            <p14:sldId id="2147482234"/>
            <p14:sldId id="2147482162"/>
            <p14:sldId id="2147482242"/>
            <p14:sldId id="2147482100"/>
            <p14:sldId id="2147482244"/>
            <p14:sldId id="2147482165"/>
            <p14:sldId id="2147482245"/>
            <p14:sldId id="2147482241"/>
            <p14:sldId id="2147482160"/>
            <p14:sldId id="2147482163"/>
            <p14:sldId id="2147482255"/>
            <p14:sldId id="2147482247"/>
            <p14:sldId id="2147482248"/>
            <p14:sldId id="2147482178"/>
            <p14:sldId id="2147482231"/>
            <p14:sldId id="2147482232"/>
            <p14:sldId id="2147482235"/>
            <p14:sldId id="2147482170"/>
            <p14:sldId id="2147482250"/>
            <p14:sldId id="2147482236"/>
            <p14:sldId id="2147482252"/>
            <p14:sldId id="2147482171"/>
            <p14:sldId id="2147482253"/>
            <p14:sldId id="2147482254"/>
            <p14:sldId id="2147482238"/>
            <p14:sldId id="2147482249"/>
            <p14:sldId id="21474821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0CFE33-38B5-93F4-CBDC-19387157439A}" name="Fretz Nuson" initials="FN" userId="S::frnuson@microsoft.com::4f89d152-8c61-4ebe-9979-f75548eb188f" providerId="AD"/>
  <p188:author id="{29F777B8-775D-FF4A-5EC6-49912B8B8FCB}" name="Nimrod Shalit" initials="NS" userId="S::nishalit@microsoft.com::13d05e46-027d-46c3-aabb-ccf1744354f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7" name="Jasper Hedegaard Bojsen" initials="JHB" lastIdx="2" clrIdx="7">
    <p:extLst>
      <p:ext uri="{19B8F6BF-5375-455C-9EA6-DF929625EA0E}">
        <p15:presenceInfo xmlns:p15="http://schemas.microsoft.com/office/powerpoint/2012/main" userId="S::jasperhb@microsoft.com::e917db92-6445-433e-ac97-2eab88ce737d" providerId="AD"/>
      </p:ext>
    </p:extLst>
  </p:cmAuthor>
  <p:cmAuthor id="1" name="Mary Feil-Jacobs" initials="MFJ" lastIdx="43" clrIdx="1"/>
  <p:cmAuthor id="8" name="Gordon Macdonald" initials="GM" lastIdx="10" clrIdx="8">
    <p:extLst>
      <p:ext uri="{19B8F6BF-5375-455C-9EA6-DF929625EA0E}">
        <p15:presenceInfo xmlns:p15="http://schemas.microsoft.com/office/powerpoint/2012/main" userId="419a06e8ae266e15" providerId="Windows Live"/>
      </p:ext>
    </p:extLst>
  </p:cmAuthor>
  <p:cmAuthor id="2" name="Monica Lueder" initials="ML" lastIdx="22" clrIdx="2"/>
  <p:cmAuthor id="3" name="Mary Feil-Jacobs" initials="MF" lastIdx="22" clrIdx="3"/>
  <p:cmAuthor id="4" name="Angela Powell" initials="AP" lastIdx="9" clrIdx="4">
    <p:extLst>
      <p:ext uri="{19B8F6BF-5375-455C-9EA6-DF929625EA0E}">
        <p15:presenceInfo xmlns:p15="http://schemas.microsoft.com/office/powerpoint/2012/main" userId="cf7d67635d593fc2" providerId="Windows Live"/>
      </p:ext>
    </p:extLst>
  </p:cmAuthor>
  <p:cmAuthor id="5" name="Andrew Cook" initials="AC" lastIdx="7" clrIdx="5">
    <p:extLst>
      <p:ext uri="{19B8F6BF-5375-455C-9EA6-DF929625EA0E}">
        <p15:presenceInfo xmlns:p15="http://schemas.microsoft.com/office/powerpoint/2012/main" userId="S-1-5-21-2127521184-1604012920-1887927527-2644137" providerId="AD"/>
      </p:ext>
    </p:extLst>
  </p:cmAuthor>
  <p:cmAuthor id="6" name="Olga Masek" initials="OM" lastIdx="13" clrIdx="6">
    <p:extLst>
      <p:ext uri="{19B8F6BF-5375-455C-9EA6-DF929625EA0E}">
        <p15:presenceInfo xmlns:p15="http://schemas.microsoft.com/office/powerpoint/2012/main" userId="S-1-5-21-2127521184-1604012920-1887927527-16609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00"/>
    <a:srgbClr val="C00000"/>
    <a:srgbClr val="FFB9FF"/>
    <a:srgbClr val="FFFFFF"/>
    <a:srgbClr val="6C0000"/>
    <a:srgbClr val="89FFF1"/>
    <a:srgbClr val="FFCDFF"/>
    <a:srgbClr val="D9E6FF"/>
    <a:srgbClr val="FFCCCC"/>
    <a:srgbClr val="DAA52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987" autoAdjust="0"/>
    <p:restoredTop sz="93884" autoAdjust="0"/>
  </p:normalViewPr>
  <p:slideViewPr>
    <p:cSldViewPr snapToGrid="0">
      <p:cViewPr varScale="1">
        <p:scale>
          <a:sx n="93" d="100"/>
          <a:sy n="93" d="100"/>
        </p:scale>
        <p:origin x="110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23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handoutMaster" Target="handoutMasters/handoutMaster1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microsoft.com/office/2018/10/relationships/authors" Target="authors.xml"/><Relationship Id="rId7" Type="http://schemas.openxmlformats.org/officeDocument/2006/relationships/slide" Target="slides/slide2.xml"/><Relationship Id="rId7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7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>
                <a:latin typeface="Segoe UI" pitchFamily="34" charset="0"/>
              </a:rPr>
              <a:t>Power BI Dev Camp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r>
              <a:rPr lang="en-US">
                <a:latin typeface="Segoe UI" pitchFamily="34" charset="0"/>
              </a:rPr>
              <a:t>8/27/2020</a:t>
            </a: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831580"/>
            <a:ext cx="6052312" cy="361897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marL="582359" indent="0" algn="l">
              <a:defRPr sz="1200"/>
            </a:lvl1pPr>
          </a:lstStyle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CE60099-03E7-4FA1-8A7F-E6E6CFB0F855}" type="datetime8">
              <a:rPr lang="en-US" smtClean="0"/>
              <a:t>3/27/2026 10:00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6040627" y="8829967"/>
            <a:ext cx="96815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112E7-2001-8DAA-B9A3-DC418380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6D5BD-A1E8-0FD4-86AA-ECB650A1C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5E660-C143-6798-91FC-5E29522B2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2F3DFED-BC5A-2EF8-9001-B078ABBD857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26E49-2D4A-5D67-0560-9A72F357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400C5-C7DE-BB67-8261-0D05B9A516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48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79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82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53A97-756E-8CE6-7CC3-558F907CE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A0B6F-3EA5-F0B3-792E-A20F3C94C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DF046-2485-8CA6-0A13-C324F3FDA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8AE7F68-E311-C92E-AF19-D93E3FAE17CB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DB35B-E67C-C2EE-3F85-FF50EE87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5103B-302B-18E8-24FA-CE046F16D3F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15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A31D8-92AF-7678-0171-D7F1F52A9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64EC2-676B-7B6F-692E-1A5528163C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54272-156F-1177-CD5F-109BAD457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80F99B8-8826-639E-36A5-0F635FA0E689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6573C-1ABB-7261-ED97-AB60C2333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3B2DB-13AD-9062-CDFD-A25628A2717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22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F2B28-002C-4794-238E-0B8E8A45F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DD5F9-AB0C-5AD9-9988-517DD488E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DD22C-A27E-89AD-3827-E39B15A45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0C36EAC-F4D1-5FE0-6C3A-1B37EE501B87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16C97-3088-9291-909C-4B8C09ACE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1B768-D466-8784-4AAE-F1297556276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50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507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92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A3288-28E9-3639-46FE-17D6B6CEC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49FCC8-872A-AA38-E486-9EA64C6EF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E04BE-F8C7-DC79-D6C0-74F181747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EB0B14A-A5F4-36CE-82F1-0B6FA4E8EF8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B77B4-F897-03B1-9500-DFEA50CF9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AA53E-54C8-7513-B867-4D9BA58A196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96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Microsoft 365</a:t>
            </a:r>
            <a:br>
              <a:rPr lang="en-US" dirty="0"/>
            </a:br>
            <a:r>
              <a:rPr lang="en-US" dirty="0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29362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114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487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69912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 sz="1400" b="1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8438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1868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1353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190500"/>
            <a:ext cx="11801475" cy="498598"/>
          </a:xfrm>
        </p:spPr>
        <p:txBody>
          <a:bodyPr/>
          <a:lstStyle>
            <a:lvl1pPr>
              <a:defRPr sz="3598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540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594" indent="-339594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+mn-lt"/>
              </a:defRPr>
            </a:lvl1pPr>
            <a:lvl2pPr marL="744252" indent="-34911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2pPr>
            <a:lvl3pPr marL="747426" indent="0">
              <a:lnSpc>
                <a:spcPts val="2400"/>
              </a:lnSpc>
              <a:buNone/>
              <a:defRPr sz="1800" b="1">
                <a:solidFill>
                  <a:srgbClr val="002060"/>
                </a:solidFill>
                <a:latin typeface="Lucida Console" panose="020B0609040504020204" pitchFamily="49" charset="0"/>
              </a:defRPr>
            </a:lvl3pPr>
            <a:lvl4pPr marL="518913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31505" indent="-412591">
              <a:buNone/>
              <a:defRPr sz="139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0616C0-C864-7BE9-C4CB-755BB3FB3DC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3651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Microsoft 365</a:t>
            </a:r>
            <a:br>
              <a:rPr lang="en-US" dirty="0"/>
            </a:br>
            <a:r>
              <a:rPr lang="en-US" dirty="0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829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D712B6-0157-8532-DCDC-4589B35076F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360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645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74675" indent="-63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None/>
              <a:defRPr sz="1600" b="1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E2A54D-A755-F900-5808-4CCC5C04D02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700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1BFE9-6D7B-E542-8545-679454897D67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5218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9624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B6BB3-8A7F-81DF-3556-2C8A61064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008" y="372395"/>
            <a:ext cx="10726460" cy="3877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9CD59-4094-DDC2-A708-2B684F37D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008" y="1861969"/>
            <a:ext cx="10726460" cy="14157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8873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172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70" r:id="rId2"/>
    <p:sldLayoutId id="2147484573" r:id="rId3"/>
    <p:sldLayoutId id="2147484572" r:id="rId4"/>
    <p:sldLayoutId id="2147484574" r:id="rId5"/>
    <p:sldLayoutId id="2147484575" r:id="rId6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pos="1349" userDrawn="1">
          <p15:clr>
            <a:srgbClr val="C35EA4"/>
          </p15:clr>
        </p15:guide>
        <p15:guide id="32" pos="1528" userDrawn="1">
          <p15:clr>
            <a:srgbClr val="C35EA4"/>
          </p15:clr>
        </p15:guide>
        <p15:guide id="33" pos="2621" userDrawn="1">
          <p15:clr>
            <a:srgbClr val="C35EA4"/>
          </p15:clr>
        </p15:guide>
        <p15:guide id="34" pos="2765" userDrawn="1">
          <p15:clr>
            <a:srgbClr val="C35EA4"/>
          </p15:clr>
        </p15:guide>
        <p15:guide id="35" pos="3854" userDrawn="1">
          <p15:clr>
            <a:srgbClr val="C35EA4"/>
          </p15:clr>
        </p15:guide>
        <p15:guide id="36" pos="4003" userDrawn="1">
          <p15:clr>
            <a:srgbClr val="C35EA4"/>
          </p15:clr>
        </p15:guide>
        <p15:guide id="37" pos="5083" userDrawn="1">
          <p15:clr>
            <a:srgbClr val="C35EA4"/>
          </p15:clr>
        </p15:guide>
        <p15:guide id="38" pos="5230" userDrawn="1">
          <p15:clr>
            <a:srgbClr val="C35EA4"/>
          </p15:clr>
        </p15:guide>
        <p15:guide id="39" pos="6323" userDrawn="1">
          <p15:clr>
            <a:srgbClr val="C35EA4"/>
          </p15:clr>
        </p15:guide>
        <p15:guide id="40" pos="6469" userDrawn="1">
          <p15:clr>
            <a:srgbClr val="C35EA4"/>
          </p15:clr>
        </p15:guide>
        <p15:guide id="41" pos="293" userDrawn="1">
          <p15:clr>
            <a:srgbClr val="F26B43"/>
          </p15:clr>
        </p15:guide>
        <p15:guide id="42" pos="7565" userDrawn="1">
          <p15:clr>
            <a:srgbClr val="F26B43"/>
          </p15:clr>
        </p15:guide>
        <p15:guide id="43" orient="horz" pos="751" userDrawn="1">
          <p15:clr>
            <a:srgbClr val="5ACBF0"/>
          </p15:clr>
        </p15:guide>
        <p15:guide id="44" orient="horz" pos="1387" userDrawn="1">
          <p15:clr>
            <a:srgbClr val="5ACBF0"/>
          </p15:clr>
        </p15:guide>
        <p15:guide id="45" orient="horz" pos="605" userDrawn="1">
          <p15:clr>
            <a:srgbClr val="5ACBF0"/>
          </p15:clr>
        </p15:guide>
        <p15:guide id="46" orient="horz" pos="1514" userDrawn="1">
          <p15:clr>
            <a:srgbClr val="5ACBF0"/>
          </p15:clr>
        </p15:guide>
        <p15:guide id="47" orient="horz" pos="2130" userDrawn="1">
          <p15:clr>
            <a:srgbClr val="5ACBF0"/>
          </p15:clr>
        </p15:guide>
        <p15:guide id="48" orient="horz" pos="2299" userDrawn="1">
          <p15:clr>
            <a:srgbClr val="5ACBF0"/>
          </p15:clr>
        </p15:guide>
        <p15:guide id="49" orient="horz" pos="283" userDrawn="1">
          <p15:clr>
            <a:srgbClr val="F26B43"/>
          </p15:clr>
        </p15:guide>
        <p15:guide id="50" orient="horz" pos="4120" userDrawn="1">
          <p15:clr>
            <a:srgbClr val="F26B43"/>
          </p15:clr>
        </p15:guide>
        <p15:guide id="51" orient="horz" pos="2891" userDrawn="1">
          <p15:clr>
            <a:srgbClr val="5ACBF0"/>
          </p15:clr>
        </p15:guide>
        <p15:guide id="52" orient="horz" pos="3019" userDrawn="1">
          <p15:clr>
            <a:srgbClr val="5ACBF0"/>
          </p15:clr>
        </p15:guide>
        <p15:guide id="53" orient="horz" pos="3643" userDrawn="1">
          <p15:clr>
            <a:srgbClr val="5ACBF0"/>
          </p15:clr>
        </p15:guide>
        <p15:guide id="54" orient="horz" pos="3763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F7DB54B-389F-024C-4D79-28A5DD9BCD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2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7" r:id="rId1"/>
    <p:sldLayoutId id="2147484578" r:id="rId2"/>
    <p:sldLayoutId id="2147484579" r:id="rId3"/>
    <p:sldLayoutId id="2147484580" r:id="rId4"/>
    <p:sldLayoutId id="2147484581" r:id="rId5"/>
    <p:sldLayoutId id="2147484582" r:id="rId6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5" pos="1349" userDrawn="1">
          <p15:clr>
            <a:srgbClr val="C35EA4"/>
          </p15:clr>
        </p15:guide>
        <p15:guide id="56" pos="1528" userDrawn="1">
          <p15:clr>
            <a:srgbClr val="C35EA4"/>
          </p15:clr>
        </p15:guide>
        <p15:guide id="57" pos="2621" userDrawn="1">
          <p15:clr>
            <a:srgbClr val="C35EA4"/>
          </p15:clr>
        </p15:guide>
        <p15:guide id="58" pos="2765" userDrawn="1">
          <p15:clr>
            <a:srgbClr val="C35EA4"/>
          </p15:clr>
        </p15:guide>
        <p15:guide id="59" pos="3854" userDrawn="1">
          <p15:clr>
            <a:srgbClr val="C35EA4"/>
          </p15:clr>
        </p15:guide>
        <p15:guide id="60" pos="4003" userDrawn="1">
          <p15:clr>
            <a:srgbClr val="C35EA4"/>
          </p15:clr>
        </p15:guide>
        <p15:guide id="61" pos="5083" userDrawn="1">
          <p15:clr>
            <a:srgbClr val="C35EA4"/>
          </p15:clr>
        </p15:guide>
        <p15:guide id="62" pos="5230" userDrawn="1">
          <p15:clr>
            <a:srgbClr val="C35EA4"/>
          </p15:clr>
        </p15:guide>
        <p15:guide id="63" pos="6323" userDrawn="1">
          <p15:clr>
            <a:srgbClr val="C35EA4"/>
          </p15:clr>
        </p15:guide>
        <p15:guide id="64" pos="6469" userDrawn="1">
          <p15:clr>
            <a:srgbClr val="C35EA4"/>
          </p15:clr>
        </p15:guide>
        <p15:guide id="65" pos="293" userDrawn="1">
          <p15:clr>
            <a:srgbClr val="F26B43"/>
          </p15:clr>
        </p15:guide>
        <p15:guide id="66" pos="7565" userDrawn="1">
          <p15:clr>
            <a:srgbClr val="F26B43"/>
          </p15:clr>
        </p15:guide>
        <p15:guide id="67" orient="horz" pos="751" userDrawn="1">
          <p15:clr>
            <a:srgbClr val="5ACBF0"/>
          </p15:clr>
        </p15:guide>
        <p15:guide id="68" orient="horz" pos="1387" userDrawn="1">
          <p15:clr>
            <a:srgbClr val="5ACBF0"/>
          </p15:clr>
        </p15:guide>
        <p15:guide id="69" orient="horz" pos="605" userDrawn="1">
          <p15:clr>
            <a:srgbClr val="5ACBF0"/>
          </p15:clr>
        </p15:guide>
        <p15:guide id="70" orient="horz" pos="1514" userDrawn="1">
          <p15:clr>
            <a:srgbClr val="5ACBF0"/>
          </p15:clr>
        </p15:guide>
        <p15:guide id="71" orient="horz" pos="2130" userDrawn="1">
          <p15:clr>
            <a:srgbClr val="5ACBF0"/>
          </p15:clr>
        </p15:guide>
        <p15:guide id="72" orient="horz" pos="2299" userDrawn="1">
          <p15:clr>
            <a:srgbClr val="5ACBF0"/>
          </p15:clr>
        </p15:guide>
        <p15:guide id="73" orient="horz" pos="283" userDrawn="1">
          <p15:clr>
            <a:srgbClr val="F26B43"/>
          </p15:clr>
        </p15:guide>
        <p15:guide id="74" orient="horz" pos="4120" userDrawn="1">
          <p15:clr>
            <a:srgbClr val="F26B43"/>
          </p15:clr>
        </p15:guide>
        <p15:guide id="75" orient="horz" pos="2891" userDrawn="1">
          <p15:clr>
            <a:srgbClr val="5ACBF0"/>
          </p15:clr>
        </p15:guide>
        <p15:guide id="76" orient="horz" pos="3019" userDrawn="1">
          <p15:clr>
            <a:srgbClr val="5ACBF0"/>
          </p15:clr>
        </p15:guide>
        <p15:guide id="77" orient="horz" pos="3643" userDrawn="1">
          <p15:clr>
            <a:srgbClr val="5ACBF0"/>
          </p15:clr>
        </p15:guide>
        <p15:guide id="78" orient="horz" pos="37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FabricDevCamp/fabric-devops" TargetMode="Externa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ithub.com/FabricDevCamp/fabric-terraform-demo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26B8-78C9-AA17-D8CE-6BC402B7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85473AEA-D435-81A9-1DA2-C2C1A3DA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5" y="3082507"/>
            <a:ext cx="10330234" cy="1538883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400" dirty="0"/>
              <a:t>Patterns and Best Practices</a:t>
            </a:r>
            <a:br>
              <a:rPr lang="en-US" sz="4400" dirty="0"/>
            </a:br>
            <a:r>
              <a:rPr lang="en-US" sz="4400" dirty="0"/>
              <a:t>with Fabric CI/CD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11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35F8-4FF1-BDF0-65EA-C0B51F9B5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Session Agenda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7433B-E7B7-B735-B46D-541E03125E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564805"/>
          </a:xfrm>
        </p:spPr>
        <p:txBody>
          <a:bodyPr/>
          <a:lstStyle/>
          <a:p>
            <a:r>
              <a:rPr lang="en-US" dirty="0"/>
              <a:t>Essential Concepts and Capabilities</a:t>
            </a:r>
          </a:p>
          <a:p>
            <a:r>
              <a:rPr lang="en-US" dirty="0"/>
              <a:t>Planning the Fabric CI/CD Project Lifecycle</a:t>
            </a:r>
          </a:p>
          <a:p>
            <a:r>
              <a:rPr lang="en-US" dirty="0"/>
              <a:t>Creating Project Infrastructure using Terraform</a:t>
            </a:r>
          </a:p>
          <a:p>
            <a:r>
              <a:rPr lang="en-US" dirty="0"/>
              <a:t>Building a Development Process</a:t>
            </a:r>
          </a:p>
          <a:p>
            <a:r>
              <a:rPr lang="en-US" dirty="0"/>
              <a:t>Building a Release Process</a:t>
            </a:r>
          </a:p>
        </p:txBody>
      </p:sp>
    </p:spTree>
    <p:extLst>
      <p:ext uri="{BB962C8B-B14F-4D97-AF65-F5344CB8AC3E}">
        <p14:creationId xmlns:p14="http://schemas.microsoft.com/office/powerpoint/2010/main" val="396949966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9DE1A3F-F67F-D084-B7C7-58D1B87C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CI/CD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5357B7-A4D8-C8ED-CF23-3E7BFBD07C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4154984"/>
          </a:xfrm>
        </p:spPr>
        <p:txBody>
          <a:bodyPr/>
          <a:lstStyle/>
          <a:p>
            <a:r>
              <a:rPr lang="en-US" dirty="0"/>
              <a:t>What is CI/CD?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Continuous Integration (CI)</a:t>
            </a:r>
            <a:r>
              <a:rPr lang="en-US" sz="1800" dirty="0">
                <a:solidFill>
                  <a:srgbClr val="8A0000"/>
                </a:solidFill>
              </a:rPr>
              <a:t> </a:t>
            </a:r>
            <a:r>
              <a:rPr lang="en-US" dirty="0"/>
              <a:t>is practice of frequently merging code changes to shared repository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Continuous Deployment (CD)</a:t>
            </a:r>
            <a:r>
              <a:rPr lang="en-US" dirty="0"/>
              <a:t> is practice of automating deployment to target environments</a:t>
            </a:r>
          </a:p>
          <a:p>
            <a:pPr>
              <a:lnSpc>
                <a:spcPct val="150000"/>
              </a:lnSpc>
            </a:pPr>
            <a:r>
              <a:rPr lang="en-US" dirty="0"/>
              <a:t>CI provides </a:t>
            </a:r>
            <a:r>
              <a:rPr lang="en-US" sz="2000" b="1" dirty="0">
                <a:solidFill>
                  <a:srgbClr val="8A0000"/>
                </a:solidFill>
              </a:rPr>
              <a:t>development process</a:t>
            </a:r>
            <a:r>
              <a:rPr lang="en-US" dirty="0"/>
              <a:t> where multiple folks work on same codebase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marL="344488" lvl="1" indent="0">
              <a:lnSpc>
                <a:spcPct val="150000"/>
              </a:lnSpc>
            </a:pPr>
            <a:endParaRPr lang="en-US" dirty="0"/>
          </a:p>
          <a:p>
            <a:r>
              <a:rPr lang="en-US" dirty="0"/>
              <a:t>CD provides </a:t>
            </a:r>
            <a:r>
              <a:rPr lang="en-US" sz="2200" b="1" dirty="0">
                <a:solidFill>
                  <a:srgbClr val="8A0000"/>
                </a:solidFill>
              </a:rPr>
              <a:t>release process</a:t>
            </a:r>
            <a:r>
              <a:rPr lang="en-US" dirty="0"/>
              <a:t> to move changes through a set of environments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E88F9C-3DE2-ACC4-42CA-8EAFD9043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37" y="3044092"/>
            <a:ext cx="3810387" cy="16032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E58DB2-55EB-FEF3-AE2C-1F8A651B9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37" y="5425825"/>
            <a:ext cx="4653757" cy="140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5531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B332-B10D-D7A1-C70A-DEE2D965E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8178C7A-F1E7-F1FA-AF6D-E2FEADA38710}"/>
              </a:ext>
            </a:extLst>
          </p:cNvPr>
          <p:cNvGrpSpPr/>
          <p:nvPr/>
        </p:nvGrpSpPr>
        <p:grpSpPr>
          <a:xfrm>
            <a:off x="1107423" y="4686992"/>
            <a:ext cx="8916148" cy="2089108"/>
            <a:chOff x="1057295" y="4735057"/>
            <a:chExt cx="8916148" cy="208910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64FE73-F0FB-234D-F8F0-6B8BFC9E771C}"/>
                </a:ext>
              </a:extLst>
            </p:cNvPr>
            <p:cNvSpPr/>
            <p:nvPr/>
          </p:nvSpPr>
          <p:spPr bwMode="auto">
            <a:xfrm>
              <a:off x="1057295" y="4735057"/>
              <a:ext cx="8916148" cy="208910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4C219E-894C-12B9-39AA-4131FB442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22246" y="4805285"/>
              <a:ext cx="3732230" cy="1907425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</p:pic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0A3DD93-B8FF-01D4-449E-E04293601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447098"/>
          </a:xfrm>
        </p:spPr>
        <p:txBody>
          <a:bodyPr/>
          <a:lstStyle/>
          <a:p>
            <a:r>
              <a:rPr lang="en-US" dirty="0"/>
              <a:t>When you connect workspace to GIT branch…</a:t>
            </a:r>
          </a:p>
          <a:p>
            <a:pPr lvl="1"/>
            <a:r>
              <a:rPr lang="en-US" dirty="0"/>
              <a:t>Fabric GIT integration serializes workspace item definitions and writes definition files to branch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Fabric GIT integration can create/update workspace items from item definitions in GIT branch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DAC804-1FA6-153B-71B7-A4A921D89442}"/>
              </a:ext>
            </a:extLst>
          </p:cNvPr>
          <p:cNvSpPr/>
          <p:nvPr/>
        </p:nvSpPr>
        <p:spPr bwMode="auto">
          <a:xfrm>
            <a:off x="1107423" y="2059473"/>
            <a:ext cx="8995035" cy="21254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27B48C-57B7-EC6A-8F3A-9DF2071D2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906" y="2161565"/>
            <a:ext cx="3416365" cy="19212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D9F9A4B-15B4-02CF-39B5-ED8FD8B2686A}"/>
              </a:ext>
            </a:extLst>
          </p:cNvPr>
          <p:cNvGrpSpPr/>
          <p:nvPr/>
        </p:nvGrpSpPr>
        <p:grpSpPr>
          <a:xfrm>
            <a:off x="4739116" y="2161564"/>
            <a:ext cx="5219212" cy="1921221"/>
            <a:chOff x="4739116" y="2161564"/>
            <a:chExt cx="5219212" cy="192122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CCC52C1-218D-5D86-DAC7-49730A9AD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92203" y="2161564"/>
              <a:ext cx="3966125" cy="1921221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</p:pic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252CDF10-60ED-AC54-F0AD-23E1E950168E}"/>
                </a:ext>
              </a:extLst>
            </p:cNvPr>
            <p:cNvSpPr/>
            <p:nvPr/>
          </p:nvSpPr>
          <p:spPr bwMode="auto">
            <a:xfrm>
              <a:off x="4739116" y="2953580"/>
              <a:ext cx="1257698" cy="565077"/>
            </a:xfrm>
            <a:prstGeom prst="rightArrow">
              <a:avLst>
                <a:gd name="adj1" fmla="val 62678"/>
                <a:gd name="adj2" fmla="val 5000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Commit to GIT</a:t>
              </a: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1E9DA04F-9AD8-B12B-B811-A63CE05A8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Serialization of Workspace Items to/from Item Definitions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C4024A-D655-734D-DF8E-87276DD723A4}"/>
              </a:ext>
            </a:extLst>
          </p:cNvPr>
          <p:cNvGrpSpPr/>
          <p:nvPr/>
        </p:nvGrpSpPr>
        <p:grpSpPr>
          <a:xfrm>
            <a:off x="1253499" y="4795760"/>
            <a:ext cx="4799908" cy="1907425"/>
            <a:chOff x="1129674" y="4805285"/>
            <a:chExt cx="4799908" cy="190742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3D91303-E72C-A09A-BF52-2C3552C25D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9674" y="4805285"/>
              <a:ext cx="3427161" cy="1907425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</p:pic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8F4E473B-6699-334C-D6C5-DDF83D8656D1}"/>
                </a:ext>
              </a:extLst>
            </p:cNvPr>
            <p:cNvSpPr/>
            <p:nvPr/>
          </p:nvSpPr>
          <p:spPr bwMode="auto">
            <a:xfrm flipH="1">
              <a:off x="4555255" y="5696165"/>
              <a:ext cx="1374327" cy="577817"/>
            </a:xfrm>
            <a:prstGeom prst="rightArrow">
              <a:avLst>
                <a:gd name="adj1" fmla="val 62678"/>
                <a:gd name="adj2" fmla="val 50000"/>
              </a:avLst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Update from GIT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36182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3A42D-C067-CD5B-36EA-1D7E840D8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in Fabric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53ADE-335A-DD73-390A-A85F529EF3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687915"/>
          </a:xfrm>
        </p:spPr>
        <p:txBody>
          <a:bodyPr/>
          <a:lstStyle/>
          <a:p>
            <a:r>
              <a:rPr lang="en-US" dirty="0"/>
              <a:t>Tools and libraries to simplify interacting with the Fabric REST APIs </a:t>
            </a:r>
          </a:p>
          <a:p>
            <a:pPr lvl="1"/>
            <a:r>
              <a:rPr lang="en-US" sz="2000" b="1" dirty="0">
                <a:solidFill>
                  <a:srgbClr val="8A0000"/>
                </a:solidFill>
              </a:rPr>
              <a:t>Terraform</a:t>
            </a:r>
            <a:r>
              <a:rPr lang="en-US" dirty="0"/>
              <a:t> - IoC tool used to create project infrastructure</a:t>
            </a:r>
          </a:p>
          <a:p>
            <a:pPr lvl="1"/>
            <a:r>
              <a:rPr lang="en-US" sz="2000" b="1" dirty="0">
                <a:solidFill>
                  <a:srgbClr val="8A0000"/>
                </a:solidFill>
              </a:rPr>
              <a:t>Fabric CLI</a:t>
            </a:r>
            <a:r>
              <a:rPr lang="en-US" dirty="0"/>
              <a:t> - scripting and interactive tool that promotes ease-of-use experience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.NET SDK</a:t>
            </a:r>
            <a:r>
              <a:rPr lang="en-US" dirty="0"/>
              <a:t> - productivity layer on Fabric REST APIs for C# developers</a:t>
            </a:r>
          </a:p>
          <a:p>
            <a:pPr lvl="1"/>
            <a:r>
              <a:rPr lang="en-US" sz="2000" b="1" dirty="0">
                <a:solidFill>
                  <a:srgbClr val="8A0000"/>
                </a:solidFill>
              </a:rPr>
              <a:t>Python SDK</a:t>
            </a:r>
            <a:r>
              <a:rPr lang="en-US" dirty="0"/>
              <a:t> - productivity layer on Fabric REST APIs for Python developers</a:t>
            </a:r>
          </a:p>
          <a:p>
            <a:pPr lvl="1"/>
            <a:r>
              <a:rPr lang="en-US" sz="2000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- Python library used to build release process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9BC183-53C0-8F1D-1222-0094DC5F375A}"/>
              </a:ext>
            </a:extLst>
          </p:cNvPr>
          <p:cNvSpPr/>
          <p:nvPr/>
        </p:nvSpPr>
        <p:spPr bwMode="auto">
          <a:xfrm>
            <a:off x="1228343" y="5275638"/>
            <a:ext cx="9735671" cy="69924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 REST APIs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BB5349-9CA1-87D0-D264-364F483A0088}"/>
              </a:ext>
            </a:extLst>
          </p:cNvPr>
          <p:cNvSpPr/>
          <p:nvPr/>
        </p:nvSpPr>
        <p:spPr bwMode="auto">
          <a:xfrm>
            <a:off x="1228343" y="4369132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Terraform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AA4F93-0908-6CC2-09A9-F9CC0F60317A}"/>
              </a:ext>
            </a:extLst>
          </p:cNvPr>
          <p:cNvSpPr/>
          <p:nvPr/>
        </p:nvSpPr>
        <p:spPr bwMode="auto">
          <a:xfrm>
            <a:off x="3209543" y="4369132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 CLI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AB02E4-F3D7-9E6A-35B9-4507F6F38361}"/>
              </a:ext>
            </a:extLst>
          </p:cNvPr>
          <p:cNvSpPr/>
          <p:nvPr/>
        </p:nvSpPr>
        <p:spPr bwMode="auto">
          <a:xfrm>
            <a:off x="9153143" y="4369131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fabric-cicd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A48527-BE1A-8D86-BCE5-30AF5ECB22C3}"/>
              </a:ext>
            </a:extLst>
          </p:cNvPr>
          <p:cNvSpPr/>
          <p:nvPr/>
        </p:nvSpPr>
        <p:spPr bwMode="auto">
          <a:xfrm>
            <a:off x="7171943" y="4369132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Python SDK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25037B-FCB5-C65B-933C-208932CB5B42}"/>
              </a:ext>
            </a:extLst>
          </p:cNvPr>
          <p:cNvSpPr/>
          <p:nvPr/>
        </p:nvSpPr>
        <p:spPr bwMode="auto">
          <a:xfrm>
            <a:off x="5190743" y="4369131"/>
            <a:ext cx="1810871" cy="699247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.NET SDK</a:t>
            </a:r>
          </a:p>
        </p:txBody>
      </p:sp>
    </p:spTree>
    <p:extLst>
      <p:ext uri="{BB962C8B-B14F-4D97-AF65-F5344CB8AC3E}">
        <p14:creationId xmlns:p14="http://schemas.microsoft.com/office/powerpoint/2010/main" val="427856023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9DF14-3BA6-C8F6-7853-C7F36BE6C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SDK (new)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63A161-E90A-F114-9727-083E015AA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025" y="4590933"/>
            <a:ext cx="3836710" cy="19025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326427-8153-1F51-5AF1-148398A5C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1818951"/>
            <a:ext cx="5211064" cy="48582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4B44F5B1-958F-22C9-BDC5-18485E97C152}"/>
              </a:ext>
            </a:extLst>
          </p:cNvPr>
          <p:cNvSpPr/>
          <p:nvPr/>
        </p:nvSpPr>
        <p:spPr bwMode="auto">
          <a:xfrm>
            <a:off x="5491542" y="5542227"/>
            <a:ext cx="789836" cy="223510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7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37807E-0EE5-1286-64ED-8F7F7494DDEF}"/>
              </a:ext>
            </a:extLst>
          </p:cNvPr>
          <p:cNvSpPr/>
          <p:nvPr/>
        </p:nvSpPr>
        <p:spPr bwMode="auto">
          <a:xfrm>
            <a:off x="447676" y="1143000"/>
            <a:ext cx="5211064" cy="49859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latin typeface="Lucida Console" panose="020B0609040504020204" pitchFamily="49" charset="0"/>
              </a:rPr>
              <a:t>&gt; pip install microsoft-fabric-api</a:t>
            </a:r>
          </a:p>
        </p:txBody>
      </p:sp>
    </p:spTree>
    <p:extLst>
      <p:ext uri="{BB962C8B-B14F-4D97-AF65-F5344CB8AC3E}">
        <p14:creationId xmlns:p14="http://schemas.microsoft.com/office/powerpoint/2010/main" val="121771352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EE4C3-87C8-8A3F-167B-673B8B5BB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9C403-4D8F-69C3-4315-B62508147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fabric-cicd Python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97DEC-4FA9-52F1-FF9F-D38FFE837D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292935"/>
          </a:xfrm>
        </p:spPr>
        <p:txBody>
          <a:bodyPr/>
          <a:lstStyle/>
          <a:p>
            <a:r>
              <a:rPr lang="en-US" sz="2000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library provides code-first deployment strategy for Fabric solutions</a:t>
            </a:r>
          </a:p>
          <a:p>
            <a:pPr lvl="1"/>
            <a:r>
              <a:rPr lang="en-US" dirty="0"/>
              <a:t>Provides built-in code for deploying Fabric solutions and building release processes</a:t>
            </a:r>
          </a:p>
          <a:p>
            <a:pPr lvl="1"/>
            <a:r>
              <a:rPr lang="en-US" dirty="0"/>
              <a:t>Deploys Fabric solution from item definitions folder to set of workspace items in target workspace</a:t>
            </a:r>
          </a:p>
          <a:p>
            <a:pPr lvl="1"/>
            <a:r>
              <a:rPr lang="en-US" dirty="0"/>
              <a:t>Eliminates developers need to program directly with Fabric REST APIs or item definitions</a:t>
            </a:r>
          </a:p>
          <a:p>
            <a:pPr lvl="1"/>
            <a:r>
              <a:rPr lang="en-US" dirty="0"/>
              <a:t>Recently extended with support for configuration-based deployment</a:t>
            </a:r>
          </a:p>
          <a:p>
            <a:pPr lvl="1"/>
            <a:r>
              <a:rPr lang="en-US" dirty="0"/>
              <a:t>An open source project that is fully supported by the Fabric product team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00C323-CEF9-4A65-B198-E4DD44D7ABE5}"/>
              </a:ext>
            </a:extLst>
          </p:cNvPr>
          <p:cNvSpPr/>
          <p:nvPr/>
        </p:nvSpPr>
        <p:spPr bwMode="auto">
          <a:xfrm>
            <a:off x="1119615" y="3784076"/>
            <a:ext cx="8120905" cy="22736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28A5FCAA-479F-A50A-8AA7-E46B12B0CC4A}"/>
              </a:ext>
            </a:extLst>
          </p:cNvPr>
          <p:cNvSpPr/>
          <p:nvPr/>
        </p:nvSpPr>
        <p:spPr bwMode="auto">
          <a:xfrm>
            <a:off x="4672083" y="4260403"/>
            <a:ext cx="2038595" cy="1143701"/>
          </a:xfrm>
          <a:prstGeom prst="round2SameRect">
            <a:avLst>
              <a:gd name="adj1" fmla="val 8009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fabric-cicd </a:t>
            </a:r>
            <a:r>
              <a:rPr lang="en-US" sz="10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processing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C75479-B747-8FEB-A65B-CA6A58EFDF66}"/>
              </a:ext>
            </a:extLst>
          </p:cNvPr>
          <p:cNvSpPr/>
          <p:nvPr/>
        </p:nvSpPr>
        <p:spPr bwMode="auto">
          <a:xfrm>
            <a:off x="6815553" y="3917787"/>
            <a:ext cx="2259959" cy="2004747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target workspace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7ACB51-1D17-1425-6E0D-4C4F472E84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84" r="39007" b="16195"/>
          <a:stretch>
            <a:fillRect/>
          </a:stretch>
        </p:blipFill>
        <p:spPr>
          <a:xfrm>
            <a:off x="6912573" y="4260403"/>
            <a:ext cx="1996252" cy="15251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6121435-DA6B-9270-6B69-B72D2405DA69}"/>
              </a:ext>
            </a:extLst>
          </p:cNvPr>
          <p:cNvSpPr/>
          <p:nvPr/>
        </p:nvSpPr>
        <p:spPr bwMode="auto">
          <a:xfrm>
            <a:off x="1219458" y="3936588"/>
            <a:ext cx="3365767" cy="1989009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Folder with Item Definitions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5C0506-9C85-3421-ED0D-57C613D3C6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18154"/>
          <a:stretch>
            <a:fillRect/>
          </a:stretch>
        </p:blipFill>
        <p:spPr>
          <a:xfrm>
            <a:off x="1356756" y="4280470"/>
            <a:ext cx="3091173" cy="1505059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A74DE660-91F9-D0EC-F034-29E2A6363FBD}"/>
              </a:ext>
            </a:extLst>
          </p:cNvPr>
          <p:cNvSpPr/>
          <p:nvPr/>
        </p:nvSpPr>
        <p:spPr bwMode="auto">
          <a:xfrm>
            <a:off x="4771473" y="4597186"/>
            <a:ext cx="1839814" cy="621431"/>
          </a:xfrm>
          <a:prstGeom prst="rightArrow">
            <a:avLst>
              <a:gd name="adj1" fmla="val 73858"/>
              <a:gd name="adj2" fmla="val 77367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Deploy</a:t>
            </a:r>
          </a:p>
        </p:txBody>
      </p:sp>
    </p:spTree>
    <p:extLst>
      <p:ext uri="{BB962C8B-B14F-4D97-AF65-F5344CB8AC3E}">
        <p14:creationId xmlns:p14="http://schemas.microsoft.com/office/powerpoint/2010/main" val="324480144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EF189-1D7C-0B5B-3DA7-B20924AE7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Fabric CI/CD Best Practices Discussed In This Session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5B669-4A55-17A7-16BA-EDE79D6F18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4031873"/>
          </a:xfrm>
        </p:spPr>
        <p:txBody>
          <a:bodyPr/>
          <a:lstStyle/>
          <a:p>
            <a:r>
              <a:rPr lang="en-US" dirty="0"/>
              <a:t>Use service principals for automation</a:t>
            </a:r>
          </a:p>
          <a:p>
            <a:r>
              <a:rPr lang="en-US" dirty="0"/>
              <a:t>Use Terraform to provision Fabric CI/CD environment infrastructure</a:t>
            </a:r>
          </a:p>
          <a:p>
            <a:r>
              <a:rPr lang="en-US" dirty="0"/>
              <a:t>Use variable libraries to parameterize settings that change across environments</a:t>
            </a:r>
          </a:p>
          <a:p>
            <a:r>
              <a:rPr lang="en-US" dirty="0"/>
              <a:t>Abstract logic for ETL jobs into workspace items such as notebooks and pipelines</a:t>
            </a:r>
          </a:p>
          <a:p>
            <a:r>
              <a:rPr lang="en-US" dirty="0"/>
              <a:t>Write automation scripts to run ETL jobs as an essential aspect of the CI/CD lifecycle</a:t>
            </a:r>
          </a:p>
          <a:p>
            <a:r>
              <a:rPr lang="en-US" dirty="0"/>
              <a:t>Build a development process based on feature workspaces and pull requests</a:t>
            </a:r>
          </a:p>
          <a:p>
            <a:r>
              <a:rPr lang="en-US" dirty="0"/>
              <a:t>Develop workflows to automate syncing workspace items from GIT branch</a:t>
            </a:r>
          </a:p>
          <a:p>
            <a:r>
              <a:rPr lang="en-US" dirty="0"/>
              <a:t>Develop workflows to automate continuous deployment using </a:t>
            </a:r>
            <a:r>
              <a:rPr lang="en-US" sz="2000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library</a:t>
            </a:r>
          </a:p>
        </p:txBody>
      </p:sp>
    </p:spTree>
    <p:extLst>
      <p:ext uri="{BB962C8B-B14F-4D97-AF65-F5344CB8AC3E}">
        <p14:creationId xmlns:p14="http://schemas.microsoft.com/office/powerpoint/2010/main" val="32014727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D2111-C36A-DF99-FAE0-490721EC8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fabric_devops</a:t>
            </a:r>
            <a:r>
              <a:rPr lang="en-US" dirty="0"/>
              <a:t> developer sample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589B2-1E47-3F86-29BF-A867194E7E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677656"/>
          </a:xfrm>
        </p:spPr>
        <p:txBody>
          <a:bodyPr/>
          <a:lstStyle/>
          <a:p>
            <a:r>
              <a:rPr lang="en-US" dirty="0"/>
              <a:t>Sample project as accessible as public GitHub repository </a:t>
            </a:r>
          </a:p>
          <a:p>
            <a:pPr lvl="1"/>
            <a:r>
              <a:rPr lang="en-US" dirty="0"/>
              <a:t>Provides sample code for setting up Fabric CI/CD projects with end-to-end lifecycle workflow</a:t>
            </a:r>
          </a:p>
          <a:p>
            <a:pPr lvl="1"/>
            <a:r>
              <a:rPr lang="en-US" dirty="0"/>
              <a:t>Automates setting up Fabric CI/CD projects using GitHub workflow actions</a:t>
            </a:r>
          </a:p>
          <a:p>
            <a:pPr lvl="1"/>
            <a:r>
              <a:rPr lang="en-US" dirty="0"/>
              <a:t>Leverages fabric-cicd library for deploying Fabric solutions</a:t>
            </a:r>
          </a:p>
          <a:p>
            <a:pPr lvl="1"/>
            <a:r>
              <a:rPr lang="en-US" dirty="0"/>
              <a:t>Includes support for creating &amp; configuring repositories in Azure Dev Ops and GitHub</a:t>
            </a:r>
          </a:p>
          <a:p>
            <a:pPr lvl="1"/>
            <a:r>
              <a:rPr lang="en-US" dirty="0"/>
              <a:t>GitHub repo at </a:t>
            </a:r>
            <a:r>
              <a:rPr lang="en-US" b="1" dirty="0">
                <a:solidFill>
                  <a:srgbClr val="8A0000"/>
                </a:solidFill>
                <a:hlinkClick r:id="rId2"/>
              </a:rPr>
              <a:t>https://github.com/FabricDevCamp/fabric-devops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89FA6E-F782-4401-E647-0D36A40AF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406" y="3734058"/>
            <a:ext cx="7543962" cy="29732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7524465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E60EC-137E-8FDC-0E82-A42ED5284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3D315FC9-0379-622F-80C0-913D0701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3280365"/>
            <a:ext cx="11672047" cy="928011"/>
          </a:xfrm>
        </p:spPr>
        <p:txBody>
          <a:bodyPr/>
          <a:lstStyle/>
          <a:p>
            <a:r>
              <a:rPr lang="en-US" sz="4400" dirty="0"/>
              <a:t>Planning the Fabric CI/CD Project Lifecycle</a:t>
            </a:r>
          </a:p>
        </p:txBody>
      </p:sp>
    </p:spTree>
    <p:extLst>
      <p:ext uri="{BB962C8B-B14F-4D97-AF65-F5344CB8AC3E}">
        <p14:creationId xmlns:p14="http://schemas.microsoft.com/office/powerpoint/2010/main" val="2864475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A55EF-155B-A875-7ECB-A6BB9E5D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the Fabric CI/CD Project Lifecycles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59D63-F568-16AE-DFD0-6A9524D6FF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580467"/>
          </a:xfrm>
        </p:spPr>
        <p:txBody>
          <a:bodyPr/>
          <a:lstStyle/>
          <a:p>
            <a:r>
              <a:rPr lang="en-US" dirty="0"/>
              <a:t>Steps in the planning process</a:t>
            </a:r>
          </a:p>
          <a:p>
            <a:pPr lvl="1"/>
            <a:r>
              <a:rPr lang="en-US" dirty="0"/>
              <a:t>Plan the Fabric solution </a:t>
            </a:r>
          </a:p>
          <a:p>
            <a:pPr lvl="1"/>
            <a:r>
              <a:rPr lang="en-US" dirty="0"/>
              <a:t>Plan the project environments</a:t>
            </a:r>
          </a:p>
          <a:p>
            <a:pPr lvl="1"/>
            <a:r>
              <a:rPr lang="en-US" dirty="0"/>
              <a:t>Plan the GIT repository</a:t>
            </a:r>
          </a:p>
          <a:p>
            <a:pPr lvl="1"/>
            <a:r>
              <a:rPr lang="en-US" dirty="0"/>
              <a:t>Plan the development process (CI)</a:t>
            </a:r>
          </a:p>
          <a:p>
            <a:pPr lvl="1"/>
            <a:r>
              <a:rPr lang="en-US" dirty="0"/>
              <a:t>Plan the release process (CD)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92323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0A9A8-3ABC-3593-1643-3B33EAF1D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Plan the Fabric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B3ABF-F2B5-7775-499F-4550766191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175" y="1227138"/>
            <a:ext cx="11604625" cy="4139595"/>
          </a:xfrm>
        </p:spPr>
        <p:txBody>
          <a:bodyPr/>
          <a:lstStyle/>
          <a:p>
            <a:r>
              <a:rPr lang="en-US" dirty="0"/>
              <a:t>Plan and prototype the Fabric solution</a:t>
            </a:r>
          </a:p>
          <a:p>
            <a:pPr lvl="1"/>
            <a:r>
              <a:rPr lang="en-US" dirty="0"/>
              <a:t>Fabric solution is composed on Fabric items</a:t>
            </a:r>
          </a:p>
          <a:p>
            <a:pPr lvl="1"/>
            <a:r>
              <a:rPr lang="en-US" dirty="0"/>
              <a:t>Fabric solution usually includes workspace items which run ETL logic</a:t>
            </a:r>
          </a:p>
          <a:p>
            <a:r>
              <a:rPr lang="en-US" dirty="0"/>
              <a:t>Fabric solution can be designed to run in a single workspace</a:t>
            </a:r>
          </a:p>
          <a:p>
            <a:endParaRPr lang="en-US" dirty="0"/>
          </a:p>
          <a:p>
            <a:endParaRPr lang="en-US" dirty="0"/>
          </a:p>
          <a:p>
            <a:pPr marL="344488" lvl="1" indent="0">
              <a:buNone/>
            </a:pPr>
            <a:endParaRPr lang="en-US" dirty="0"/>
          </a:p>
          <a:p>
            <a:r>
              <a:rPr lang="en-US" dirty="0"/>
              <a:t>Fabric solution can be spread across multiple workspaces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78A244-2658-0362-D79B-5EAF4388F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41" y="2889958"/>
            <a:ext cx="7205965" cy="1418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C006E5-9054-C80F-6BDA-E2220F512E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553"/>
          <a:stretch>
            <a:fillRect/>
          </a:stretch>
        </p:blipFill>
        <p:spPr>
          <a:xfrm>
            <a:off x="915415" y="4954067"/>
            <a:ext cx="4361435" cy="15619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74E7AC-86BD-03A6-D836-3F0824510A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37"/>
          <a:stretch>
            <a:fillRect/>
          </a:stretch>
        </p:blipFill>
        <p:spPr>
          <a:xfrm>
            <a:off x="5450646" y="4938795"/>
            <a:ext cx="4293719" cy="156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302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6E985-76D3-F8E2-C5AC-6C157911E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55B86-017B-D244-B244-B9D812670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997196"/>
          </a:xfrm>
        </p:spPr>
        <p:txBody>
          <a:bodyPr/>
          <a:lstStyle/>
          <a:p>
            <a:r>
              <a:rPr lang="en-US" dirty="0"/>
              <a:t>Plan the Project Environments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D2F73-4814-6BEE-599F-AAD8D9532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5509200"/>
          </a:xfrm>
        </p:spPr>
        <p:txBody>
          <a:bodyPr/>
          <a:lstStyle/>
          <a:p>
            <a:r>
              <a:rPr lang="en-US" dirty="0"/>
              <a:t>Fabric CI/CD project requires multiple environments such as </a:t>
            </a:r>
            <a:r>
              <a:rPr lang="en-US" sz="20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, </a:t>
            </a:r>
            <a:r>
              <a:rPr lang="en-US" sz="20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2000" b="1" dirty="0">
                <a:solidFill>
                  <a:srgbClr val="8A0000"/>
                </a:solidFill>
              </a:rPr>
              <a:t>prod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Each environment requires workspace(s) to run its own instance of the Fabric solution</a:t>
            </a:r>
          </a:p>
          <a:p>
            <a:pPr lvl="1"/>
            <a:r>
              <a:rPr lang="en-US" dirty="0"/>
              <a:t>Each environment requires Fabric capacity to run it workspace(s)</a:t>
            </a:r>
          </a:p>
          <a:p>
            <a:pPr lvl="1"/>
            <a:r>
              <a:rPr lang="en-US" dirty="0"/>
              <a:t>Each environment might require its own Azure resources such as a storage account or key vault</a:t>
            </a:r>
          </a:p>
          <a:p>
            <a:pPr lvl="1"/>
            <a:r>
              <a:rPr lang="en-US" dirty="0"/>
              <a:t>Each environment has unique environment-specific settings for things like datasource URLs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You must determine which environment-specific settings require parameterization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2758126-352C-DDDD-5BDC-7832788CB9F0}"/>
              </a:ext>
            </a:extLst>
          </p:cNvPr>
          <p:cNvSpPr/>
          <p:nvPr/>
        </p:nvSpPr>
        <p:spPr bwMode="auto">
          <a:xfrm rot="5400000">
            <a:off x="7322771" y="4664648"/>
            <a:ext cx="344570" cy="392406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176FE18-4E4D-B903-11DD-F87898AD1D9C}"/>
              </a:ext>
            </a:extLst>
          </p:cNvPr>
          <p:cNvSpPr/>
          <p:nvPr/>
        </p:nvSpPr>
        <p:spPr bwMode="auto">
          <a:xfrm rot="5400000">
            <a:off x="2131474" y="4705365"/>
            <a:ext cx="375710" cy="392406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0B1EBAD-7E9F-B620-8584-24EE90D75333}"/>
              </a:ext>
            </a:extLst>
          </p:cNvPr>
          <p:cNvSpPr/>
          <p:nvPr/>
        </p:nvSpPr>
        <p:spPr bwMode="auto">
          <a:xfrm rot="5400000">
            <a:off x="4786054" y="4673369"/>
            <a:ext cx="327130" cy="392406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9C867D-50A4-AB0A-6A21-5AB2E5B9E75C}"/>
              </a:ext>
            </a:extLst>
          </p:cNvPr>
          <p:cNvSpPr/>
          <p:nvPr/>
        </p:nvSpPr>
        <p:spPr bwMode="auto">
          <a:xfrm>
            <a:off x="1455945" y="5089423"/>
            <a:ext cx="1726769" cy="1038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dev ADLS container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ED7043-EA39-D0D2-ADDB-443870AD5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271" y="5089422"/>
            <a:ext cx="1318117" cy="82690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0DF1445-111A-ABC9-560D-8BE84CEBAD24}"/>
              </a:ext>
            </a:extLst>
          </p:cNvPr>
          <p:cNvSpPr/>
          <p:nvPr/>
        </p:nvSpPr>
        <p:spPr bwMode="auto">
          <a:xfrm>
            <a:off x="4086235" y="5089423"/>
            <a:ext cx="1726769" cy="1038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test ADLS container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F58651-396E-F670-0F95-A76FC23CD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561" y="5089422"/>
            <a:ext cx="1318117" cy="82690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7ED6B78-D908-7B70-97A2-EB6EA1A4239C}"/>
              </a:ext>
            </a:extLst>
          </p:cNvPr>
          <p:cNvSpPr/>
          <p:nvPr/>
        </p:nvSpPr>
        <p:spPr bwMode="auto">
          <a:xfrm>
            <a:off x="6631672" y="5089423"/>
            <a:ext cx="1726769" cy="1038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prod ADLS container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DA2E25C-6A5F-25B3-ED50-47E70D1FF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998" y="5089422"/>
            <a:ext cx="1318117" cy="82690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C674470-AAE0-D0FB-A9AA-203A5D53ECD9}"/>
              </a:ext>
            </a:extLst>
          </p:cNvPr>
          <p:cNvSpPr/>
          <p:nvPr/>
        </p:nvSpPr>
        <p:spPr bwMode="auto">
          <a:xfrm>
            <a:off x="1124231" y="3269551"/>
            <a:ext cx="2390196" cy="1341837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environment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867B83-61DE-455F-7ADD-EAB28E945231}"/>
              </a:ext>
            </a:extLst>
          </p:cNvPr>
          <p:cNvSpPr/>
          <p:nvPr/>
        </p:nvSpPr>
        <p:spPr bwMode="auto">
          <a:xfrm>
            <a:off x="1262723" y="4135052"/>
            <a:ext cx="2113213" cy="3815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connection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92DB7B-972E-B664-280B-4DFD6FD5BF7A}"/>
              </a:ext>
            </a:extLst>
          </p:cNvPr>
          <p:cNvSpPr/>
          <p:nvPr/>
        </p:nvSpPr>
        <p:spPr bwMode="auto">
          <a:xfrm>
            <a:off x="1262723" y="3676344"/>
            <a:ext cx="2113213" cy="3815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505786-7745-86CF-1448-78F19F3AE28B}"/>
              </a:ext>
            </a:extLst>
          </p:cNvPr>
          <p:cNvSpPr/>
          <p:nvPr/>
        </p:nvSpPr>
        <p:spPr bwMode="auto">
          <a:xfrm>
            <a:off x="3754521" y="3269551"/>
            <a:ext cx="2390196" cy="134183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 environment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CA65D5-6721-2BB7-0743-8486B59C90E3}"/>
              </a:ext>
            </a:extLst>
          </p:cNvPr>
          <p:cNvSpPr/>
          <p:nvPr/>
        </p:nvSpPr>
        <p:spPr bwMode="auto">
          <a:xfrm>
            <a:off x="3893013" y="4135052"/>
            <a:ext cx="2113213" cy="3815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connection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B026AD-4F1C-0AC4-B9F8-AB254EB22DAC}"/>
              </a:ext>
            </a:extLst>
          </p:cNvPr>
          <p:cNvSpPr/>
          <p:nvPr/>
        </p:nvSpPr>
        <p:spPr bwMode="auto">
          <a:xfrm>
            <a:off x="3893013" y="3676344"/>
            <a:ext cx="2113213" cy="3815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8C0AA4-515E-89BF-554E-CDAAC9C9C1AF}"/>
              </a:ext>
            </a:extLst>
          </p:cNvPr>
          <p:cNvSpPr/>
          <p:nvPr/>
        </p:nvSpPr>
        <p:spPr bwMode="auto">
          <a:xfrm>
            <a:off x="6299958" y="3269551"/>
            <a:ext cx="2390196" cy="13418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environment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E39CF2-351E-D491-4F52-A05E0F8B8F7F}"/>
              </a:ext>
            </a:extLst>
          </p:cNvPr>
          <p:cNvSpPr/>
          <p:nvPr/>
        </p:nvSpPr>
        <p:spPr bwMode="auto">
          <a:xfrm>
            <a:off x="6438450" y="4135052"/>
            <a:ext cx="2113213" cy="3815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connection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2DD07D-B62A-9B9D-9458-A57E218580F9}"/>
              </a:ext>
            </a:extLst>
          </p:cNvPr>
          <p:cNvSpPr/>
          <p:nvPr/>
        </p:nvSpPr>
        <p:spPr bwMode="auto">
          <a:xfrm>
            <a:off x="6438450" y="3676344"/>
            <a:ext cx="2113213" cy="3815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  <a:endParaRPr lang="en-US" sz="1050" dirty="0">
              <a:solidFill>
                <a:schemeClr val="tx1"/>
              </a:soli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71341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5409-D543-0F53-0844-4A43D4C6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the GIT repository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37CEF-47E6-8BB8-15E4-840E1BF47D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5293757"/>
          </a:xfrm>
        </p:spPr>
        <p:txBody>
          <a:bodyPr/>
          <a:lstStyle/>
          <a:p>
            <a:r>
              <a:rPr lang="en-US" dirty="0"/>
              <a:t>Select a GIT provider</a:t>
            </a:r>
          </a:p>
          <a:p>
            <a:pPr lvl="1"/>
            <a:r>
              <a:rPr lang="en-US" dirty="0"/>
              <a:t>Choose between </a:t>
            </a:r>
            <a:r>
              <a:rPr lang="en-US" sz="1800" b="1" dirty="0">
                <a:solidFill>
                  <a:srgbClr val="8A0000"/>
                </a:solidFill>
              </a:rPr>
              <a:t>Azure Dev Ops</a:t>
            </a:r>
            <a:r>
              <a:rPr lang="en-US" dirty="0"/>
              <a:t>, </a:t>
            </a:r>
            <a:r>
              <a:rPr lang="en-US" sz="1800" b="1" dirty="0">
                <a:solidFill>
                  <a:srgbClr val="8A0000"/>
                </a:solidFill>
              </a:rPr>
              <a:t>GitHub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GitHub Enterprise</a:t>
            </a:r>
            <a:endParaRPr lang="en-US" b="1" dirty="0">
              <a:solidFill>
                <a:srgbClr val="8A0000"/>
              </a:solidFill>
            </a:endParaRPr>
          </a:p>
          <a:p>
            <a:pPr>
              <a:spcBef>
                <a:spcPts val="2400"/>
              </a:spcBef>
            </a:pPr>
            <a:endParaRPr lang="en-US" dirty="0"/>
          </a:p>
          <a:p>
            <a:pPr>
              <a:spcBef>
                <a:spcPts val="2400"/>
              </a:spcBef>
            </a:pPr>
            <a:endParaRPr lang="en-US" dirty="0"/>
          </a:p>
          <a:p>
            <a:pPr>
              <a:spcBef>
                <a:spcPts val="2400"/>
              </a:spcBef>
            </a:pPr>
            <a:endParaRPr lang="en-US" dirty="0"/>
          </a:p>
          <a:p>
            <a:pPr>
              <a:spcBef>
                <a:spcPts val="2400"/>
              </a:spcBef>
            </a:pPr>
            <a:r>
              <a:rPr lang="en-US" dirty="0"/>
              <a:t>Adopt a branching strategy to determine what long-lived branches to create</a:t>
            </a:r>
          </a:p>
          <a:p>
            <a:pPr lvl="1"/>
            <a:r>
              <a:rPr lang="en-US" dirty="0"/>
              <a:t>Determine what branch to create and what branch policies to configure on specific branches</a:t>
            </a:r>
            <a:endParaRPr lang="en-US" b="1" dirty="0">
              <a:solidFill>
                <a:srgbClr val="8A0000"/>
              </a:solidFill>
            </a:endParaRPr>
          </a:p>
          <a:p>
            <a:pPr>
              <a:spcBef>
                <a:spcPts val="2400"/>
              </a:spcBef>
            </a:pPr>
            <a:r>
              <a:rPr lang="en-US" dirty="0"/>
              <a:t>Plan on who will be developing workflows in GIT provider to control CI/CD lifecycle</a:t>
            </a:r>
          </a:p>
          <a:p>
            <a:pPr lvl="1"/>
            <a:r>
              <a:rPr lang="en-US" dirty="0"/>
              <a:t>When using Azure Dev Ops, workflows are developed using </a:t>
            </a:r>
            <a:r>
              <a:rPr lang="en-US" sz="1800" b="1" dirty="0">
                <a:solidFill>
                  <a:srgbClr val="8A0000"/>
                </a:solidFill>
              </a:rPr>
              <a:t>Azure pipelines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When using GitHub, workflows are developed using </a:t>
            </a:r>
            <a:r>
              <a:rPr lang="en-US" sz="1800" b="1" dirty="0">
                <a:solidFill>
                  <a:srgbClr val="8A0000"/>
                </a:solidFill>
              </a:rPr>
              <a:t>GitHub Workflow Actions</a:t>
            </a:r>
            <a:endParaRPr lang="en-US" b="1" dirty="0">
              <a:solidFill>
                <a:srgbClr val="8A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1A8D43-67D1-C381-08E1-9FC79D70EA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304"/>
          <a:stretch>
            <a:fillRect/>
          </a:stretch>
        </p:blipFill>
        <p:spPr>
          <a:xfrm>
            <a:off x="1168502" y="2114273"/>
            <a:ext cx="2666525" cy="19560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B48646-ABAA-E83C-58E3-6C8EA7EAB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352" y="2114273"/>
            <a:ext cx="2666525" cy="19560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30241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93B93-0E8E-2DB5-A177-893FD1BDC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the Development Process for Continuous Integration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B6F40D-A655-8589-49CB-5B00A41F64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292935"/>
          </a:xfrm>
        </p:spPr>
        <p:txBody>
          <a:bodyPr/>
          <a:lstStyle/>
          <a:p>
            <a:r>
              <a:rPr lang="en-US" dirty="0"/>
              <a:t>Feature branches and feature workspaces recommended for development process</a:t>
            </a:r>
          </a:p>
          <a:p>
            <a:pPr lvl="1"/>
            <a:r>
              <a:rPr lang="en-US" dirty="0"/>
              <a:t>Determine what GIT branch will be the </a:t>
            </a:r>
            <a:r>
              <a:rPr lang="en-US" sz="1800" b="1" dirty="0">
                <a:solidFill>
                  <a:srgbClr val="8A0000"/>
                </a:solidFill>
              </a:rPr>
              <a:t>integration branch</a:t>
            </a:r>
            <a:r>
              <a:rPr lang="en-US" dirty="0"/>
              <a:t> (typically it is either </a:t>
            </a:r>
            <a:r>
              <a:rPr lang="en-US" sz="1800" b="1" dirty="0">
                <a:solidFill>
                  <a:srgbClr val="8A0000"/>
                </a:solidFill>
              </a:rPr>
              <a:t>main</a:t>
            </a:r>
            <a:r>
              <a:rPr lang="en-US" dirty="0"/>
              <a:t> or </a:t>
            </a:r>
            <a:r>
              <a:rPr lang="en-US" sz="18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Plan how to create and configure features branches and feature workspaces </a:t>
            </a:r>
          </a:p>
          <a:p>
            <a:pPr lvl="1"/>
            <a:r>
              <a:rPr lang="en-US" dirty="0"/>
              <a:t>Plan on how to manage feature workspace lifecycle (</a:t>
            </a:r>
            <a:r>
              <a:rPr lang="en-US" i="1" dirty="0"/>
              <a:t>to pool or not to pool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Plan on how workspace items are edited, committed to GIT and merged using pull requests</a:t>
            </a:r>
          </a:p>
          <a:p>
            <a:pPr lvl="1"/>
            <a:r>
              <a:rPr lang="en-US" dirty="0"/>
              <a:t>Plan on developing workflow to sync dev workspace as changes are merged to integration branch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C14066-644F-D510-81DC-A78FE031AB22}"/>
              </a:ext>
            </a:extLst>
          </p:cNvPr>
          <p:cNvGrpSpPr/>
          <p:nvPr/>
        </p:nvGrpSpPr>
        <p:grpSpPr>
          <a:xfrm>
            <a:off x="1170051" y="3663216"/>
            <a:ext cx="6392799" cy="3066688"/>
            <a:chOff x="1179576" y="3653690"/>
            <a:chExt cx="5940941" cy="315033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693420F-13B8-D764-3BD1-FACD2B520B65}"/>
                </a:ext>
              </a:extLst>
            </p:cNvPr>
            <p:cNvSpPr/>
            <p:nvPr/>
          </p:nvSpPr>
          <p:spPr bwMode="auto">
            <a:xfrm>
              <a:off x="1179576" y="3653690"/>
              <a:ext cx="5940941" cy="3150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Development Process (CI)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A87C45-7994-C9FD-EDDB-D3209BE79E64}"/>
                </a:ext>
              </a:extLst>
            </p:cNvPr>
            <p:cNvSpPr/>
            <p:nvPr/>
          </p:nvSpPr>
          <p:spPr bwMode="auto">
            <a:xfrm>
              <a:off x="5400481" y="5251115"/>
              <a:ext cx="1367244" cy="109231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integration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76DF8F6-4CEF-95F8-D9E3-9555D0079F13}"/>
                </a:ext>
              </a:extLst>
            </p:cNvPr>
            <p:cNvGrpSpPr/>
            <p:nvPr/>
          </p:nvGrpSpPr>
          <p:grpSpPr>
            <a:xfrm>
              <a:off x="1365938" y="5240777"/>
              <a:ext cx="3956010" cy="483688"/>
              <a:chOff x="1649390" y="2912118"/>
              <a:chExt cx="4805684" cy="614039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D63985A-0056-9989-A131-36C9BF2ECFEE}"/>
                  </a:ext>
                </a:extLst>
              </p:cNvPr>
              <p:cNvSpPr/>
              <p:nvPr/>
            </p:nvSpPr>
            <p:spPr bwMode="auto">
              <a:xfrm>
                <a:off x="4030838" y="2912118"/>
                <a:ext cx="1261062" cy="61403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1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7615CBA-6F45-8412-04DC-27D627DA0F6F}"/>
                  </a:ext>
                </a:extLst>
              </p:cNvPr>
              <p:cNvSpPr/>
              <p:nvPr/>
            </p:nvSpPr>
            <p:spPr bwMode="auto">
              <a:xfrm>
                <a:off x="1649390" y="2912118"/>
                <a:ext cx="1261062" cy="6140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1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0" name="Arrow: Left 29">
                <a:extLst>
                  <a:ext uri="{FF2B5EF4-FFF2-40B4-BE49-F238E27FC236}">
                    <a16:creationId xmlns:a16="http://schemas.microsoft.com/office/drawing/2014/main" id="{CDFFA95A-FB6B-8E43-87C9-17AA39509D27}"/>
                  </a:ext>
                </a:extLst>
              </p:cNvPr>
              <p:cNvSpPr/>
              <p:nvPr/>
            </p:nvSpPr>
            <p:spPr bwMode="auto">
              <a:xfrm flipH="1">
                <a:off x="2957239" y="2989298"/>
                <a:ext cx="1084042" cy="459678"/>
              </a:xfrm>
              <a:prstGeom prst="leftArrow">
                <a:avLst>
                  <a:gd name="adj1" fmla="val 57100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Commit to GIT</a:t>
                </a:r>
              </a:p>
            </p:txBody>
          </p:sp>
          <p:sp>
            <p:nvSpPr>
              <p:cNvPr id="31" name="Arrow: Left 30">
                <a:extLst>
                  <a:ext uri="{FF2B5EF4-FFF2-40B4-BE49-F238E27FC236}">
                    <a16:creationId xmlns:a16="http://schemas.microsoft.com/office/drawing/2014/main" id="{CE9F9056-A338-F946-EB34-D7F4BE44837E}"/>
                  </a:ext>
                </a:extLst>
              </p:cNvPr>
              <p:cNvSpPr/>
              <p:nvPr/>
            </p:nvSpPr>
            <p:spPr bwMode="auto">
              <a:xfrm flipH="1">
                <a:off x="5371032" y="2989298"/>
                <a:ext cx="1084042" cy="459678"/>
              </a:xfrm>
              <a:prstGeom prst="leftArrow">
                <a:avLst>
                  <a:gd name="adj1" fmla="val 57100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pull request</a:t>
                </a:r>
              </a:p>
            </p:txBody>
          </p:sp>
        </p:grp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4B124CF1-EF6A-970C-A2A5-6132F46D849A}"/>
                </a:ext>
              </a:extLst>
            </p:cNvPr>
            <p:cNvSpPr/>
            <p:nvPr/>
          </p:nvSpPr>
          <p:spPr bwMode="auto">
            <a:xfrm rot="16200000">
              <a:off x="5808541" y="4759457"/>
              <a:ext cx="551123" cy="394405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sync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364CEB9-FAFC-6F78-A416-CAD7A151BEC8}"/>
                </a:ext>
              </a:extLst>
            </p:cNvPr>
            <p:cNvGrpSpPr/>
            <p:nvPr/>
          </p:nvGrpSpPr>
          <p:grpSpPr>
            <a:xfrm>
              <a:off x="1365938" y="5859738"/>
              <a:ext cx="3956010" cy="483688"/>
              <a:chOff x="1649390" y="2912118"/>
              <a:chExt cx="4805684" cy="614039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ADC6523-DE65-1306-6C20-DF20775E00FD}"/>
                  </a:ext>
                </a:extLst>
              </p:cNvPr>
              <p:cNvSpPr/>
              <p:nvPr/>
            </p:nvSpPr>
            <p:spPr bwMode="auto">
              <a:xfrm>
                <a:off x="4030838" y="2912118"/>
                <a:ext cx="1261062" cy="61403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2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309ACDC-A595-0A84-5D00-8BAAA7665DCC}"/>
                  </a:ext>
                </a:extLst>
              </p:cNvPr>
              <p:cNvSpPr/>
              <p:nvPr/>
            </p:nvSpPr>
            <p:spPr bwMode="auto">
              <a:xfrm>
                <a:off x="1649390" y="2912118"/>
                <a:ext cx="1261062" cy="6140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2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6" name="Arrow: Left 25">
                <a:extLst>
                  <a:ext uri="{FF2B5EF4-FFF2-40B4-BE49-F238E27FC236}">
                    <a16:creationId xmlns:a16="http://schemas.microsoft.com/office/drawing/2014/main" id="{42CF4B73-5116-9714-4BC8-ACC249C978F4}"/>
                  </a:ext>
                </a:extLst>
              </p:cNvPr>
              <p:cNvSpPr/>
              <p:nvPr/>
            </p:nvSpPr>
            <p:spPr bwMode="auto">
              <a:xfrm flipH="1">
                <a:off x="2957239" y="2989298"/>
                <a:ext cx="1084042" cy="459678"/>
              </a:xfrm>
              <a:prstGeom prst="leftArrow">
                <a:avLst>
                  <a:gd name="adj1" fmla="val 57100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Commit to GIT</a:t>
                </a:r>
              </a:p>
            </p:txBody>
          </p:sp>
          <p:sp>
            <p:nvSpPr>
              <p:cNvPr id="27" name="Arrow: Left 26">
                <a:extLst>
                  <a:ext uri="{FF2B5EF4-FFF2-40B4-BE49-F238E27FC236}">
                    <a16:creationId xmlns:a16="http://schemas.microsoft.com/office/drawing/2014/main" id="{6A1DFD02-94CE-FD06-F138-6C9FEC1E23DC}"/>
                  </a:ext>
                </a:extLst>
              </p:cNvPr>
              <p:cNvSpPr/>
              <p:nvPr/>
            </p:nvSpPr>
            <p:spPr bwMode="auto">
              <a:xfrm flipH="1">
                <a:off x="5371032" y="2989298"/>
                <a:ext cx="1084042" cy="459678"/>
              </a:xfrm>
              <a:prstGeom prst="leftArrow">
                <a:avLst>
                  <a:gd name="adj1" fmla="val 57100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8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pull request</a:t>
                </a: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734E09D-8014-252E-566A-C5BB4A511520}"/>
                </a:ext>
              </a:extLst>
            </p:cNvPr>
            <p:cNvSpPr/>
            <p:nvPr/>
          </p:nvSpPr>
          <p:spPr bwMode="auto">
            <a:xfrm>
              <a:off x="5400481" y="3860207"/>
              <a:ext cx="1367244" cy="76253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253844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F0225-D3B5-1752-FD8F-470294C72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C69EC-77D5-ECAB-2141-ED0B07C2E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Plan the Release Process for Continuous Deployment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3C95E-5987-7268-5105-CBD1240BA6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175" y="1227138"/>
            <a:ext cx="11604625" cy="5678478"/>
          </a:xfrm>
        </p:spPr>
        <p:txBody>
          <a:bodyPr/>
          <a:lstStyle/>
          <a:p>
            <a:r>
              <a:rPr lang="en-US" dirty="0"/>
              <a:t>Release process built to deploy updates from integration branch to </a:t>
            </a:r>
            <a:r>
              <a:rPr lang="en-US" sz="20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2000" b="1" dirty="0">
                <a:solidFill>
                  <a:srgbClr val="8A0000"/>
                </a:solidFill>
              </a:rPr>
              <a:t>prod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Deploy to </a:t>
            </a:r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workspace for testing and, once approved, deploy to </a:t>
            </a:r>
            <a:r>
              <a:rPr lang="en-US" sz="1800" b="1" dirty="0">
                <a:solidFill>
                  <a:srgbClr val="8A0000"/>
                </a:solidFill>
              </a:rPr>
              <a:t>prod</a:t>
            </a:r>
            <a:r>
              <a:rPr lang="en-US" dirty="0"/>
              <a:t> workspace</a:t>
            </a:r>
          </a:p>
          <a:p>
            <a:pPr>
              <a:spcBef>
                <a:spcPts val="2400"/>
              </a:spcBef>
            </a:pPr>
            <a:endParaRPr lang="en-US" dirty="0"/>
          </a:p>
          <a:p>
            <a:pPr>
              <a:spcBef>
                <a:spcPts val="2400"/>
              </a:spcBef>
            </a:pPr>
            <a:endParaRPr lang="en-US" dirty="0"/>
          </a:p>
          <a:p>
            <a:pPr lvl="1">
              <a:spcBef>
                <a:spcPts val="2400"/>
              </a:spcBef>
            </a:pPr>
            <a:endParaRPr lang="en-US" dirty="0"/>
          </a:p>
          <a:p>
            <a:pPr lvl="1">
              <a:spcBef>
                <a:spcPts val="2400"/>
              </a:spcBef>
            </a:pPr>
            <a:endParaRPr lang="en-US" dirty="0"/>
          </a:p>
          <a:p>
            <a:pPr>
              <a:spcBef>
                <a:spcPts val="2400"/>
              </a:spcBef>
            </a:pPr>
            <a:r>
              <a:rPr lang="en-US" dirty="0"/>
              <a:t>Choose between several common options for building a release process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Option 1</a:t>
            </a:r>
            <a:r>
              <a:rPr lang="en-US" dirty="0"/>
              <a:t>: Build the release process using </a:t>
            </a:r>
            <a:r>
              <a:rPr lang="en-US" sz="1800" b="1" dirty="0">
                <a:solidFill>
                  <a:srgbClr val="8A0000"/>
                </a:solidFill>
              </a:rPr>
              <a:t>deployment pipelines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Option 2</a:t>
            </a:r>
            <a:r>
              <a:rPr lang="en-US" dirty="0"/>
              <a:t>: Build the release process using </a:t>
            </a:r>
            <a:r>
              <a:rPr lang="en-US" sz="1800" b="1" dirty="0">
                <a:solidFill>
                  <a:srgbClr val="8A0000"/>
                </a:solidFill>
              </a:rPr>
              <a:t>GIT synchronization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Option 3</a:t>
            </a:r>
            <a:r>
              <a:rPr lang="en-US" dirty="0"/>
              <a:t>: Build the release process using </a:t>
            </a:r>
            <a:r>
              <a:rPr lang="en-US" sz="1800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and </a:t>
            </a:r>
            <a:r>
              <a:rPr lang="en-US" sz="1800" b="1" dirty="0" err="1">
                <a:solidFill>
                  <a:srgbClr val="8A0000"/>
                </a:solidFill>
              </a:rPr>
              <a:t>GitFlow</a:t>
            </a:r>
            <a:r>
              <a:rPr lang="en-US" dirty="0"/>
              <a:t> branching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Option 4</a:t>
            </a:r>
            <a:r>
              <a:rPr lang="en-US" dirty="0"/>
              <a:t>: Build the release process using </a:t>
            </a:r>
            <a:r>
              <a:rPr lang="en-US" sz="1800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release flow</a:t>
            </a:r>
            <a:r>
              <a:rPr lang="en-US" dirty="0"/>
              <a:t> branching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8BA9EAB-2A9C-2B3E-E3E2-CE55826C8A73}"/>
              </a:ext>
            </a:extLst>
          </p:cNvPr>
          <p:cNvGrpSpPr/>
          <p:nvPr/>
        </p:nvGrpSpPr>
        <p:grpSpPr>
          <a:xfrm>
            <a:off x="1055369" y="2155022"/>
            <a:ext cx="6977683" cy="2356018"/>
            <a:chOff x="1085850" y="2155022"/>
            <a:chExt cx="7102678" cy="2509892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2F1CDB2-6A51-F639-CC4D-1DF17F79F261}"/>
                </a:ext>
              </a:extLst>
            </p:cNvPr>
            <p:cNvSpPr/>
            <p:nvPr/>
          </p:nvSpPr>
          <p:spPr bwMode="auto">
            <a:xfrm>
              <a:off x="1085850" y="2155022"/>
              <a:ext cx="4042310" cy="250989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Development Process (CI)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6F965A6-561F-4985-EFF2-770F500CAB91}"/>
                </a:ext>
              </a:extLst>
            </p:cNvPr>
            <p:cNvSpPr/>
            <p:nvPr/>
          </p:nvSpPr>
          <p:spPr bwMode="auto">
            <a:xfrm>
              <a:off x="5252720" y="2155022"/>
              <a:ext cx="2935808" cy="25098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Release Process (CD)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4CB1E23-A371-92C6-5F22-FC36DF5F5E14}"/>
                </a:ext>
              </a:extLst>
            </p:cNvPr>
            <p:cNvGrpSpPr/>
            <p:nvPr/>
          </p:nvGrpSpPr>
          <p:grpSpPr>
            <a:xfrm>
              <a:off x="1201986" y="3374954"/>
              <a:ext cx="2584901" cy="847805"/>
              <a:chOff x="1854618" y="1506117"/>
              <a:chExt cx="3443987" cy="1392700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EC21A04-B806-F4D7-DF35-4A3F50369190}"/>
                  </a:ext>
                </a:extLst>
              </p:cNvPr>
              <p:cNvGrpSpPr/>
              <p:nvPr/>
            </p:nvGrpSpPr>
            <p:grpSpPr>
              <a:xfrm>
                <a:off x="1854618" y="1506117"/>
                <a:ext cx="3443987" cy="614039"/>
                <a:chOff x="1194579" y="1506117"/>
                <a:chExt cx="4104026" cy="695707"/>
              </a:xfrm>
            </p:grpSpPr>
            <p:sp>
              <p:nvSpPr>
                <p:cNvPr id="29" name="Arrow: Right 28">
                  <a:extLst>
                    <a:ext uri="{FF2B5EF4-FFF2-40B4-BE49-F238E27FC236}">
                      <a16:creationId xmlns:a16="http://schemas.microsoft.com/office/drawing/2014/main" id="{2D1EE7A1-CBA6-A48C-1587-AAD5FD95DC79}"/>
                    </a:ext>
                  </a:extLst>
                </p:cNvPr>
                <p:cNvSpPr/>
                <p:nvPr/>
              </p:nvSpPr>
              <p:spPr bwMode="auto">
                <a:xfrm>
                  <a:off x="4796382" y="1681008"/>
                  <a:ext cx="502223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B68E3538-726E-353F-7CAC-54169958555E}"/>
                    </a:ext>
                  </a:extLst>
                </p:cNvPr>
                <p:cNvSpPr/>
                <p:nvPr/>
              </p:nvSpPr>
              <p:spPr bwMode="auto">
                <a:xfrm>
                  <a:off x="3504794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19290F10-E198-B791-00A5-B50B50275F8E}"/>
                    </a:ext>
                  </a:extLst>
                </p:cNvPr>
                <p:cNvSpPr/>
                <p:nvPr/>
              </p:nvSpPr>
              <p:spPr bwMode="auto">
                <a:xfrm>
                  <a:off x="1194579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32" name="Arrow: Left-Right 31">
                  <a:extLst>
                    <a:ext uri="{FF2B5EF4-FFF2-40B4-BE49-F238E27FC236}">
                      <a16:creationId xmlns:a16="http://schemas.microsoft.com/office/drawing/2014/main" id="{DBFEA053-0C64-0CC2-484C-AC8D001EA007}"/>
                    </a:ext>
                  </a:extLst>
                </p:cNvPr>
                <p:cNvSpPr/>
                <p:nvPr/>
              </p:nvSpPr>
              <p:spPr bwMode="auto">
                <a:xfrm flipH="1">
                  <a:off x="2536213" y="1681008"/>
                  <a:ext cx="925970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BA0017C-7F70-29BF-2D06-563243F9398E}"/>
                  </a:ext>
                </a:extLst>
              </p:cNvPr>
              <p:cNvGrpSpPr/>
              <p:nvPr/>
            </p:nvGrpSpPr>
            <p:grpSpPr>
              <a:xfrm>
                <a:off x="1879901" y="2284778"/>
                <a:ext cx="3418704" cy="614039"/>
                <a:chOff x="1224707" y="1506117"/>
                <a:chExt cx="4073898" cy="695707"/>
              </a:xfrm>
            </p:grpSpPr>
            <p:sp>
              <p:nvSpPr>
                <p:cNvPr id="25" name="Arrow: Right 24">
                  <a:extLst>
                    <a:ext uri="{FF2B5EF4-FFF2-40B4-BE49-F238E27FC236}">
                      <a16:creationId xmlns:a16="http://schemas.microsoft.com/office/drawing/2014/main" id="{3C9C349B-A1F2-EAF4-442A-2BEF9133FEE7}"/>
                    </a:ext>
                  </a:extLst>
                </p:cNvPr>
                <p:cNvSpPr/>
                <p:nvPr/>
              </p:nvSpPr>
              <p:spPr bwMode="auto">
                <a:xfrm>
                  <a:off x="4796382" y="1681008"/>
                  <a:ext cx="502223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9A71CEE-AC94-D470-DBB4-6107F61C1137}"/>
                    </a:ext>
                  </a:extLst>
                </p:cNvPr>
                <p:cNvSpPr/>
                <p:nvPr/>
              </p:nvSpPr>
              <p:spPr bwMode="auto">
                <a:xfrm>
                  <a:off x="3517172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71F869D0-6945-E90E-DD60-C2FF3194E411}"/>
                    </a:ext>
                  </a:extLst>
                </p:cNvPr>
                <p:cNvSpPr/>
                <p:nvPr/>
              </p:nvSpPr>
              <p:spPr bwMode="auto">
                <a:xfrm>
                  <a:off x="1224707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28" name="Arrow: Left-Right 27">
                  <a:extLst>
                    <a:ext uri="{FF2B5EF4-FFF2-40B4-BE49-F238E27FC236}">
                      <a16:creationId xmlns:a16="http://schemas.microsoft.com/office/drawing/2014/main" id="{534C7983-DCC7-F86F-B388-6895F775EFAE}"/>
                    </a:ext>
                  </a:extLst>
                </p:cNvPr>
                <p:cNvSpPr/>
                <p:nvPr/>
              </p:nvSpPr>
              <p:spPr bwMode="auto">
                <a:xfrm flipH="1">
                  <a:off x="2536212" y="1681008"/>
                  <a:ext cx="920226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9B81ED4-AFAE-A823-E6D5-A9A0B26EB62F}"/>
                </a:ext>
              </a:extLst>
            </p:cNvPr>
            <p:cNvGrpSpPr/>
            <p:nvPr/>
          </p:nvGrpSpPr>
          <p:grpSpPr>
            <a:xfrm>
              <a:off x="3898808" y="2298057"/>
              <a:ext cx="946496" cy="1952915"/>
              <a:chOff x="5239777" y="695739"/>
              <a:chExt cx="1261062" cy="2601961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00E468-5321-B056-B902-7F7FE79DBA26}"/>
                  </a:ext>
                </a:extLst>
              </p:cNvPr>
              <p:cNvSpPr/>
              <p:nvPr/>
            </p:nvSpPr>
            <p:spPr bwMode="auto">
              <a:xfrm>
                <a:off x="5239777" y="2022754"/>
                <a:ext cx="1261062" cy="127494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7EC7F85-FF8F-7737-0451-86F9116AB2BD}"/>
                  </a:ext>
                </a:extLst>
              </p:cNvPr>
              <p:cNvSpPr/>
              <p:nvPr/>
            </p:nvSpPr>
            <p:spPr bwMode="auto">
              <a:xfrm>
                <a:off x="5239777" y="695739"/>
                <a:ext cx="1261062" cy="8538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3CACE5FE-905B-FA8B-855E-CA3AEE7BED09}"/>
                  </a:ext>
                </a:extLst>
              </p:cNvPr>
              <p:cNvSpPr/>
              <p:nvPr/>
            </p:nvSpPr>
            <p:spPr bwMode="auto">
              <a:xfrm rot="16200000">
                <a:off x="5666768" y="1663964"/>
                <a:ext cx="407079" cy="282097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59ED237-D28E-9012-0E30-8A9BB98BAB9C}"/>
                </a:ext>
              </a:extLst>
            </p:cNvPr>
            <p:cNvGrpSpPr/>
            <p:nvPr/>
          </p:nvGrpSpPr>
          <p:grpSpPr>
            <a:xfrm>
              <a:off x="5563638" y="2298057"/>
              <a:ext cx="946496" cy="1952915"/>
              <a:chOff x="5239777" y="695739"/>
              <a:chExt cx="1261062" cy="2601961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DD7ED60-29A2-D4D5-D4E2-1A973164CF65}"/>
                  </a:ext>
                </a:extLst>
              </p:cNvPr>
              <p:cNvSpPr/>
              <p:nvPr/>
            </p:nvSpPr>
            <p:spPr bwMode="auto">
              <a:xfrm>
                <a:off x="5239777" y="2022754"/>
                <a:ext cx="1261062" cy="1274946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F493742-326A-9408-0FA3-067D7CAA7631}"/>
                  </a:ext>
                </a:extLst>
              </p:cNvPr>
              <p:cNvSpPr/>
              <p:nvPr/>
            </p:nvSpPr>
            <p:spPr bwMode="auto">
              <a:xfrm>
                <a:off x="5239777" y="695739"/>
                <a:ext cx="1261062" cy="8538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19" name="Arrow: Right 18">
                <a:extLst>
                  <a:ext uri="{FF2B5EF4-FFF2-40B4-BE49-F238E27FC236}">
                    <a16:creationId xmlns:a16="http://schemas.microsoft.com/office/drawing/2014/main" id="{64C94ED8-B7DD-D233-970F-960D2EBC39FC}"/>
                  </a:ext>
                </a:extLst>
              </p:cNvPr>
              <p:cNvSpPr/>
              <p:nvPr/>
            </p:nvSpPr>
            <p:spPr bwMode="auto">
              <a:xfrm rot="16200000">
                <a:off x="5666768" y="1663964"/>
                <a:ext cx="407079" cy="282097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934E7134-F8E6-30FF-4933-3EF985B32959}"/>
                </a:ext>
              </a:extLst>
            </p:cNvPr>
            <p:cNvSpPr/>
            <p:nvPr/>
          </p:nvSpPr>
          <p:spPr bwMode="auto">
            <a:xfrm>
              <a:off x="4882093" y="3663199"/>
              <a:ext cx="644757" cy="263348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7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0028F6F-C1E6-8085-F1BA-FAE09D36974E}"/>
                </a:ext>
              </a:extLst>
            </p:cNvPr>
            <p:cNvGrpSpPr/>
            <p:nvPr/>
          </p:nvGrpSpPr>
          <p:grpSpPr>
            <a:xfrm>
              <a:off x="7015108" y="2298057"/>
              <a:ext cx="946496" cy="1952915"/>
              <a:chOff x="5239777" y="695739"/>
              <a:chExt cx="1261062" cy="2601961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6356C87-2AEC-85B7-6406-78B390F54E8A}"/>
                  </a:ext>
                </a:extLst>
              </p:cNvPr>
              <p:cNvSpPr/>
              <p:nvPr/>
            </p:nvSpPr>
            <p:spPr bwMode="auto">
              <a:xfrm>
                <a:off x="5239777" y="2022754"/>
                <a:ext cx="1261062" cy="127494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main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CD2C1CC-E120-87AF-EBF0-AEC5F17233CD}"/>
                  </a:ext>
                </a:extLst>
              </p:cNvPr>
              <p:cNvSpPr/>
              <p:nvPr/>
            </p:nvSpPr>
            <p:spPr bwMode="auto">
              <a:xfrm>
                <a:off x="5239777" y="695739"/>
                <a:ext cx="1261062" cy="8538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16" name="Arrow: Right 15">
                <a:extLst>
                  <a:ext uri="{FF2B5EF4-FFF2-40B4-BE49-F238E27FC236}">
                    <a16:creationId xmlns:a16="http://schemas.microsoft.com/office/drawing/2014/main" id="{11904BF3-0CD3-041B-A486-6B93C49A066F}"/>
                  </a:ext>
                </a:extLst>
              </p:cNvPr>
              <p:cNvSpPr/>
              <p:nvPr/>
            </p:nvSpPr>
            <p:spPr bwMode="auto">
              <a:xfrm rot="16200000">
                <a:off x="5666768" y="1663964"/>
                <a:ext cx="407079" cy="282097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B56A78BF-5BF3-C5E9-66F2-A8CC42F91915}"/>
                </a:ext>
              </a:extLst>
            </p:cNvPr>
            <p:cNvSpPr/>
            <p:nvPr/>
          </p:nvSpPr>
          <p:spPr bwMode="auto">
            <a:xfrm>
              <a:off x="6546923" y="3654783"/>
              <a:ext cx="429933" cy="263348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7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90804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2D725-E653-F8E3-0540-5A75822F4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CC6E1667-B6F3-0309-139B-09B342D11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3280365"/>
            <a:ext cx="11672047" cy="928011"/>
          </a:xfrm>
        </p:spPr>
        <p:txBody>
          <a:bodyPr/>
          <a:lstStyle/>
          <a:p>
            <a:r>
              <a:rPr lang="en-US" sz="4400" dirty="0"/>
              <a:t>Creating Project Infrastructure using Terraform</a:t>
            </a:r>
          </a:p>
        </p:txBody>
      </p:sp>
    </p:spTree>
    <p:extLst>
      <p:ext uri="{BB962C8B-B14F-4D97-AF65-F5344CB8AC3E}">
        <p14:creationId xmlns:p14="http://schemas.microsoft.com/office/powerpoint/2010/main" val="1957058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4104A-DFDB-D183-B83A-7D43845C9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Terraform to Create Project Infrastructure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E433B-F8BF-4CAB-690D-38D955CD9F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339376"/>
          </a:xfrm>
        </p:spPr>
        <p:txBody>
          <a:bodyPr/>
          <a:lstStyle/>
          <a:p>
            <a:r>
              <a:rPr lang="en-US" dirty="0"/>
              <a:t>Terraform is open-source tool built on the principles of </a:t>
            </a:r>
            <a:r>
              <a:rPr lang="en-US" sz="2000" b="1" dirty="0">
                <a:solidFill>
                  <a:srgbClr val="8A0000"/>
                </a:solidFill>
              </a:rPr>
              <a:t>infrastructure as code (IaC)</a:t>
            </a:r>
            <a:endParaRPr lang="en-US" dirty="0"/>
          </a:p>
          <a:p>
            <a:pPr lvl="1"/>
            <a:r>
              <a:rPr lang="en-US" dirty="0"/>
              <a:t>IaC pattern based on defining the infrastructure for software project using configuration files</a:t>
            </a:r>
          </a:p>
          <a:p>
            <a:pPr lvl="1"/>
            <a:r>
              <a:rPr lang="en-US" dirty="0"/>
              <a:t>Provides significant benefits over manual setup processes or procedural programming logic</a:t>
            </a:r>
          </a:p>
          <a:p>
            <a:pPr lvl="1"/>
            <a:r>
              <a:rPr lang="en-US" dirty="0"/>
              <a:t>Terraform deployment process is versionable and repeatable</a:t>
            </a:r>
          </a:p>
          <a:p>
            <a:r>
              <a:rPr lang="en-US" dirty="0"/>
              <a:t>Use Terraform to create resources needed for Fabric CI/CD project environments</a:t>
            </a:r>
          </a:p>
          <a:p>
            <a:pPr lvl="1"/>
            <a:r>
              <a:rPr lang="en-US" dirty="0"/>
              <a:t>Use Terraform to create tenant-level items in Fabric such as </a:t>
            </a:r>
            <a:r>
              <a:rPr lang="en-US" sz="1800" b="1" dirty="0">
                <a:solidFill>
                  <a:srgbClr val="8A0000"/>
                </a:solidFill>
              </a:rPr>
              <a:t>workspace</a:t>
            </a:r>
            <a:r>
              <a:rPr lang="en-US" dirty="0"/>
              <a:t>, </a:t>
            </a:r>
            <a:r>
              <a:rPr lang="en-US" sz="1800" b="1" dirty="0">
                <a:solidFill>
                  <a:srgbClr val="8A0000"/>
                </a:solidFill>
              </a:rPr>
              <a:t>capacities</a:t>
            </a:r>
            <a:r>
              <a:rPr lang="en-US" dirty="0"/>
              <a:t> &amp; </a:t>
            </a:r>
            <a:r>
              <a:rPr lang="en-US" sz="1800" b="1" dirty="0">
                <a:solidFill>
                  <a:srgbClr val="8A0000"/>
                </a:solidFill>
              </a:rPr>
              <a:t>connections</a:t>
            </a:r>
            <a:endParaRPr lang="en-US" dirty="0"/>
          </a:p>
          <a:p>
            <a:pPr lvl="1"/>
            <a:r>
              <a:rPr lang="en-US" dirty="0"/>
              <a:t>Use Terraform to create Azure resources such as </a:t>
            </a:r>
            <a:r>
              <a:rPr lang="en-US" sz="1800" b="1" dirty="0">
                <a:solidFill>
                  <a:srgbClr val="8A0000"/>
                </a:solidFill>
              </a:rPr>
              <a:t>storage accounts</a:t>
            </a:r>
            <a:r>
              <a:rPr lang="en-US" dirty="0"/>
              <a:t>, </a:t>
            </a:r>
            <a:r>
              <a:rPr lang="en-US" sz="1800" b="1" dirty="0">
                <a:solidFill>
                  <a:srgbClr val="8A0000"/>
                </a:solidFill>
              </a:rPr>
              <a:t>key vaults</a:t>
            </a:r>
            <a:r>
              <a:rPr lang="en-US" dirty="0"/>
              <a:t> &amp; </a:t>
            </a:r>
            <a:r>
              <a:rPr lang="en-US" sz="1800" b="1" dirty="0">
                <a:solidFill>
                  <a:srgbClr val="8A0000"/>
                </a:solidFill>
              </a:rPr>
              <a:t>service principals</a:t>
            </a:r>
            <a:endParaRPr lang="en-US" b="1" dirty="0">
              <a:solidFill>
                <a:srgbClr val="8A0000"/>
              </a:solidFill>
            </a:endParaRPr>
          </a:p>
          <a:p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1034870-61C4-C262-2CB4-AE6CBEC63A93}"/>
              </a:ext>
            </a:extLst>
          </p:cNvPr>
          <p:cNvGrpSpPr/>
          <p:nvPr/>
        </p:nvGrpSpPr>
        <p:grpSpPr>
          <a:xfrm>
            <a:off x="1131037" y="4215860"/>
            <a:ext cx="2643763" cy="2499900"/>
            <a:chOff x="946291" y="2743200"/>
            <a:chExt cx="3452990" cy="338328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72298CB-7D0E-7573-757D-CEA6ED58894A}"/>
                </a:ext>
              </a:extLst>
            </p:cNvPr>
            <p:cNvSpPr/>
            <p:nvPr/>
          </p:nvSpPr>
          <p:spPr bwMode="auto">
            <a:xfrm>
              <a:off x="946291" y="2743200"/>
              <a:ext cx="3452990" cy="338328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37160" rIns="0" bIns="13716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 environment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BE33307-C464-0EF1-2CE3-E8FC74A98FFC}"/>
                </a:ext>
              </a:extLst>
            </p:cNvPr>
            <p:cNvSpPr/>
            <p:nvPr/>
          </p:nvSpPr>
          <p:spPr bwMode="auto">
            <a:xfrm>
              <a:off x="1170559" y="5003445"/>
              <a:ext cx="3052848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capacity (F4)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BF62B6F-3477-9790-AEB6-D8F6C7045E2F}"/>
                </a:ext>
              </a:extLst>
            </p:cNvPr>
            <p:cNvSpPr/>
            <p:nvPr/>
          </p:nvSpPr>
          <p:spPr bwMode="auto">
            <a:xfrm>
              <a:off x="1170558" y="2916409"/>
              <a:ext cx="3052849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Storage Account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store dev data files</a:t>
              </a:r>
              <a:endParaRPr lang="en-US" sz="8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60EB44D-FFC8-E12C-AB49-D1D2A0D6E1BB}"/>
                </a:ext>
              </a:extLst>
            </p:cNvPr>
            <p:cNvSpPr/>
            <p:nvPr/>
          </p:nvSpPr>
          <p:spPr bwMode="auto">
            <a:xfrm>
              <a:off x="1170559" y="4307767"/>
              <a:ext cx="3052848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Workspace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B06542B-1D94-9F77-1B80-94B6C908DE19}"/>
                </a:ext>
              </a:extLst>
            </p:cNvPr>
            <p:cNvSpPr/>
            <p:nvPr/>
          </p:nvSpPr>
          <p:spPr bwMode="auto">
            <a:xfrm>
              <a:off x="1170558" y="3612088"/>
              <a:ext cx="3052848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Connection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to Azure storage account for dev</a:t>
              </a:r>
              <a:endParaRPr lang="en-US" sz="7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DBE0742-2B55-368B-CC64-C7A490CEF45B}"/>
              </a:ext>
            </a:extLst>
          </p:cNvPr>
          <p:cNvGrpSpPr/>
          <p:nvPr/>
        </p:nvGrpSpPr>
        <p:grpSpPr>
          <a:xfrm>
            <a:off x="4040364" y="4215860"/>
            <a:ext cx="2643763" cy="2499900"/>
            <a:chOff x="946291" y="2743200"/>
            <a:chExt cx="3452990" cy="338328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76A3CFF-CBE7-03F4-72D2-840AD9727D16}"/>
                </a:ext>
              </a:extLst>
            </p:cNvPr>
            <p:cNvSpPr/>
            <p:nvPr/>
          </p:nvSpPr>
          <p:spPr bwMode="auto">
            <a:xfrm>
              <a:off x="946291" y="2743200"/>
              <a:ext cx="3452990" cy="338328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37160" rIns="0" bIns="13716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 environment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9B7610A-98DD-E41A-5DB1-1F3556607CC2}"/>
                </a:ext>
              </a:extLst>
            </p:cNvPr>
            <p:cNvSpPr/>
            <p:nvPr/>
          </p:nvSpPr>
          <p:spPr bwMode="auto">
            <a:xfrm>
              <a:off x="1170559" y="5003445"/>
              <a:ext cx="3052848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capacity (F16)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BF0843B-AD41-F71B-5441-434DBB27CAF1}"/>
                </a:ext>
              </a:extLst>
            </p:cNvPr>
            <p:cNvSpPr/>
            <p:nvPr/>
          </p:nvSpPr>
          <p:spPr bwMode="auto">
            <a:xfrm>
              <a:off x="1170558" y="2916409"/>
              <a:ext cx="3052849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Storage Account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store test data files</a:t>
              </a:r>
              <a:endParaRPr lang="en-US" sz="8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DF8FFD5-C2C6-CB87-6272-6F39A4AE8E1D}"/>
                </a:ext>
              </a:extLst>
            </p:cNvPr>
            <p:cNvSpPr/>
            <p:nvPr/>
          </p:nvSpPr>
          <p:spPr bwMode="auto">
            <a:xfrm>
              <a:off x="1170559" y="4307767"/>
              <a:ext cx="3052848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Workspace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BEFDF2B-0EDD-D5DA-2268-6DC939DC8C5D}"/>
                </a:ext>
              </a:extLst>
            </p:cNvPr>
            <p:cNvSpPr/>
            <p:nvPr/>
          </p:nvSpPr>
          <p:spPr bwMode="auto">
            <a:xfrm>
              <a:off x="1170558" y="3612088"/>
              <a:ext cx="3052848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Connection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to Azure storage account for test</a:t>
              </a:r>
              <a:endParaRPr lang="en-US" sz="7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D5DBB4C-5940-A92E-E1B0-23934546BB6C}"/>
              </a:ext>
            </a:extLst>
          </p:cNvPr>
          <p:cNvGrpSpPr/>
          <p:nvPr/>
        </p:nvGrpSpPr>
        <p:grpSpPr>
          <a:xfrm>
            <a:off x="6855837" y="4215860"/>
            <a:ext cx="2643763" cy="2499900"/>
            <a:chOff x="946291" y="2743200"/>
            <a:chExt cx="3452990" cy="338328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33EA24E-67EB-7896-5A12-C927FDC2B735}"/>
                </a:ext>
              </a:extLst>
            </p:cNvPr>
            <p:cNvSpPr/>
            <p:nvPr/>
          </p:nvSpPr>
          <p:spPr bwMode="auto">
            <a:xfrm>
              <a:off x="946291" y="2743200"/>
              <a:ext cx="3452990" cy="3383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37160" rIns="0" bIns="13716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 environment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CBF7486-8C8C-A6C8-604F-94C6837B07B8}"/>
                </a:ext>
              </a:extLst>
            </p:cNvPr>
            <p:cNvSpPr/>
            <p:nvPr/>
          </p:nvSpPr>
          <p:spPr bwMode="auto">
            <a:xfrm>
              <a:off x="1170559" y="5003445"/>
              <a:ext cx="3052848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capacity (F64)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4828668-4BF5-6E3E-7E58-A817C7BEBF17}"/>
                </a:ext>
              </a:extLst>
            </p:cNvPr>
            <p:cNvSpPr/>
            <p:nvPr/>
          </p:nvSpPr>
          <p:spPr bwMode="auto">
            <a:xfrm>
              <a:off x="1170558" y="2916409"/>
              <a:ext cx="3052849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Storage Account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store prod data files</a:t>
              </a:r>
              <a:endParaRPr lang="en-US" sz="8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E582CD6-080B-9BAC-B115-F721D862DCF7}"/>
                </a:ext>
              </a:extLst>
            </p:cNvPr>
            <p:cNvSpPr/>
            <p:nvPr/>
          </p:nvSpPr>
          <p:spPr bwMode="auto">
            <a:xfrm>
              <a:off x="1170559" y="4307767"/>
              <a:ext cx="3052848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Workspace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E15F3F4-62A4-49A9-551D-A45E2124A874}"/>
                </a:ext>
              </a:extLst>
            </p:cNvPr>
            <p:cNvSpPr/>
            <p:nvPr/>
          </p:nvSpPr>
          <p:spPr bwMode="auto">
            <a:xfrm>
              <a:off x="1170558" y="3612088"/>
              <a:ext cx="3052848" cy="57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Connection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to Azure storage account for prod</a:t>
              </a:r>
              <a:endParaRPr lang="en-US" sz="7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22038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C9283-E9B2-D7D0-8A88-BB29F7F1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Demo Files in GitHub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C7237-A6BC-9DFF-60A3-A3E2227E98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754053"/>
          </a:xfrm>
        </p:spPr>
        <p:txBody>
          <a:bodyPr/>
          <a:lstStyle/>
          <a:p>
            <a:r>
              <a:rPr lang="en-US" dirty="0"/>
              <a:t>All Terraform demo files available in a GitHub repository</a:t>
            </a:r>
          </a:p>
          <a:p>
            <a:pPr lvl="1"/>
            <a:r>
              <a:rPr lang="en-US" dirty="0">
                <a:hlinkClick r:id="rId2"/>
              </a:rPr>
              <a:t>https://github.com/FabricDevCamp/fabric-terraform-demo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9CD470-AD1D-FAAB-EC36-328F332B0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1" y="2204626"/>
            <a:ext cx="6036231" cy="43771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088905-BB99-50B6-31EB-4F7FF9599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249" y="2204626"/>
            <a:ext cx="3543795" cy="23720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0605048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3438B-F390-4F4E-4047-D95AF5EE1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Providers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8BABA-AAB3-FFE4-793D-B5C78768CE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138773"/>
          </a:xfrm>
        </p:spPr>
        <p:txBody>
          <a:bodyPr/>
          <a:lstStyle/>
          <a:p>
            <a:r>
              <a:rPr lang="en-US" dirty="0"/>
              <a:t>Terraform delegates API calls to Terraform providers</a:t>
            </a:r>
          </a:p>
          <a:p>
            <a:pPr lvl="1"/>
            <a:r>
              <a:rPr lang="en-US" sz="1800" b="1" dirty="0" err="1">
                <a:solidFill>
                  <a:srgbClr val="8A0000"/>
                </a:solidFill>
              </a:rPr>
              <a:t>azurerm</a:t>
            </a:r>
            <a:r>
              <a:rPr lang="en-US" dirty="0"/>
              <a:t> provider used to provision and manage Azure resources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fabric</a:t>
            </a:r>
            <a:r>
              <a:rPr lang="en-US" dirty="0"/>
              <a:t> provider used to provision and manage fabric resources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60D4A2-1626-0765-EB39-BF32DFBAC6A6}"/>
              </a:ext>
            </a:extLst>
          </p:cNvPr>
          <p:cNvGrpSpPr/>
          <p:nvPr/>
        </p:nvGrpSpPr>
        <p:grpSpPr>
          <a:xfrm>
            <a:off x="1179756" y="2580035"/>
            <a:ext cx="6958404" cy="4096556"/>
            <a:chOff x="1362636" y="1381760"/>
            <a:chExt cx="7791524" cy="490231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1EDC40-17B3-A0E9-C679-22D7FE7BE55F}"/>
                </a:ext>
              </a:extLst>
            </p:cNvPr>
            <p:cNvGrpSpPr/>
            <p:nvPr/>
          </p:nvGrpSpPr>
          <p:grpSpPr>
            <a:xfrm>
              <a:off x="1362636" y="1381760"/>
              <a:ext cx="7791524" cy="4902312"/>
              <a:chOff x="1362636" y="1341121"/>
              <a:chExt cx="8579224" cy="494295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9A5FFCA-6E0E-40AB-0E53-E175B31A532E}"/>
                  </a:ext>
                </a:extLst>
              </p:cNvPr>
              <p:cNvSpPr/>
              <p:nvPr/>
            </p:nvSpPr>
            <p:spPr bwMode="auto">
              <a:xfrm>
                <a:off x="5755341" y="5851571"/>
                <a:ext cx="4186519" cy="43250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Fabric REST APIs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F1F27AE-BEA0-9AB7-EFEE-895F0A38C4FA}"/>
                  </a:ext>
                </a:extLst>
              </p:cNvPr>
              <p:cNvSpPr/>
              <p:nvPr/>
            </p:nvSpPr>
            <p:spPr bwMode="auto">
              <a:xfrm>
                <a:off x="1362636" y="4786570"/>
                <a:ext cx="8579224" cy="501882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Terraform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002FA18-2CED-642E-EF85-415816A0CEF2}"/>
                  </a:ext>
                </a:extLst>
              </p:cNvPr>
              <p:cNvSpPr/>
              <p:nvPr/>
            </p:nvSpPr>
            <p:spPr bwMode="auto">
              <a:xfrm>
                <a:off x="1362636" y="5851571"/>
                <a:ext cx="4186519" cy="43250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Azure REST APIs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426E40E-14AF-851D-EE94-D7283A8FDDAB}"/>
                  </a:ext>
                </a:extLst>
              </p:cNvPr>
              <p:cNvSpPr/>
              <p:nvPr/>
            </p:nvSpPr>
            <p:spPr bwMode="auto">
              <a:xfrm>
                <a:off x="1362636" y="1341121"/>
                <a:ext cx="8579224" cy="337606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Your Terraform Configuration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637AD7A-A149-5924-D09B-6278631B4CC0}"/>
                  </a:ext>
                </a:extLst>
              </p:cNvPr>
              <p:cNvSpPr/>
              <p:nvPr/>
            </p:nvSpPr>
            <p:spPr bwMode="auto">
              <a:xfrm>
                <a:off x="5755341" y="5357834"/>
                <a:ext cx="4186519" cy="43250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dirty="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Terraform provider for Fabric (</a:t>
                </a:r>
                <a:r>
                  <a:rPr lang="en-US" sz="1200" b="1" dirty="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fabric</a:t>
                </a:r>
                <a:r>
                  <a:rPr lang="en-US" sz="1200" dirty="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)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0FD14EB-EC05-73DE-AE53-805DB01BA16D}"/>
                  </a:ext>
                </a:extLst>
              </p:cNvPr>
              <p:cNvSpPr/>
              <p:nvPr/>
            </p:nvSpPr>
            <p:spPr bwMode="auto">
              <a:xfrm>
                <a:off x="1362636" y="5357834"/>
                <a:ext cx="4186519" cy="43250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dirty="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Terraform provider for Azure (</a:t>
                </a:r>
                <a:r>
                  <a:rPr lang="en-US" sz="1200" b="1" dirty="0" err="1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azurerm</a:t>
                </a:r>
                <a:r>
                  <a:rPr lang="en-US" sz="1200" dirty="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)</a:t>
                </a:r>
              </a:p>
            </p:txBody>
          </p: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45FDE81-A48C-B1CA-DDBE-C5B83C67C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2790" y="1959566"/>
              <a:ext cx="3709553" cy="25320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B0DE4EE-DFB0-45A9-14B3-900706C1A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48528" y="1919555"/>
              <a:ext cx="3309447" cy="257210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5" name="Arrow: Down 24">
              <a:extLst>
                <a:ext uri="{FF2B5EF4-FFF2-40B4-BE49-F238E27FC236}">
                  <a16:creationId xmlns:a16="http://schemas.microsoft.com/office/drawing/2014/main" id="{5382D701-2A8D-C15C-C8FB-83C0F40EF50F}"/>
                </a:ext>
              </a:extLst>
            </p:cNvPr>
            <p:cNvSpPr/>
            <p:nvPr/>
          </p:nvSpPr>
          <p:spPr bwMode="auto">
            <a:xfrm>
              <a:off x="3108006" y="4489694"/>
              <a:ext cx="579120" cy="707410"/>
            </a:xfrm>
            <a:prstGeom prst="downArrow">
              <a:avLst/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0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6" name="Arrow: Down 25">
              <a:extLst>
                <a:ext uri="{FF2B5EF4-FFF2-40B4-BE49-F238E27FC236}">
                  <a16:creationId xmlns:a16="http://schemas.microsoft.com/office/drawing/2014/main" id="{8AEF80BE-B8DE-EAAC-44D5-092B0C31A2DF}"/>
                </a:ext>
              </a:extLst>
            </p:cNvPr>
            <p:cNvSpPr/>
            <p:nvPr/>
          </p:nvSpPr>
          <p:spPr bwMode="auto">
            <a:xfrm>
              <a:off x="6913691" y="4521200"/>
              <a:ext cx="579120" cy="675904"/>
            </a:xfrm>
            <a:prstGeom prst="downArrow">
              <a:avLst/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0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39366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6228B-B909-02B3-004F-6D810A039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0164C2-1B91-87BF-2C9C-C4FE65DBE1CC}"/>
              </a:ext>
            </a:extLst>
          </p:cNvPr>
          <p:cNvSpPr/>
          <p:nvPr/>
        </p:nvSpPr>
        <p:spPr bwMode="auto">
          <a:xfrm>
            <a:off x="1184275" y="4596130"/>
            <a:ext cx="8290560" cy="188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86E9786-6D73-9E2E-9501-6DDD8C15A286}"/>
              </a:ext>
            </a:extLst>
          </p:cNvPr>
          <p:cNvSpPr/>
          <p:nvPr/>
        </p:nvSpPr>
        <p:spPr bwMode="auto">
          <a:xfrm>
            <a:off x="3295081" y="5197536"/>
            <a:ext cx="4034779" cy="721360"/>
          </a:xfrm>
          <a:prstGeom prst="rightArrow">
            <a:avLst/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apply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72AB02-9B50-6977-2378-1E66B605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State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61A08-0401-5965-B10B-8092B80D0E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200876"/>
          </a:xfrm>
        </p:spPr>
        <p:txBody>
          <a:bodyPr/>
          <a:lstStyle/>
          <a:p>
            <a:r>
              <a:rPr lang="en-US" dirty="0"/>
              <a:t>Steps for using Terraform in a Fabric CI/CD project?</a:t>
            </a:r>
          </a:p>
          <a:p>
            <a:pPr lvl="1"/>
            <a:r>
              <a:rPr lang="en-US" dirty="0"/>
              <a:t>Create a Terraform configuration in in a folder using one or more configuration files</a:t>
            </a:r>
          </a:p>
          <a:p>
            <a:pPr lvl="1"/>
            <a:r>
              <a:rPr lang="en-US" dirty="0"/>
              <a:t>Run </a:t>
            </a:r>
            <a:r>
              <a:rPr lang="en-US" sz="1800" b="1" dirty="0">
                <a:solidFill>
                  <a:srgbClr val="8A0000"/>
                </a:solidFill>
              </a:rPr>
              <a:t>init</a:t>
            </a:r>
            <a:r>
              <a:rPr lang="en-US" dirty="0"/>
              <a:t> command to download local copy of provider-specific runtime files</a:t>
            </a:r>
          </a:p>
          <a:p>
            <a:pPr lvl="1"/>
            <a:r>
              <a:rPr lang="en-US" dirty="0"/>
              <a:t>Run </a:t>
            </a:r>
            <a:r>
              <a:rPr lang="en-US" sz="1800" b="1" dirty="0">
                <a:solidFill>
                  <a:srgbClr val="8A0000"/>
                </a:solidFill>
              </a:rPr>
              <a:t>plan</a:t>
            </a:r>
            <a:r>
              <a:rPr lang="en-US" dirty="0"/>
              <a:t> command to review planned lists of the steps required to deploy configuration</a:t>
            </a:r>
          </a:p>
          <a:p>
            <a:pPr lvl="1"/>
            <a:r>
              <a:rPr lang="en-US" dirty="0"/>
              <a:t>Run </a:t>
            </a:r>
            <a:r>
              <a:rPr lang="en-US" sz="1800" b="1" dirty="0">
                <a:solidFill>
                  <a:srgbClr val="8A0000"/>
                </a:solidFill>
              </a:rPr>
              <a:t>apply</a:t>
            </a:r>
            <a:r>
              <a:rPr lang="en-US" dirty="0"/>
              <a:t> command to start job to create resources needed to match your configuration</a:t>
            </a:r>
          </a:p>
          <a:p>
            <a:r>
              <a:rPr lang="en-US" dirty="0"/>
              <a:t>Terraform creates state file to track resources properties as they're created or updated</a:t>
            </a:r>
          </a:p>
          <a:p>
            <a:pPr lvl="1"/>
            <a:r>
              <a:rPr lang="en-US" dirty="0"/>
              <a:t>By tracking resource state, Terraform can compare the configuration against the deployment</a:t>
            </a:r>
          </a:p>
          <a:p>
            <a:pPr lvl="1"/>
            <a:r>
              <a:rPr lang="en-US" dirty="0"/>
              <a:t>State file allows Terraform to determine what needs to be created, updated or destroyed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E018C5-CB17-F417-9E58-219A761E5FB5}"/>
              </a:ext>
            </a:extLst>
          </p:cNvPr>
          <p:cNvSpPr/>
          <p:nvPr/>
        </p:nvSpPr>
        <p:spPr bwMode="auto">
          <a:xfrm>
            <a:off x="1371600" y="4853678"/>
            <a:ext cx="1958543" cy="135281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08950C-7F99-88EA-62DB-60CA67A123E6}"/>
              </a:ext>
            </a:extLst>
          </p:cNvPr>
          <p:cNvSpPr/>
          <p:nvPr/>
        </p:nvSpPr>
        <p:spPr bwMode="auto">
          <a:xfrm>
            <a:off x="4237003" y="4848598"/>
            <a:ext cx="2164397" cy="1352812"/>
          </a:xfrm>
          <a:prstGeom prst="rect">
            <a:avLst/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Terraform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1678BA-C79A-B3DC-7480-EDE5F5570B23}"/>
              </a:ext>
            </a:extLst>
          </p:cNvPr>
          <p:cNvSpPr/>
          <p:nvPr/>
        </p:nvSpPr>
        <p:spPr bwMode="auto">
          <a:xfrm>
            <a:off x="4569142" y="5301101"/>
            <a:ext cx="1486659" cy="7018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state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file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3CF602-050C-6C57-5997-6C1D60E33F3B}"/>
              </a:ext>
            </a:extLst>
          </p:cNvPr>
          <p:cNvSpPr/>
          <p:nvPr/>
        </p:nvSpPr>
        <p:spPr bwMode="auto">
          <a:xfrm>
            <a:off x="7329860" y="4830818"/>
            <a:ext cx="1855140" cy="138837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deployment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3DC1AF-6F79-EA42-6BAC-A4DF49505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83" y="4923407"/>
            <a:ext cx="1807760" cy="123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40867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3EF11-8CA6-1A1B-891A-0C1AA8BEC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Terraform Configuration Project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2F04C-1EBE-07D9-3D15-90BFBD4079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4800" y="1227439"/>
            <a:ext cx="8000998" cy="306237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Common files added to Terraform configurations</a:t>
            </a:r>
          </a:p>
          <a:p>
            <a:pPr marL="396875" lvl="1" indent="-223838"/>
            <a:r>
              <a:rPr lang="en-US" sz="1800" b="1" dirty="0">
                <a:solidFill>
                  <a:srgbClr val="8A0000"/>
                </a:solidFill>
              </a:rPr>
              <a:t>providers.tf</a:t>
            </a:r>
            <a:r>
              <a:rPr lang="en-US" dirty="0"/>
              <a:t> used to indicate what provider(s) to use</a:t>
            </a:r>
          </a:p>
          <a:p>
            <a:pPr marL="396875" lvl="1" indent="-223838"/>
            <a:r>
              <a:rPr lang="en-US" sz="1800" b="1" dirty="0">
                <a:solidFill>
                  <a:srgbClr val="8A0000"/>
                </a:solidFill>
              </a:rPr>
              <a:t>variables.tf</a:t>
            </a:r>
            <a:r>
              <a:rPr lang="en-US" dirty="0"/>
              <a:t> used to define variables for </a:t>
            </a:r>
            <a:r>
              <a:rPr lang="en-US" dirty="0" err="1"/>
              <a:t>coniguration</a:t>
            </a:r>
            <a:endParaRPr lang="en-US" dirty="0"/>
          </a:p>
          <a:p>
            <a:pPr marL="396875" lvl="1" indent="-223838"/>
            <a:r>
              <a:rPr lang="en-US" sz="1800" b="1" dirty="0">
                <a:solidFill>
                  <a:srgbClr val="8A0000"/>
                </a:solidFill>
              </a:rPr>
              <a:t>terraform.tfvars</a:t>
            </a:r>
            <a:r>
              <a:rPr lang="en-US" dirty="0"/>
              <a:t> used to assign variable values</a:t>
            </a:r>
          </a:p>
          <a:p>
            <a:pPr marL="396875" lvl="1" indent="-223838"/>
            <a:r>
              <a:rPr lang="en-US" sz="1800" b="1" dirty="0">
                <a:solidFill>
                  <a:srgbClr val="8A0000"/>
                </a:solidFill>
              </a:rPr>
              <a:t>main.tf</a:t>
            </a:r>
            <a:r>
              <a:rPr lang="en-US" dirty="0"/>
              <a:t> used to provision and manage resources</a:t>
            </a:r>
          </a:p>
          <a:p>
            <a:pPr marL="396875" lvl="1" indent="-223838"/>
            <a:r>
              <a:rPr lang="en-US" sz="1800" b="1" dirty="0">
                <a:solidFill>
                  <a:srgbClr val="8A0000"/>
                </a:solidFill>
              </a:rPr>
              <a:t>outputs.tf</a:t>
            </a:r>
            <a:r>
              <a:rPr lang="en-US" dirty="0"/>
              <a:t> used to retrieve and display resource properties</a:t>
            </a:r>
          </a:p>
          <a:p>
            <a:pPr marL="396875" lvl="1" indent="-223838"/>
            <a:r>
              <a:rPr lang="en-US" sz="1800" b="1" dirty="0">
                <a:solidFill>
                  <a:srgbClr val="8A0000"/>
                </a:solidFill>
              </a:rPr>
              <a:t>.terraform</a:t>
            </a:r>
            <a:r>
              <a:rPr lang="en-US" dirty="0"/>
              <a:t> folder created when you run </a:t>
            </a:r>
            <a:r>
              <a:rPr lang="en-US" sz="1800" b="1" dirty="0">
                <a:solidFill>
                  <a:srgbClr val="8A0000"/>
                </a:solidFill>
              </a:rPr>
              <a:t>terraform init</a:t>
            </a:r>
            <a:r>
              <a:rPr lang="en-US" dirty="0"/>
              <a:t> command</a:t>
            </a:r>
          </a:p>
          <a:p>
            <a:pPr marL="396875" lvl="1" indent="-223838"/>
            <a:r>
              <a:rPr lang="en-US" sz="1800" b="1" dirty="0">
                <a:solidFill>
                  <a:srgbClr val="8A0000"/>
                </a:solidFill>
              </a:rPr>
              <a:t>terraform.tfstate</a:t>
            </a:r>
            <a:r>
              <a:rPr lang="en-US" dirty="0"/>
              <a:t> created when you run </a:t>
            </a:r>
            <a:r>
              <a:rPr lang="en-US" sz="1800" b="1" dirty="0">
                <a:solidFill>
                  <a:srgbClr val="8A0000"/>
                </a:solidFill>
              </a:rPr>
              <a:t>terraform apply</a:t>
            </a:r>
            <a:r>
              <a:rPr lang="en-US" dirty="0"/>
              <a:t> command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4C43B6-5BF2-8330-C380-82A56C26E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7" y="1227439"/>
            <a:ext cx="3351345" cy="35477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076261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2CAC52-B9EC-4C65-93B6-4FFA75009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Authenticating as a Service Principal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8D7595-2E49-6998-EA13-B374DDDA56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With Terraform, you can set service principal credentials at provider level</a:t>
            </a:r>
          </a:p>
          <a:p>
            <a:pPr lvl="1"/>
            <a:r>
              <a:rPr lang="en-US" dirty="0"/>
              <a:t>Include </a:t>
            </a:r>
            <a:r>
              <a:rPr lang="en-US" sz="1800" b="1" dirty="0">
                <a:solidFill>
                  <a:srgbClr val="8A0000"/>
                </a:solidFill>
              </a:rPr>
              <a:t>tenant_id</a:t>
            </a:r>
            <a:r>
              <a:rPr lang="en-US" dirty="0"/>
              <a:t>, </a:t>
            </a:r>
            <a:r>
              <a:rPr lang="en-US" sz="1800" b="1" dirty="0">
                <a:solidFill>
                  <a:srgbClr val="8A0000"/>
                </a:solidFill>
              </a:rPr>
              <a:t>client_id</a:t>
            </a:r>
            <a:r>
              <a:rPr lang="en-US" dirty="0"/>
              <a:t> and </a:t>
            </a:r>
            <a:r>
              <a:rPr lang="en-US" sz="1800" b="1" dirty="0" err="1">
                <a:solidFill>
                  <a:srgbClr val="8A0000"/>
                </a:solidFill>
              </a:rPr>
              <a:t>client_secret</a:t>
            </a:r>
            <a:r>
              <a:rPr lang="en-US" dirty="0"/>
              <a:t> to authenticate using client credential flow</a:t>
            </a:r>
          </a:p>
          <a:p>
            <a:pPr lvl="1"/>
            <a:r>
              <a:rPr lang="en-US" dirty="0"/>
              <a:t>Also possible to authenticate as managed identity for production scenarios</a:t>
            </a:r>
          </a:p>
          <a:p>
            <a:pPr lvl="1"/>
            <a:r>
              <a:rPr lang="en-US" dirty="0"/>
              <a:t>When creating Azure resources, you also need to supply Azure </a:t>
            </a:r>
            <a:r>
              <a:rPr lang="en-US" sz="1800" b="1" dirty="0" err="1">
                <a:solidFill>
                  <a:srgbClr val="8A0000"/>
                </a:solidFill>
              </a:rPr>
              <a:t>subscription_id</a:t>
            </a:r>
            <a:endParaRPr lang="en-US" b="1" dirty="0">
              <a:solidFill>
                <a:srgbClr val="8A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54B66D-D1F4-981A-3E16-01CEF9097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083" y="2917825"/>
            <a:ext cx="2898682" cy="3886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6126563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177A7-D82F-DA72-F4D6-6F517D19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Fabric Workspace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7FA1B-32C6-2325-9F68-922474C1F3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Use </a:t>
            </a:r>
            <a:r>
              <a:rPr lang="en-US" sz="2000" b="1" dirty="0" err="1">
                <a:solidFill>
                  <a:srgbClr val="8A0000"/>
                </a:solidFill>
              </a:rPr>
              <a:t>fabric_workspace</a:t>
            </a:r>
            <a:r>
              <a:rPr lang="en-US" dirty="0"/>
              <a:t> resource to create new workspace</a:t>
            </a:r>
          </a:p>
          <a:p>
            <a:pPr lvl="1"/>
            <a:r>
              <a:rPr lang="en-US" dirty="0"/>
              <a:t>You must provide values for </a:t>
            </a:r>
            <a:r>
              <a:rPr lang="en-US" sz="1800" b="1" dirty="0">
                <a:solidFill>
                  <a:srgbClr val="8A0000"/>
                </a:solidFill>
              </a:rPr>
              <a:t>display_name</a:t>
            </a:r>
            <a:r>
              <a:rPr lang="en-US" dirty="0"/>
              <a:t> and </a:t>
            </a:r>
            <a:r>
              <a:rPr lang="en-US" sz="1800" b="1" dirty="0" err="1">
                <a:solidFill>
                  <a:srgbClr val="8A0000"/>
                </a:solidFill>
              </a:rPr>
              <a:t>capacity_id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Add workspace role assignments using </a:t>
            </a:r>
            <a:r>
              <a:rPr lang="en-US" sz="1800" b="1" dirty="0" err="1">
                <a:solidFill>
                  <a:srgbClr val="8A0000"/>
                </a:solidFill>
              </a:rPr>
              <a:t>fabric_workspace_role_assignment</a:t>
            </a:r>
            <a:r>
              <a:rPr lang="en-US" dirty="0"/>
              <a:t> resource</a:t>
            </a:r>
          </a:p>
          <a:p>
            <a:pPr lvl="1"/>
            <a:r>
              <a:rPr lang="en-US" dirty="0"/>
              <a:t>Also possible to add workspace items such as lakehouse using </a:t>
            </a:r>
            <a:r>
              <a:rPr lang="en-US" sz="1800" b="1" dirty="0" err="1">
                <a:solidFill>
                  <a:srgbClr val="8A0000"/>
                </a:solidFill>
              </a:rPr>
              <a:t>fabric_lakehouse</a:t>
            </a:r>
            <a:r>
              <a:rPr lang="en-US" dirty="0"/>
              <a:t> resource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3B810-82EB-28E5-643F-738C7B3CC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705" y="2928753"/>
            <a:ext cx="3838232" cy="39514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7018874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37BC-35FA-47DE-2807-4B7D07EB0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Fabric Capacity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294D7-5D79-1156-AB87-CB5B2D4308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492716"/>
          </a:xfrm>
        </p:spPr>
        <p:txBody>
          <a:bodyPr/>
          <a:lstStyle/>
          <a:p>
            <a:r>
              <a:rPr lang="en-US" dirty="0"/>
              <a:t>Fabric capacity created using </a:t>
            </a:r>
            <a:r>
              <a:rPr lang="en-US" sz="2000" b="1" dirty="0" err="1">
                <a:solidFill>
                  <a:srgbClr val="8A0000"/>
                </a:solidFill>
              </a:rPr>
              <a:t>azurerm_fabric_capacity</a:t>
            </a:r>
            <a:r>
              <a:rPr lang="en-US" dirty="0"/>
              <a:t> resource</a:t>
            </a:r>
          </a:p>
          <a:p>
            <a:pPr lvl="1"/>
            <a:r>
              <a:rPr lang="en-US" dirty="0"/>
              <a:t>You must first create Azure resource group in which to create new capacity</a:t>
            </a:r>
          </a:p>
          <a:p>
            <a:pPr lvl="1"/>
            <a:r>
              <a:rPr lang="en-US" dirty="0"/>
              <a:t>You must provide valid capacity values for </a:t>
            </a:r>
            <a:r>
              <a:rPr lang="en-US" sz="1800" b="1" dirty="0">
                <a:solidFill>
                  <a:srgbClr val="8A0000"/>
                </a:solidFill>
              </a:rPr>
              <a:t>name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location</a:t>
            </a:r>
          </a:p>
          <a:p>
            <a:pPr lvl="1"/>
            <a:r>
              <a:rPr lang="en-US" sz="1800" dirty="0"/>
              <a:t>Creating new workspace using new capacity requires </a:t>
            </a:r>
            <a:r>
              <a:rPr lang="en-US" sz="1600" b="1" dirty="0" err="1">
                <a:solidFill>
                  <a:srgbClr val="8A0000"/>
                </a:solidFill>
              </a:rPr>
              <a:t>fabric_capacity</a:t>
            </a:r>
            <a:r>
              <a:rPr lang="en-US" sz="1800" dirty="0"/>
              <a:t> datasource to retrieve capacity 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EBDE4F-0FDB-7C44-9B06-96F4C730F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023" y="2924545"/>
            <a:ext cx="4330308" cy="37586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0CD6CF-1EF5-8F76-7E07-EC9F6F24D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577" y="2924545"/>
            <a:ext cx="4562297" cy="31411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8607922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58D4B-A0BE-CFBC-3218-DE7CB4A6F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Azure Storage Account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F49A0-6B59-F5B1-D013-2EA327C9F8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292935"/>
          </a:xfrm>
        </p:spPr>
        <p:txBody>
          <a:bodyPr/>
          <a:lstStyle/>
          <a:p>
            <a:r>
              <a:rPr lang="en-US" dirty="0"/>
              <a:t>Create Azure storage account using </a:t>
            </a:r>
            <a:r>
              <a:rPr lang="en-US" sz="2000" b="1" dirty="0" err="1">
                <a:solidFill>
                  <a:srgbClr val="8A0000"/>
                </a:solidFill>
              </a:rPr>
              <a:t>azurerm_storage_account</a:t>
            </a:r>
            <a:r>
              <a:rPr lang="en-US" dirty="0"/>
              <a:t> resource</a:t>
            </a:r>
          </a:p>
          <a:p>
            <a:pPr lvl="1"/>
            <a:r>
              <a:rPr lang="en-US" dirty="0"/>
              <a:t>You must create Azure resource group in which to create new Azure storage account</a:t>
            </a:r>
          </a:p>
          <a:p>
            <a:pPr lvl="1"/>
            <a:r>
              <a:rPr lang="en-US" dirty="0"/>
              <a:t>You must provide valid values for </a:t>
            </a:r>
            <a:r>
              <a:rPr lang="en-US" sz="1800" b="1" dirty="0" err="1">
                <a:solidFill>
                  <a:srgbClr val="8A0000"/>
                </a:solidFill>
              </a:rPr>
              <a:t>account_tier</a:t>
            </a:r>
            <a:r>
              <a:rPr lang="en-US" dirty="0"/>
              <a:t> and </a:t>
            </a:r>
            <a:r>
              <a:rPr lang="en-US" sz="1800" b="1" dirty="0" err="1">
                <a:solidFill>
                  <a:srgbClr val="8A0000"/>
                </a:solidFill>
              </a:rPr>
              <a:t>account_replication_type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 This sample also demonstrates adding a storage container and generating a SaS token</a:t>
            </a:r>
            <a:endParaRPr lang="en-US" sz="2000" b="1" dirty="0">
              <a:solidFill>
                <a:srgbClr val="8A0000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531E9D-31FA-ED45-56FB-74CB9A510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964" y="2996565"/>
            <a:ext cx="4214229" cy="29578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42BC40-5499-F821-C4C9-A8DC9E2C6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726" y="2996565"/>
            <a:ext cx="5442785" cy="29452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32712973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FECF5-03E5-1E5E-71DB-B741C6554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ADLS Gen2 Connections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6C00A-00AD-9BDF-A689-E5C8142090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Fabric connections can be created using </a:t>
            </a:r>
            <a:r>
              <a:rPr lang="en-US" sz="2000" b="1" dirty="0">
                <a:solidFill>
                  <a:srgbClr val="8A0000"/>
                </a:solidFill>
              </a:rPr>
              <a:t>fabric_connection</a:t>
            </a:r>
            <a:r>
              <a:rPr lang="en-US" dirty="0"/>
              <a:t> resource</a:t>
            </a:r>
          </a:p>
          <a:p>
            <a:pPr lvl="1"/>
            <a:r>
              <a:rPr lang="en-US" dirty="0"/>
              <a:t>Connection </a:t>
            </a:r>
            <a:r>
              <a:rPr lang="en-US" sz="1800" b="1" dirty="0">
                <a:solidFill>
                  <a:srgbClr val="8A0000"/>
                </a:solidFill>
              </a:rPr>
              <a:t>display_name</a:t>
            </a:r>
            <a:r>
              <a:rPr lang="en-US" dirty="0"/>
              <a:t> must be unique across all cloud connections within Entra Id tenant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connection_details</a:t>
            </a:r>
            <a:r>
              <a:rPr lang="en-US" sz="1800" dirty="0"/>
              <a:t> </a:t>
            </a:r>
            <a:r>
              <a:rPr lang="en-US" dirty="0"/>
              <a:t>includes connector-specific settings for </a:t>
            </a:r>
            <a:r>
              <a:rPr lang="en-US" sz="1800" b="1" dirty="0">
                <a:solidFill>
                  <a:srgbClr val="8A0000"/>
                </a:solidFill>
              </a:rPr>
              <a:t>type</a:t>
            </a:r>
            <a:r>
              <a:rPr lang="en-US" dirty="0"/>
              <a:t>, </a:t>
            </a:r>
            <a:r>
              <a:rPr lang="en-US" sz="1800" b="1" dirty="0">
                <a:solidFill>
                  <a:srgbClr val="8A0000"/>
                </a:solidFill>
              </a:rPr>
              <a:t>creation_method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parameters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credential_details</a:t>
            </a:r>
            <a:r>
              <a:rPr lang="en-US" dirty="0"/>
              <a:t> include </a:t>
            </a:r>
            <a:r>
              <a:rPr lang="en-US" sz="1800" b="1" dirty="0">
                <a:solidFill>
                  <a:srgbClr val="8A0000"/>
                </a:solidFill>
              </a:rPr>
              <a:t>credential_type</a:t>
            </a:r>
            <a:r>
              <a:rPr lang="en-US" dirty="0"/>
              <a:t> and credentials specific to that credential 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41BEF3-B3FE-8446-540F-BA881319B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092" y="2935055"/>
            <a:ext cx="4261484" cy="35773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75382592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02748-2258-8328-819E-30AC92C8F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Connections in Fabric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FB0B8-162D-E357-4601-E2C5CB4E30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8" y="1217914"/>
            <a:ext cx="11604521" cy="2816156"/>
          </a:xfrm>
        </p:spPr>
        <p:txBody>
          <a:bodyPr/>
          <a:lstStyle/>
          <a:p>
            <a:r>
              <a:rPr lang="en-US" dirty="0"/>
              <a:t>Tenant-level scope makes it harder to manage connections than workspace items</a:t>
            </a:r>
          </a:p>
          <a:p>
            <a:pPr lvl="1"/>
            <a:r>
              <a:rPr lang="en-US" dirty="0"/>
              <a:t>Some connections are designed to be shared across workspaces</a:t>
            </a:r>
          </a:p>
          <a:p>
            <a:pPr lvl="1"/>
            <a:r>
              <a:rPr lang="en-US" dirty="0"/>
              <a:t>Some connections are only intended for use within a single workspace</a:t>
            </a:r>
          </a:p>
          <a:p>
            <a:pPr lvl="1"/>
            <a:r>
              <a:rPr lang="en-US" dirty="0"/>
              <a:t>Terraform provides easy way to track connections and manage their lifecycle</a:t>
            </a:r>
          </a:p>
          <a:p>
            <a:r>
              <a:rPr lang="en-US" dirty="0"/>
              <a:t>Adopting connection naming conventions assists maintenance, reuse and readability</a:t>
            </a:r>
          </a:p>
          <a:p>
            <a:pPr lvl="1"/>
            <a:r>
              <a:rPr lang="en-US" dirty="0"/>
              <a:t>Create display name using pattern such as [</a:t>
            </a:r>
            <a:r>
              <a:rPr lang="en-US" sz="1800" b="1" dirty="0">
                <a:solidFill>
                  <a:srgbClr val="8A0000"/>
                </a:solidFill>
              </a:rPr>
              <a:t>connector</a:t>
            </a:r>
            <a:r>
              <a:rPr lang="en-US" dirty="0"/>
              <a:t>]-[</a:t>
            </a:r>
            <a:r>
              <a:rPr lang="en-US" sz="1800" b="1" dirty="0">
                <a:solidFill>
                  <a:srgbClr val="8A0000"/>
                </a:solidFill>
              </a:rPr>
              <a:t>credential-type</a:t>
            </a:r>
            <a:r>
              <a:rPr lang="en-US" dirty="0"/>
              <a:t>]-[</a:t>
            </a:r>
            <a:r>
              <a:rPr lang="en-US" sz="1800" b="1" dirty="0">
                <a:solidFill>
                  <a:srgbClr val="8A0000"/>
                </a:solidFill>
              </a:rPr>
              <a:t>location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Adding workspace Id into display name used to indicate connection is only used in one workspace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558573-FB89-7D2B-5895-4BA75913D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37" y="4225002"/>
            <a:ext cx="6367188" cy="24493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972399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4F41C-FFE5-A7AC-1C5B-B858A49DE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Cleanup of Workspace-specific Connection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B9318-C054-4EA7-5FDE-C8351151B7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754053"/>
          </a:xfrm>
        </p:spPr>
        <p:txBody>
          <a:bodyPr/>
          <a:lstStyle/>
          <a:p>
            <a:r>
              <a:rPr lang="en-US" dirty="0"/>
              <a:t>When you delete a workspace…</a:t>
            </a:r>
          </a:p>
          <a:p>
            <a:pPr lvl="1"/>
            <a:r>
              <a:rPr lang="en-US" dirty="0"/>
              <a:t>You can clean up by cascade deleting workspace-specific connections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25158A-DE20-5301-4B32-CA53141DF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496" y="2229770"/>
            <a:ext cx="6449325" cy="29436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F5B4A9-4A26-E504-F696-5F95AB0F98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586" r="12097"/>
          <a:stretch>
            <a:fillRect/>
          </a:stretch>
        </p:blipFill>
        <p:spPr>
          <a:xfrm>
            <a:off x="6640449" y="3515550"/>
            <a:ext cx="4808976" cy="93471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753366-5B5C-46BD-192B-8FC74E8561B0}"/>
              </a:ext>
            </a:extLst>
          </p:cNvPr>
          <p:cNvCxnSpPr/>
          <p:nvPr/>
        </p:nvCxnSpPr>
        <p:spPr>
          <a:xfrm>
            <a:off x="5780532" y="4279639"/>
            <a:ext cx="923925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509359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EAE88-0B70-8270-39DC-850D22D52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C96E8A7E-A81B-2165-1268-CA4A615F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3280366"/>
            <a:ext cx="11672047" cy="928011"/>
          </a:xfrm>
        </p:spPr>
        <p:txBody>
          <a:bodyPr/>
          <a:lstStyle/>
          <a:p>
            <a:r>
              <a:rPr lang="en-US" sz="4400" dirty="0"/>
              <a:t>Building a Development Process</a:t>
            </a:r>
          </a:p>
        </p:txBody>
      </p:sp>
    </p:spTree>
    <p:extLst>
      <p:ext uri="{BB962C8B-B14F-4D97-AF65-F5344CB8AC3E}">
        <p14:creationId xmlns:p14="http://schemas.microsoft.com/office/powerpoint/2010/main" val="172357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C9E2B-2B7F-91CF-0236-22D700DD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Development Process for Continuous Integration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9829A-AD7E-E316-BC4F-34753E5927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4119076"/>
          </a:xfrm>
        </p:spPr>
        <p:txBody>
          <a:bodyPr/>
          <a:lstStyle/>
          <a:p>
            <a:r>
              <a:rPr lang="en-US" dirty="0"/>
              <a:t>Steps in building the development process</a:t>
            </a:r>
          </a:p>
          <a:p>
            <a:pPr marL="685800" lvl="1" indent="-338138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Get the solution up and running in the </a:t>
            </a:r>
            <a:r>
              <a:rPr lang="en-US" sz="16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workspace</a:t>
            </a:r>
          </a:p>
          <a:p>
            <a:pPr marL="685800" lvl="1" indent="-338138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Create variable library to parameterize environment-specific settings</a:t>
            </a:r>
          </a:p>
          <a:p>
            <a:pPr marL="685800" lvl="1" indent="-338138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Create and configure a GIT repository</a:t>
            </a:r>
          </a:p>
          <a:p>
            <a:pPr marL="685800" lvl="1" indent="-338138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Connect the </a:t>
            </a:r>
            <a:r>
              <a:rPr lang="en-US" sz="18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workspace to GIT integration branch</a:t>
            </a:r>
          </a:p>
          <a:p>
            <a:pPr marL="685800" lvl="1" indent="-338138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Create feature branches and feature workspaces</a:t>
            </a:r>
          </a:p>
          <a:p>
            <a:pPr marL="685800" lvl="1" indent="-338138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Engage in development to create and update workspace items</a:t>
            </a:r>
          </a:p>
          <a:p>
            <a:pPr marL="685800" lvl="1" indent="-338138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Create pull requests to merges changes to the integration branch</a:t>
            </a:r>
          </a:p>
        </p:txBody>
      </p:sp>
    </p:spTree>
    <p:extLst>
      <p:ext uri="{BB962C8B-B14F-4D97-AF65-F5344CB8AC3E}">
        <p14:creationId xmlns:p14="http://schemas.microsoft.com/office/powerpoint/2010/main" val="1335795153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C9692-AE37-93CE-14AB-0CC1F77B6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Variable Library for Parameterization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CB0C9-04A6-8CB3-B53E-3877D5110F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385542"/>
          </a:xfrm>
        </p:spPr>
        <p:txBody>
          <a:bodyPr/>
          <a:lstStyle/>
          <a:p>
            <a:r>
              <a:rPr lang="en-US" dirty="0"/>
              <a:t>Example 1 - parameterizing a datasource URL for a notebook</a:t>
            </a:r>
          </a:p>
          <a:p>
            <a:pPr lvl="1"/>
            <a:r>
              <a:rPr lang="en-US" dirty="0"/>
              <a:t>Variable library contains single variable name </a:t>
            </a:r>
            <a:r>
              <a:rPr lang="en-US" sz="1800" b="1" dirty="0" err="1">
                <a:solidFill>
                  <a:srgbClr val="8A0000"/>
                </a:solidFill>
              </a:rPr>
              <a:t>web_datasource_url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Variable library extended with two additional value sets named </a:t>
            </a:r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prod</a:t>
            </a:r>
          </a:p>
          <a:p>
            <a:pPr lvl="1"/>
            <a:endParaRPr lang="en-US" sz="1800" b="1" dirty="0">
              <a:solidFill>
                <a:srgbClr val="8A0000"/>
              </a:solidFill>
            </a:endParaRPr>
          </a:p>
          <a:p>
            <a:endParaRPr lang="en-US" sz="2200" b="1" dirty="0">
              <a:solidFill>
                <a:srgbClr val="8A0000"/>
              </a:solidFill>
            </a:endParaRPr>
          </a:p>
          <a:p>
            <a:endParaRPr lang="en-US" sz="2200" b="1" dirty="0">
              <a:solidFill>
                <a:srgbClr val="8A0000"/>
              </a:solidFill>
            </a:endParaRPr>
          </a:p>
          <a:p>
            <a:r>
              <a:rPr lang="en-US" dirty="0"/>
              <a:t>Example 2 - parameterizing a ADLS Gen2 connection for shortcuts or pipelines</a:t>
            </a:r>
          </a:p>
          <a:p>
            <a:pPr lvl="1"/>
            <a:r>
              <a:rPr lang="en-US" dirty="0"/>
              <a:t>Contains variables with datasource paths as well as variable for </a:t>
            </a:r>
            <a:r>
              <a:rPr lang="en-US" sz="1800" b="1" dirty="0" err="1">
                <a:solidFill>
                  <a:srgbClr val="8A0000"/>
                </a:solidFill>
              </a:rPr>
              <a:t>connection_id</a:t>
            </a:r>
            <a:endParaRPr lang="en-US" b="1" dirty="0">
              <a:solidFill>
                <a:srgbClr val="8A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4B0E4-85DE-0D16-0CBE-F1597FFB2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041" y="4752173"/>
            <a:ext cx="6390560" cy="19153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48497A-1727-4B14-797F-DE019B41D1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97"/>
          <a:stretch>
            <a:fillRect/>
          </a:stretch>
        </p:blipFill>
        <p:spPr>
          <a:xfrm>
            <a:off x="1112442" y="2552640"/>
            <a:ext cx="6487159" cy="10475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557266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D3B1C-6214-F1FD-962E-23C5E2FFD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variables in a notebook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7F8C4-1123-9150-05BC-687B35AECF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323713"/>
          </a:xfrm>
        </p:spPr>
        <p:txBody>
          <a:bodyPr/>
          <a:lstStyle/>
          <a:p>
            <a:r>
              <a:rPr lang="en-US" dirty="0"/>
              <a:t>Set active value set to match environment of target workspace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Notebook uses expression syntax of </a:t>
            </a:r>
            <a:r>
              <a:rPr lang="en-US" sz="1600" b="1" dirty="0">
                <a:solidFill>
                  <a:srgbClr val="8A0000"/>
                </a:solidFill>
              </a:rPr>
              <a:t>$(/**/ </a:t>
            </a:r>
            <a:r>
              <a:rPr lang="en-US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{LIBRARY_NAME} </a:t>
            </a:r>
            <a:r>
              <a:rPr lang="en-US" sz="1600" b="1" dirty="0">
                <a:solidFill>
                  <a:srgbClr val="8A0000"/>
                </a:solidFill>
              </a:rPr>
              <a:t>/ </a:t>
            </a:r>
            <a:r>
              <a:rPr lang="en-US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{VARIABLE_NAME} </a:t>
            </a:r>
            <a:r>
              <a:rPr lang="en-US" sz="1600" b="1" dirty="0">
                <a:solidFill>
                  <a:srgbClr val="8A0000"/>
                </a:solidFill>
              </a:rPr>
              <a:t>)</a:t>
            </a:r>
            <a:r>
              <a:rPr lang="en-US" dirty="0"/>
              <a:t> to read variable value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F97D8E-10A3-7061-408A-ED43F640C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72" y="3688036"/>
            <a:ext cx="6970353" cy="28710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7A0B18-029C-C0F7-2AB4-155675EAC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72" y="1744402"/>
            <a:ext cx="6329115" cy="12083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45925507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A454C-8E01-6290-F08E-9B8EA5B9F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variables in a ADLS Gen2 shortcut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AE6A8-2167-4DE7-3C20-332A9372A2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954655"/>
          </a:xfrm>
        </p:spPr>
        <p:txBody>
          <a:bodyPr/>
          <a:lstStyle/>
          <a:p>
            <a:r>
              <a:rPr lang="en-US" dirty="0"/>
              <a:t>Using variables to create ADLS Gen2 shortcut</a:t>
            </a:r>
          </a:p>
          <a:p>
            <a:pPr lvl="1"/>
            <a:r>
              <a:rPr lang="en-US" dirty="0"/>
              <a:t>Variables required for ADLS server location, sub path and connection id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Shortcut can be created by hand or by using </a:t>
            </a:r>
            <a:r>
              <a:rPr lang="en-US" sz="1800" b="1" dirty="0">
                <a:solidFill>
                  <a:srgbClr val="8A0000"/>
                </a:solidFill>
              </a:rPr>
              <a:t>Create Shortcut</a:t>
            </a:r>
            <a:r>
              <a:rPr lang="en-US" dirty="0"/>
              <a:t> API using variable expression syntax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5B5440-9BCD-8D6C-E6DE-FA9B7536E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66" y="4317421"/>
            <a:ext cx="5036555" cy="23977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C65068-428B-09EF-EC78-FF5EF2A7A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367" y="2119895"/>
            <a:ext cx="4972684" cy="14903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45962488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09280D3-92B0-0253-B594-B1949E7B039E}"/>
              </a:ext>
            </a:extLst>
          </p:cNvPr>
          <p:cNvSpPr/>
          <p:nvPr/>
        </p:nvSpPr>
        <p:spPr bwMode="auto">
          <a:xfrm>
            <a:off x="6244565" y="2890977"/>
            <a:ext cx="5326775" cy="30124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GitHub Repository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3FC65E-2B8F-DCA3-BC05-270AC57B6B03}"/>
              </a:ext>
            </a:extLst>
          </p:cNvPr>
          <p:cNvSpPr/>
          <p:nvPr/>
        </p:nvSpPr>
        <p:spPr bwMode="auto">
          <a:xfrm>
            <a:off x="511277" y="2890977"/>
            <a:ext cx="5326775" cy="301248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 Dev Ops Project and Repository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0A230-1662-29CC-05A4-241B86424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GIT Repository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AB887-EC56-13B0-6130-B956C26006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277273"/>
          </a:xfrm>
        </p:spPr>
        <p:txBody>
          <a:bodyPr/>
          <a:lstStyle/>
          <a:p>
            <a:r>
              <a:rPr lang="en-US" dirty="0"/>
              <a:t>Select a GIT provider supported by Fabric</a:t>
            </a:r>
          </a:p>
          <a:p>
            <a:pPr lvl="1"/>
            <a:r>
              <a:rPr lang="en-US" dirty="0"/>
              <a:t>Choose </a:t>
            </a:r>
            <a:r>
              <a:rPr lang="en-US" sz="1800" b="1" dirty="0">
                <a:solidFill>
                  <a:srgbClr val="8A0000"/>
                </a:solidFill>
              </a:rPr>
              <a:t>Azure DevOps</a:t>
            </a:r>
            <a:r>
              <a:rPr lang="en-US" dirty="0"/>
              <a:t> or </a:t>
            </a:r>
            <a:r>
              <a:rPr lang="en-US" sz="1800" b="1" dirty="0">
                <a:solidFill>
                  <a:srgbClr val="8A0000"/>
                </a:solidFill>
              </a:rPr>
              <a:t>GitHub</a:t>
            </a:r>
            <a:r>
              <a:rPr lang="en-US" dirty="0"/>
              <a:t> or </a:t>
            </a:r>
            <a:r>
              <a:rPr lang="en-US" sz="1800" b="1" dirty="0">
                <a:solidFill>
                  <a:srgbClr val="8A0000"/>
                </a:solidFill>
              </a:rPr>
              <a:t>GitHub Enterprise</a:t>
            </a:r>
            <a:endParaRPr lang="en-US" b="1" dirty="0">
              <a:solidFill>
                <a:srgbClr val="8A0000"/>
              </a:solidFill>
            </a:endParaRPr>
          </a:p>
          <a:p>
            <a:r>
              <a:rPr lang="en-US" dirty="0"/>
              <a:t>Create long-lived branches such as </a:t>
            </a:r>
            <a:r>
              <a:rPr lang="en-US" sz="2000" b="1" dirty="0">
                <a:solidFill>
                  <a:srgbClr val="8A0000"/>
                </a:solidFill>
              </a:rPr>
              <a:t>main</a:t>
            </a:r>
            <a:r>
              <a:rPr lang="en-US" sz="2000" dirty="0"/>
              <a:t>, </a:t>
            </a:r>
            <a:r>
              <a:rPr lang="en-US" sz="20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2000" b="1" dirty="0">
                <a:solidFill>
                  <a:srgbClr val="8A0000"/>
                </a:solidFill>
              </a:rPr>
              <a:t>dev</a:t>
            </a:r>
            <a:endParaRPr lang="en-US" b="1" dirty="0">
              <a:solidFill>
                <a:srgbClr val="8A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B72A2-E720-CF0B-5729-D1CD7EB2CB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86" b="15781"/>
          <a:stretch>
            <a:fillRect/>
          </a:stretch>
        </p:blipFill>
        <p:spPr>
          <a:xfrm>
            <a:off x="641593" y="3043053"/>
            <a:ext cx="5002686" cy="24445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A78363-88D1-8B7E-D0D8-B811FF132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601" y="3043053"/>
            <a:ext cx="5002686" cy="24445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5339074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CAB3A-883A-9A5D-FCAA-67C813F1F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GIT Repository with Secrets and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40AC1-9F85-ED6F-87AF-5FE046B2ED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241639"/>
          </a:xfrm>
        </p:spPr>
        <p:txBody>
          <a:bodyPr/>
          <a:lstStyle/>
          <a:p>
            <a:r>
              <a:rPr lang="en-US" dirty="0"/>
              <a:t>Add secrets and variables that will be used by workflow code</a:t>
            </a:r>
          </a:p>
          <a:p>
            <a:pPr lvl="1"/>
            <a:r>
              <a:rPr lang="en-US" dirty="0"/>
              <a:t>Add secrets for authentication credentials</a:t>
            </a:r>
          </a:p>
          <a:p>
            <a:pPr lvl="1"/>
            <a:r>
              <a:rPr lang="en-US" dirty="0"/>
              <a:t>Add variables for the Ids of workspaces, capacities, users and Entra Id groups</a:t>
            </a:r>
          </a:p>
          <a:p>
            <a:pPr lvl="1"/>
            <a:r>
              <a:rPr lang="en-US" dirty="0"/>
              <a:t>Azure Dev Ops requires adding library to project to add variables and secrets</a:t>
            </a:r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5BF159-7738-20F5-5EEA-E0D51D2937BC}"/>
              </a:ext>
            </a:extLst>
          </p:cNvPr>
          <p:cNvGrpSpPr/>
          <p:nvPr/>
        </p:nvGrpSpPr>
        <p:grpSpPr>
          <a:xfrm>
            <a:off x="1266050" y="3123387"/>
            <a:ext cx="9004398" cy="3487726"/>
            <a:chOff x="580250" y="2743199"/>
            <a:chExt cx="10483990" cy="406082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B239FB8-F05E-3BCF-EDF1-F65565EF512E}"/>
                </a:ext>
              </a:extLst>
            </p:cNvPr>
            <p:cNvSpPr/>
            <p:nvPr/>
          </p:nvSpPr>
          <p:spPr bwMode="auto">
            <a:xfrm>
              <a:off x="5997679" y="2743199"/>
              <a:ext cx="5066561" cy="40608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GitHub Repository secretes and variables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32D22B-683F-4F61-2C15-3F0324F6E49C}"/>
                </a:ext>
              </a:extLst>
            </p:cNvPr>
            <p:cNvSpPr/>
            <p:nvPr/>
          </p:nvSpPr>
          <p:spPr bwMode="auto">
            <a:xfrm>
              <a:off x="580250" y="2743199"/>
              <a:ext cx="5257802" cy="406082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Dev Ops Library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BEBC125-0526-BE95-895D-4587A19AF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877" y="2901177"/>
              <a:ext cx="4865396" cy="35380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9B55448-E633-6A58-4810-52BE32235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1532" y="2910322"/>
              <a:ext cx="4683252" cy="348392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306548090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7194D-3D67-F869-B6B1-FF4606D50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 the GIT Repository with Workflows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F1F81-2792-6FD4-222B-12C65D37D3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138773"/>
          </a:xfrm>
        </p:spPr>
        <p:txBody>
          <a:bodyPr/>
          <a:lstStyle/>
          <a:p>
            <a:r>
              <a:rPr lang="en-US" dirty="0"/>
              <a:t>Develop workflow logic to control Fabric CI/CD lifecycles</a:t>
            </a:r>
          </a:p>
          <a:p>
            <a:pPr lvl="1"/>
            <a:r>
              <a:rPr lang="en-US" dirty="0"/>
              <a:t> With Azure Dev Ops, develop workflows using Azure pipelines</a:t>
            </a:r>
          </a:p>
          <a:p>
            <a:pPr lvl="1"/>
            <a:r>
              <a:rPr lang="en-US" dirty="0"/>
              <a:t>With GitHub, develop workflows using GitHub Workflow Actions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A5615A2-7C5D-D574-3312-C7889FD68F9C}"/>
              </a:ext>
            </a:extLst>
          </p:cNvPr>
          <p:cNvGrpSpPr/>
          <p:nvPr/>
        </p:nvGrpSpPr>
        <p:grpSpPr>
          <a:xfrm>
            <a:off x="872859" y="2586807"/>
            <a:ext cx="4558678" cy="4083012"/>
            <a:chOff x="635114" y="2066543"/>
            <a:chExt cx="5216935" cy="467258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F4417E4-CDD6-EDA1-2E50-0D72D7621EAC}"/>
                </a:ext>
              </a:extLst>
            </p:cNvPr>
            <p:cNvSpPr/>
            <p:nvPr/>
          </p:nvSpPr>
          <p:spPr bwMode="auto">
            <a:xfrm>
              <a:off x="635114" y="2066543"/>
              <a:ext cx="5216935" cy="467258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Pipelines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C7FB354-5391-1C9F-5B92-432475C38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196"/>
            <a:stretch>
              <a:fillRect/>
            </a:stretch>
          </p:blipFill>
          <p:spPr>
            <a:xfrm>
              <a:off x="738479" y="2292198"/>
              <a:ext cx="4985665" cy="184713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4AD078B-737D-9804-EB24-690358911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479" y="4303139"/>
              <a:ext cx="4985665" cy="20356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DE31F6-8465-3C56-2BBD-9AF60746ABA6}"/>
              </a:ext>
            </a:extLst>
          </p:cNvPr>
          <p:cNvGrpSpPr/>
          <p:nvPr/>
        </p:nvGrpSpPr>
        <p:grpSpPr>
          <a:xfrm>
            <a:off x="5878807" y="2586807"/>
            <a:ext cx="4427277" cy="4083012"/>
            <a:chOff x="5997679" y="2066543"/>
            <a:chExt cx="5066561" cy="467258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67060E7-7D66-1840-C87A-41616C5B07F4}"/>
                </a:ext>
              </a:extLst>
            </p:cNvPr>
            <p:cNvSpPr/>
            <p:nvPr/>
          </p:nvSpPr>
          <p:spPr bwMode="auto">
            <a:xfrm>
              <a:off x="5997679" y="2066543"/>
              <a:ext cx="5066561" cy="467258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GitHub Workflow Actions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0E9BE09-1E1E-406C-1F61-6D3772064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3496"/>
            <a:stretch>
              <a:fillRect/>
            </a:stretch>
          </p:blipFill>
          <p:spPr>
            <a:xfrm>
              <a:off x="6142583" y="2292198"/>
              <a:ext cx="4729633" cy="18122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8D53C6E-D222-6F02-13AB-5B1A665AE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953"/>
            <a:stretch>
              <a:fillRect/>
            </a:stretch>
          </p:blipFill>
          <p:spPr>
            <a:xfrm>
              <a:off x="6160873" y="4296295"/>
              <a:ext cx="4729633" cy="202224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858057042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94F66-377A-812B-2F91-D2FF859E1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GIT Source Control Connection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A6ED8-BA77-C291-E87A-F47A6B9DF8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5262979"/>
          </a:xfrm>
        </p:spPr>
        <p:txBody>
          <a:bodyPr/>
          <a:lstStyle/>
          <a:p>
            <a:r>
              <a:rPr lang="en-US" dirty="0"/>
              <a:t>Fabric provides GIT source control connectors for creating GIT connections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Azure Dev Ops - Source control</a:t>
            </a:r>
            <a:r>
              <a:rPr lang="en-US" dirty="0"/>
              <a:t> connection can be created using service principal credentials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GitHub - Source control</a:t>
            </a:r>
            <a:r>
              <a:rPr lang="en-US" dirty="0"/>
              <a:t> connection must be configured using a personal access token (PAT)</a:t>
            </a:r>
          </a:p>
          <a:p>
            <a:r>
              <a:rPr lang="en-US" dirty="0"/>
              <a:t>Source control connection configured with path to repository - not to specific branch</a:t>
            </a:r>
          </a:p>
          <a:p>
            <a:pPr lvl="1"/>
            <a:r>
              <a:rPr lang="en-US" dirty="0"/>
              <a:t>You can reuse a source control connection to connect many workspaces to branches in same repo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marL="344488" lvl="1" indent="0">
              <a:buNone/>
            </a:pPr>
            <a:endParaRPr lang="en-US" dirty="0"/>
          </a:p>
          <a:p>
            <a:pPr lvl="1"/>
            <a:r>
              <a:rPr lang="en-US" b="1" dirty="0">
                <a:solidFill>
                  <a:srgbClr val="8A0000"/>
                </a:solidFill>
              </a:rPr>
              <a:t>BE AWARE:</a:t>
            </a:r>
            <a:r>
              <a:rPr lang="en-US" dirty="0"/>
              <a:t> connection credential identity will appear in GIT provider as the committer of changes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08A40C-A010-A449-4B19-18C8974E5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55" y="3381447"/>
            <a:ext cx="7552562" cy="238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568266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AE197-BAF8-B737-BD59-B91FC80D9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GIT Source Control Connections using APIs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432913-7A4C-A68F-AC9F-78AE69238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5" y="1418045"/>
            <a:ext cx="5230368" cy="53869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7ED244-0C1F-A0BC-3A72-CF96CE29A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150" y="1389353"/>
            <a:ext cx="5668260" cy="544430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6BF40D4-6D5A-DFA6-F9BE-AD9D60958C36}"/>
              </a:ext>
            </a:extLst>
          </p:cNvPr>
          <p:cNvSpPr/>
          <p:nvPr/>
        </p:nvSpPr>
        <p:spPr bwMode="auto">
          <a:xfrm>
            <a:off x="512064" y="1078991"/>
            <a:ext cx="5230369" cy="3390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a connection to an Azzure Dev Ops repository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C9BC00-EA70-A274-2FDF-E81D2C5C4318}"/>
              </a:ext>
            </a:extLst>
          </p:cNvPr>
          <p:cNvSpPr/>
          <p:nvPr/>
        </p:nvSpPr>
        <p:spPr bwMode="auto">
          <a:xfrm>
            <a:off x="6215060" y="1050300"/>
            <a:ext cx="5709349" cy="3390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a connection to a 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1086747216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300338-5CC0-4AEA-A0D5-C067D87AB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the dev workspace to integration branch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C81C8B-17AA-1218-2D28-632BF8CF92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138773"/>
          </a:xfrm>
        </p:spPr>
        <p:txBody>
          <a:bodyPr/>
          <a:lstStyle/>
          <a:p>
            <a:r>
              <a:rPr lang="en-US" dirty="0"/>
              <a:t>Fabric GIT integration enabled at workspace scope</a:t>
            </a:r>
          </a:p>
          <a:p>
            <a:pPr lvl="1"/>
            <a:r>
              <a:rPr lang="en-US" dirty="0"/>
              <a:t>Connect dev workspace to integration branch using GIT source control connection</a:t>
            </a:r>
          </a:p>
          <a:p>
            <a:pPr lvl="1"/>
            <a:r>
              <a:rPr lang="en-US" dirty="0"/>
              <a:t>Configure </a:t>
            </a:r>
            <a:r>
              <a:rPr lang="en-US" sz="1800" b="1" dirty="0">
                <a:solidFill>
                  <a:srgbClr val="8A0000"/>
                </a:solidFill>
              </a:rPr>
              <a:t>GIT folder</a:t>
            </a:r>
            <a:r>
              <a:rPr lang="en-US" dirty="0"/>
              <a:t> setting so item definition files are not added to root folder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FD1714-520E-C81D-72B6-E3C2D770B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239" y="2519834"/>
            <a:ext cx="3276539" cy="30088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41E882-D41C-BEDE-DF5F-E8F8B210A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528" y="2519834"/>
            <a:ext cx="4197839" cy="31585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6F544C2-953B-B6E2-FE4A-D9F9225101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8929"/>
          <a:stretch>
            <a:fillRect/>
          </a:stretch>
        </p:blipFill>
        <p:spPr>
          <a:xfrm>
            <a:off x="9128456" y="2519834"/>
            <a:ext cx="2638459" cy="11904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88225585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DAE27-F194-73BA-3715-15B2A7122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a Workspace to GIT Branch using APIs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61EF7-6FDD-902B-EAB7-4BE8487D3F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5370701"/>
          </a:xfrm>
        </p:spPr>
        <p:txBody>
          <a:bodyPr/>
          <a:lstStyle/>
          <a:p>
            <a:r>
              <a:rPr lang="en-US" dirty="0"/>
              <a:t>Fabric REST APIs provides Connect API to connect workspace to a specific GIT branch</a:t>
            </a:r>
          </a:p>
          <a:p>
            <a:pPr lvl="1"/>
            <a:r>
              <a:rPr lang="en-US" dirty="0"/>
              <a:t>Connect request requires org name, provider type, repo name and branch name and git folder</a:t>
            </a:r>
          </a:p>
          <a:p>
            <a:pPr lvl="1"/>
            <a:r>
              <a:rPr lang="en-US" dirty="0"/>
              <a:t>Connecting to ADO repository requires project name in addition to repo name</a:t>
            </a:r>
          </a:p>
          <a:p>
            <a:pPr lvl="1"/>
            <a:r>
              <a:rPr lang="en-US" sz="1800" b="1" dirty="0" err="1">
                <a:solidFill>
                  <a:srgbClr val="8A0000"/>
                </a:solidFill>
              </a:rPr>
              <a:t>myGitCredentials</a:t>
            </a:r>
            <a:r>
              <a:rPr lang="en-US" dirty="0"/>
              <a:t> setting requires </a:t>
            </a:r>
            <a:r>
              <a:rPr lang="en-US" sz="1800" b="1" dirty="0">
                <a:solidFill>
                  <a:srgbClr val="8A0000"/>
                </a:solidFill>
              </a:rPr>
              <a:t>source</a:t>
            </a:r>
            <a:r>
              <a:rPr lang="en-US" dirty="0"/>
              <a:t> of </a:t>
            </a:r>
            <a:r>
              <a:rPr lang="en-US" sz="1800" b="1" dirty="0" err="1">
                <a:solidFill>
                  <a:srgbClr val="8A0000"/>
                </a:solidFill>
              </a:rPr>
              <a:t>ConfiguredConnection</a:t>
            </a:r>
            <a:r>
              <a:rPr lang="en-US" dirty="0"/>
              <a:t> and connection id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CAVEAT</a:t>
            </a:r>
            <a:r>
              <a:rPr lang="en-US" dirty="0"/>
              <a:t>: GIT folder referenced with </a:t>
            </a:r>
            <a:r>
              <a:rPr lang="en-US" sz="1600" b="1" dirty="0" err="1">
                <a:solidFill>
                  <a:srgbClr val="8A0000"/>
                </a:solidFill>
              </a:rPr>
              <a:t>directoryName</a:t>
            </a:r>
            <a:r>
              <a:rPr lang="en-US" dirty="0"/>
              <a:t> setting must already exist or error occurs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821B72-B62E-3455-57C1-96CF3254C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553" y="3072386"/>
            <a:ext cx="5183232" cy="28516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46AE13-3E6A-FC04-B4DE-2B40DA9F1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870" y="3048642"/>
            <a:ext cx="5114191" cy="28753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45877852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C44D-1F03-3FFB-3567-3524C5A9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Flows for Feature Branches and Feature Workspaces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BE8DC-5F5D-FCAB-27C3-EEECD90842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5047536"/>
          </a:xfrm>
        </p:spPr>
        <p:txBody>
          <a:bodyPr/>
          <a:lstStyle/>
          <a:p>
            <a:r>
              <a:rPr lang="en-US" dirty="0"/>
              <a:t>Connect </a:t>
            </a:r>
            <a:r>
              <a:rPr lang="en-US" sz="20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to integration branch and run </a:t>
            </a:r>
            <a:r>
              <a:rPr lang="en-US" sz="2000" b="1" dirty="0">
                <a:solidFill>
                  <a:srgbClr val="8A0000"/>
                </a:solidFill>
              </a:rPr>
              <a:t>Commit to GIT</a:t>
            </a:r>
            <a:r>
              <a:rPr lang="en-US" dirty="0"/>
              <a:t> action in one-time operation</a:t>
            </a:r>
          </a:p>
          <a:p>
            <a:pPr lvl="1"/>
            <a:r>
              <a:rPr lang="en-US" dirty="0"/>
              <a:t>This creates the single source of truth for a Fabric CI/CD project</a:t>
            </a:r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Create feature workspace and then initialize it using </a:t>
            </a:r>
            <a:r>
              <a:rPr lang="en-US" sz="2000" b="1" dirty="0">
                <a:solidFill>
                  <a:srgbClr val="8A0000"/>
                </a:solidFill>
              </a:rPr>
              <a:t>Update from GIT</a:t>
            </a:r>
            <a:r>
              <a:rPr lang="en-US" dirty="0"/>
              <a:t> operation</a:t>
            </a:r>
          </a:p>
          <a:p>
            <a:pPr lvl="1"/>
            <a:r>
              <a:rPr lang="en-US" dirty="0"/>
              <a:t>Additional work usually required to prepare feature workspace for development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After updating workspace items, comment changes to GIT and create pull request</a:t>
            </a:r>
          </a:p>
          <a:p>
            <a:pPr lvl="1"/>
            <a:r>
              <a:rPr lang="en-US" dirty="0"/>
              <a:t>Workspace item changes committed to feature branch &amp; merged to integration branch</a:t>
            </a:r>
          </a:p>
          <a:p>
            <a:pPr lvl="1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C6475CE-D796-0BF4-C78F-4909D9EC60BE}"/>
              </a:ext>
            </a:extLst>
          </p:cNvPr>
          <p:cNvGrpSpPr/>
          <p:nvPr/>
        </p:nvGrpSpPr>
        <p:grpSpPr>
          <a:xfrm>
            <a:off x="1098722" y="4042738"/>
            <a:ext cx="7216705" cy="770353"/>
            <a:chOff x="3970073" y="1876598"/>
            <a:chExt cx="7216705" cy="116389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6834F1C-2D3B-A86F-E320-E7AFBBA23B40}"/>
                </a:ext>
              </a:extLst>
            </p:cNvPr>
            <p:cNvSpPr/>
            <p:nvPr/>
          </p:nvSpPr>
          <p:spPr bwMode="auto">
            <a:xfrm>
              <a:off x="3970073" y="1876598"/>
              <a:ext cx="1367244" cy="116389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integration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75CE84B-6207-5294-81F3-8304D6198C9B}"/>
                </a:ext>
              </a:extLst>
            </p:cNvPr>
            <p:cNvSpPr/>
            <p:nvPr/>
          </p:nvSpPr>
          <p:spPr bwMode="auto">
            <a:xfrm>
              <a:off x="9819535" y="1876598"/>
              <a:ext cx="1367243" cy="1163894"/>
            </a:xfrm>
            <a:prstGeom prst="rect">
              <a:avLst/>
            </a:prstGeom>
            <a:solidFill>
              <a:srgbClr val="8A0000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5A921F3-77B3-37F2-ADC8-A8833B35139F}"/>
                </a:ext>
              </a:extLst>
            </p:cNvPr>
            <p:cNvSpPr/>
            <p:nvPr/>
          </p:nvSpPr>
          <p:spPr bwMode="auto">
            <a:xfrm>
              <a:off x="6886547" y="1876598"/>
              <a:ext cx="1367243" cy="1163895"/>
            </a:xfrm>
            <a:prstGeom prst="rect">
              <a:avLst/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4" name="Arrow: Left 3">
              <a:extLst>
                <a:ext uri="{FF2B5EF4-FFF2-40B4-BE49-F238E27FC236}">
                  <a16:creationId xmlns:a16="http://schemas.microsoft.com/office/drawing/2014/main" id="{388F1D8F-B0DB-975F-9764-FB5180960B5B}"/>
                </a:ext>
              </a:extLst>
            </p:cNvPr>
            <p:cNvSpPr/>
            <p:nvPr/>
          </p:nvSpPr>
          <p:spPr bwMode="auto">
            <a:xfrm flipH="1">
              <a:off x="5337317" y="2152952"/>
              <a:ext cx="1470495" cy="61118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Create Branch</a:t>
              </a:r>
            </a:p>
          </p:txBody>
        </p:sp>
        <p:sp>
          <p:nvSpPr>
            <p:cNvPr id="7" name="Arrow: Left 6">
              <a:extLst>
                <a:ext uri="{FF2B5EF4-FFF2-40B4-BE49-F238E27FC236}">
                  <a16:creationId xmlns:a16="http://schemas.microsoft.com/office/drawing/2014/main" id="{A614433C-B07D-AE05-E43C-F65A09B7BEB5}"/>
                </a:ext>
              </a:extLst>
            </p:cNvPr>
            <p:cNvSpPr/>
            <p:nvPr/>
          </p:nvSpPr>
          <p:spPr bwMode="auto">
            <a:xfrm flipH="1">
              <a:off x="8253790" y="2152952"/>
              <a:ext cx="1470495" cy="61118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Update from GIT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E9273FF-FABD-FF47-267A-ED9102F52FEC}"/>
              </a:ext>
            </a:extLst>
          </p:cNvPr>
          <p:cNvGrpSpPr/>
          <p:nvPr/>
        </p:nvGrpSpPr>
        <p:grpSpPr>
          <a:xfrm>
            <a:off x="1098722" y="2047721"/>
            <a:ext cx="4204983" cy="774435"/>
            <a:chOff x="1078475" y="2092590"/>
            <a:chExt cx="4204983" cy="9861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AED031A-64FC-AC7A-090D-142F6A43ABFC}"/>
                </a:ext>
              </a:extLst>
            </p:cNvPr>
            <p:cNvGrpSpPr/>
            <p:nvPr/>
          </p:nvGrpSpPr>
          <p:grpSpPr>
            <a:xfrm>
              <a:off x="1078475" y="2092590"/>
              <a:ext cx="2786112" cy="986100"/>
              <a:chOff x="830825" y="1873514"/>
              <a:chExt cx="2786112" cy="1170063"/>
            </a:xfrm>
          </p:grpSpPr>
          <p:sp>
            <p:nvSpPr>
              <p:cNvPr id="11" name="Arrow: Left 10">
                <a:extLst>
                  <a:ext uri="{FF2B5EF4-FFF2-40B4-BE49-F238E27FC236}">
                    <a16:creationId xmlns:a16="http://schemas.microsoft.com/office/drawing/2014/main" id="{7BCCC72B-8179-897B-93E8-18C3641EEBAC}"/>
                  </a:ext>
                </a:extLst>
              </p:cNvPr>
              <p:cNvSpPr/>
              <p:nvPr/>
            </p:nvSpPr>
            <p:spPr bwMode="auto">
              <a:xfrm flipH="1">
                <a:off x="2146442" y="2152952"/>
                <a:ext cx="1470495" cy="611186"/>
              </a:xfrm>
              <a:prstGeom prst="leftArrow">
                <a:avLst>
                  <a:gd name="adj1" fmla="val 57100"/>
                  <a:gd name="adj2" fmla="val 5000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solidFill>
                      <a:srgbClr val="8A0000"/>
                    </a:solidFill>
                    <a:latin typeface="Arial Black" panose="020B0A04020102020204" pitchFamily="34" charset="0"/>
                    <a:ea typeface="Segoe UI" pitchFamily="34" charset="0"/>
                    <a:cs typeface="Segoe UI" pitchFamily="34" charset="0"/>
                  </a:rPr>
                  <a:t>Commit to GIT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B8A1F8C-63DF-D862-868C-348BA1779EAD}"/>
                  </a:ext>
                </a:extLst>
              </p:cNvPr>
              <p:cNvSpPr/>
              <p:nvPr/>
            </p:nvSpPr>
            <p:spPr bwMode="auto">
              <a:xfrm>
                <a:off x="830825" y="1873514"/>
                <a:ext cx="1367244" cy="1170063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1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BC068E-2A01-AB45-DA61-CD6E98982393}"/>
                </a:ext>
              </a:extLst>
            </p:cNvPr>
            <p:cNvSpPr/>
            <p:nvPr/>
          </p:nvSpPr>
          <p:spPr bwMode="auto">
            <a:xfrm>
              <a:off x="3916214" y="2092590"/>
              <a:ext cx="1367244" cy="98090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integration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7E66F97-7244-31AD-5CF9-FAE4FDCB1C59}"/>
              </a:ext>
            </a:extLst>
          </p:cNvPr>
          <p:cNvGrpSpPr/>
          <p:nvPr/>
        </p:nvGrpSpPr>
        <p:grpSpPr>
          <a:xfrm>
            <a:off x="1098722" y="6016361"/>
            <a:ext cx="7238490" cy="770354"/>
            <a:chOff x="1078475" y="5940392"/>
            <a:chExt cx="7238490" cy="98090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68B7820-8194-D53A-688B-5CFC4FBCB091}"/>
                </a:ext>
              </a:extLst>
            </p:cNvPr>
            <p:cNvSpPr/>
            <p:nvPr/>
          </p:nvSpPr>
          <p:spPr bwMode="auto">
            <a:xfrm>
              <a:off x="6949721" y="5940392"/>
              <a:ext cx="1367244" cy="98090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integration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977298-3572-12E3-46CB-5ED21DC77840}"/>
                </a:ext>
              </a:extLst>
            </p:cNvPr>
            <p:cNvSpPr/>
            <p:nvPr/>
          </p:nvSpPr>
          <p:spPr bwMode="auto">
            <a:xfrm>
              <a:off x="1078475" y="5940394"/>
              <a:ext cx="1367243" cy="980901"/>
            </a:xfrm>
            <a:prstGeom prst="rect">
              <a:avLst/>
            </a:prstGeom>
            <a:solidFill>
              <a:srgbClr val="8A0000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13B6BC6-2CAE-9A14-6942-A6FD431375F2}"/>
                </a:ext>
              </a:extLst>
            </p:cNvPr>
            <p:cNvSpPr/>
            <p:nvPr/>
          </p:nvSpPr>
          <p:spPr bwMode="auto">
            <a:xfrm>
              <a:off x="4007207" y="5940392"/>
              <a:ext cx="1367243" cy="980902"/>
            </a:xfrm>
            <a:prstGeom prst="rect">
              <a:avLst/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21" name="Arrow: Left 20">
              <a:extLst>
                <a:ext uri="{FF2B5EF4-FFF2-40B4-BE49-F238E27FC236}">
                  <a16:creationId xmlns:a16="http://schemas.microsoft.com/office/drawing/2014/main" id="{B8474652-D851-B29B-1563-9E52DE3C84C7}"/>
                </a:ext>
              </a:extLst>
            </p:cNvPr>
            <p:cNvSpPr/>
            <p:nvPr/>
          </p:nvSpPr>
          <p:spPr bwMode="auto">
            <a:xfrm flipH="1">
              <a:off x="2457978" y="6173297"/>
              <a:ext cx="1470495" cy="515092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Commit to GIT</a:t>
              </a:r>
            </a:p>
          </p:txBody>
        </p:sp>
        <p:sp>
          <p:nvSpPr>
            <p:cNvPr id="22" name="Arrow: Left 21">
              <a:extLst>
                <a:ext uri="{FF2B5EF4-FFF2-40B4-BE49-F238E27FC236}">
                  <a16:creationId xmlns:a16="http://schemas.microsoft.com/office/drawing/2014/main" id="{5622F83C-87E5-C8A2-63AD-9EEAE134BE35}"/>
                </a:ext>
              </a:extLst>
            </p:cNvPr>
            <p:cNvSpPr/>
            <p:nvPr/>
          </p:nvSpPr>
          <p:spPr bwMode="auto">
            <a:xfrm flipH="1">
              <a:off x="5374451" y="6173297"/>
              <a:ext cx="1470495" cy="515092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78569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74FD1-3224-693E-FD60-8E9D8BD5D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Feature Workspace by Hand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05170-7D5E-8FE0-DF3B-4EF38F93B1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69332"/>
          </a:xfrm>
        </p:spPr>
        <p:txBody>
          <a:bodyPr/>
          <a:lstStyle/>
          <a:p>
            <a:r>
              <a:rPr lang="en-US" dirty="0"/>
              <a:t>You can create and configure feature workspaces by hand or by using APIs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1C37E9-ECD2-B935-8E23-64860CB3A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37" y="1867397"/>
            <a:ext cx="2777247" cy="25034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48EFB5-3DEB-B577-D0B4-67F613AD5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559" y="1867397"/>
            <a:ext cx="2996291" cy="342697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A34956-ADA5-5F38-7B06-6D99D2B74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3125" y="1867397"/>
            <a:ext cx="4025546" cy="42722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93187291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0EB7341-7AB7-CEAD-79A0-0BBF46CC40F1}"/>
              </a:ext>
            </a:extLst>
          </p:cNvPr>
          <p:cNvSpPr/>
          <p:nvPr/>
        </p:nvSpPr>
        <p:spPr bwMode="auto">
          <a:xfrm>
            <a:off x="4123684" y="4178772"/>
            <a:ext cx="5001266" cy="26631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Cloud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5F9029-2F97-31A6-1EF8-CEC1AAA0C7D8}"/>
              </a:ext>
            </a:extLst>
          </p:cNvPr>
          <p:cNvSpPr/>
          <p:nvPr/>
        </p:nvSpPr>
        <p:spPr bwMode="auto">
          <a:xfrm>
            <a:off x="901870" y="4178772"/>
            <a:ext cx="2736055" cy="26252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Desktop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EA940F-5D90-10BB-7A25-454296BD6F5C}"/>
              </a:ext>
            </a:extLst>
          </p:cNvPr>
          <p:cNvSpPr/>
          <p:nvPr/>
        </p:nvSpPr>
        <p:spPr bwMode="auto">
          <a:xfrm>
            <a:off x="4502627" y="4339230"/>
            <a:ext cx="1367243" cy="740738"/>
          </a:xfrm>
          <a:prstGeom prst="rect">
            <a:avLst/>
          </a:prstGeom>
          <a:solidFill>
            <a:srgbClr val="8A0000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8E143A-14FB-641D-5B13-429BBD26BA76}"/>
              </a:ext>
            </a:extLst>
          </p:cNvPr>
          <p:cNvSpPr/>
          <p:nvPr/>
        </p:nvSpPr>
        <p:spPr bwMode="auto">
          <a:xfrm>
            <a:off x="7493824" y="5676695"/>
            <a:ext cx="1367244" cy="7407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EBE3FF-A0D9-D5B3-9F2E-920148EB09E6}"/>
              </a:ext>
            </a:extLst>
          </p:cNvPr>
          <p:cNvSpPr/>
          <p:nvPr/>
        </p:nvSpPr>
        <p:spPr bwMode="auto">
          <a:xfrm>
            <a:off x="4502628" y="5676695"/>
            <a:ext cx="1367243" cy="740738"/>
          </a:xfrm>
          <a:prstGeom prst="rect">
            <a:avLst/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8370896F-3466-54FC-CF5F-9ADEA1DE36BA}"/>
              </a:ext>
            </a:extLst>
          </p:cNvPr>
          <p:cNvSpPr/>
          <p:nvPr/>
        </p:nvSpPr>
        <p:spPr bwMode="auto">
          <a:xfrm flipH="1">
            <a:off x="5917494" y="5756552"/>
            <a:ext cx="1470495" cy="581025"/>
          </a:xfrm>
          <a:prstGeom prst="leftArrow">
            <a:avLst>
              <a:gd name="adj1" fmla="val 571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Pull Request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C8DE5D-ACFE-B612-3D11-ACEF8983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in Workspace versus Edit Locally using Client 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FF059-CACB-62EF-4166-63D01A9251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8" y="1287425"/>
            <a:ext cx="11604521" cy="2816156"/>
          </a:xfrm>
        </p:spPr>
        <p:txBody>
          <a:bodyPr/>
          <a:lstStyle/>
          <a:p>
            <a:r>
              <a:rPr lang="en-US" dirty="0"/>
              <a:t>Development flow #1: </a:t>
            </a:r>
            <a:r>
              <a:rPr lang="en-US" sz="2000" b="1" dirty="0">
                <a:solidFill>
                  <a:srgbClr val="8A0000"/>
                </a:solidFill>
              </a:rPr>
              <a:t>Apply edits to workspace items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Development flow #2: </a:t>
            </a:r>
            <a:r>
              <a:rPr lang="en-US" sz="2000" b="1" dirty="0">
                <a:solidFill>
                  <a:srgbClr val="8A0000"/>
                </a:solidFill>
              </a:rPr>
              <a:t>Apply edits in local repo clone to item definitions using client tools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Clone repo to developer machine and edit item definitions locally using a client tool</a:t>
            </a:r>
          </a:p>
          <a:p>
            <a:pPr lvl="1"/>
            <a:r>
              <a:rPr lang="en-US" dirty="0"/>
              <a:t>Local changes pushed to remote repo synced to feature workspace using </a:t>
            </a:r>
            <a:r>
              <a:rPr lang="en-US" sz="1800" b="1" dirty="0">
                <a:solidFill>
                  <a:srgbClr val="8A0000"/>
                </a:solidFill>
              </a:rPr>
              <a:t>Update from GIT</a:t>
            </a:r>
            <a:r>
              <a:rPr lang="en-US" dirty="0"/>
              <a:t> action</a:t>
            </a: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6AA3F244-821B-2C8A-AEA5-96C09A01BC1A}"/>
              </a:ext>
            </a:extLst>
          </p:cNvPr>
          <p:cNvSpPr/>
          <p:nvPr/>
        </p:nvSpPr>
        <p:spPr bwMode="auto">
          <a:xfrm flipH="1">
            <a:off x="4904489" y="5071303"/>
            <a:ext cx="563520" cy="604003"/>
          </a:xfrm>
          <a:prstGeom prst="upArrow">
            <a:avLst>
              <a:gd name="adj1" fmla="val 74614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GIT Sync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13EE63-1F09-835C-E8DB-60E8DCFC5788}"/>
              </a:ext>
            </a:extLst>
          </p:cNvPr>
          <p:cNvGrpSpPr/>
          <p:nvPr/>
        </p:nvGrpSpPr>
        <p:grpSpPr>
          <a:xfrm>
            <a:off x="901870" y="1767416"/>
            <a:ext cx="7238490" cy="770354"/>
            <a:chOff x="1078475" y="5940392"/>
            <a:chExt cx="7238490" cy="98090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F8082C-5E55-73F2-7F19-3F4E38CEB2D0}"/>
                </a:ext>
              </a:extLst>
            </p:cNvPr>
            <p:cNvSpPr/>
            <p:nvPr/>
          </p:nvSpPr>
          <p:spPr bwMode="auto">
            <a:xfrm>
              <a:off x="6949721" y="5940392"/>
              <a:ext cx="1367244" cy="98090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integration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0E2EF9-FDCE-EC86-193E-45766CDE6E0C}"/>
                </a:ext>
              </a:extLst>
            </p:cNvPr>
            <p:cNvSpPr/>
            <p:nvPr/>
          </p:nvSpPr>
          <p:spPr bwMode="auto">
            <a:xfrm>
              <a:off x="1078475" y="5940394"/>
              <a:ext cx="1367243" cy="980901"/>
            </a:xfrm>
            <a:prstGeom prst="rect">
              <a:avLst/>
            </a:prstGeom>
            <a:solidFill>
              <a:srgbClr val="8A0000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73C0CBB-3474-7E38-489D-5B93842D1E29}"/>
                </a:ext>
              </a:extLst>
            </p:cNvPr>
            <p:cNvSpPr/>
            <p:nvPr/>
          </p:nvSpPr>
          <p:spPr bwMode="auto">
            <a:xfrm>
              <a:off x="4007207" y="5940392"/>
              <a:ext cx="1367243" cy="980902"/>
            </a:xfrm>
            <a:prstGeom prst="rect">
              <a:avLst/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feature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15" name="Arrow: Left 14">
              <a:extLst>
                <a:ext uri="{FF2B5EF4-FFF2-40B4-BE49-F238E27FC236}">
                  <a16:creationId xmlns:a16="http://schemas.microsoft.com/office/drawing/2014/main" id="{A3F333F7-6685-F956-99B2-0A4E0D97AC7B}"/>
                </a:ext>
              </a:extLst>
            </p:cNvPr>
            <p:cNvSpPr/>
            <p:nvPr/>
          </p:nvSpPr>
          <p:spPr bwMode="auto">
            <a:xfrm flipH="1">
              <a:off x="2457978" y="6173297"/>
              <a:ext cx="1470495" cy="515092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Commit to GIT</a:t>
              </a:r>
            </a:p>
          </p:txBody>
        </p:sp>
        <p:sp>
          <p:nvSpPr>
            <p:cNvPr id="16" name="Arrow: Left 15">
              <a:extLst>
                <a:ext uri="{FF2B5EF4-FFF2-40B4-BE49-F238E27FC236}">
                  <a16:creationId xmlns:a16="http://schemas.microsoft.com/office/drawing/2014/main" id="{FAF765A2-05AB-6B18-51E6-8EA483E1DDE4}"/>
                </a:ext>
              </a:extLst>
            </p:cNvPr>
            <p:cNvSpPr/>
            <p:nvPr/>
          </p:nvSpPr>
          <p:spPr bwMode="auto">
            <a:xfrm flipH="1">
              <a:off x="5374451" y="6173297"/>
              <a:ext cx="1470495" cy="515092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5465634-063D-A620-3C22-CEB7A8B1B741}"/>
              </a:ext>
            </a:extLst>
          </p:cNvPr>
          <p:cNvGrpSpPr/>
          <p:nvPr/>
        </p:nvGrpSpPr>
        <p:grpSpPr>
          <a:xfrm>
            <a:off x="1583050" y="5676695"/>
            <a:ext cx="2770010" cy="740738"/>
            <a:chOff x="1583050" y="5676695"/>
            <a:chExt cx="2770010" cy="74073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4C5D078-986E-61EE-5A77-463A0C2045ED}"/>
                </a:ext>
              </a:extLst>
            </p:cNvPr>
            <p:cNvSpPr/>
            <p:nvPr/>
          </p:nvSpPr>
          <p:spPr bwMode="auto">
            <a:xfrm>
              <a:off x="1583050" y="5676695"/>
              <a:ext cx="1367243" cy="740738"/>
            </a:xfrm>
            <a:prstGeom prst="rect">
              <a:avLst/>
            </a:prstGeom>
            <a:solidFill>
              <a:srgbClr val="8A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local clone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of branch</a:t>
              </a:r>
            </a:p>
          </p:txBody>
        </p:sp>
        <p:sp>
          <p:nvSpPr>
            <p:cNvPr id="34" name="Arrow: Left 33">
              <a:extLst>
                <a:ext uri="{FF2B5EF4-FFF2-40B4-BE49-F238E27FC236}">
                  <a16:creationId xmlns:a16="http://schemas.microsoft.com/office/drawing/2014/main" id="{0D7FD9A8-0C0F-3DD3-DBD0-BE0C5EEDD867}"/>
                </a:ext>
              </a:extLst>
            </p:cNvPr>
            <p:cNvSpPr/>
            <p:nvPr/>
          </p:nvSpPr>
          <p:spPr bwMode="auto">
            <a:xfrm>
              <a:off x="3111330" y="5891730"/>
              <a:ext cx="1241730" cy="270356"/>
            </a:xfrm>
            <a:prstGeom prst="leftArrow">
              <a:avLst>
                <a:gd name="adj1" fmla="val 77707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clone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A644E3E-7833-D4D7-6DEC-C4FD5292A46C}"/>
              </a:ext>
            </a:extLst>
          </p:cNvPr>
          <p:cNvGrpSpPr/>
          <p:nvPr/>
        </p:nvGrpSpPr>
        <p:grpSpPr>
          <a:xfrm>
            <a:off x="1100260" y="4288867"/>
            <a:ext cx="2332823" cy="1298117"/>
            <a:chOff x="1100260" y="4288867"/>
            <a:chExt cx="2332823" cy="129811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7F37CC3-192C-29B8-036C-DE09F0CD1D20}"/>
                </a:ext>
              </a:extLst>
            </p:cNvPr>
            <p:cNvSpPr/>
            <p:nvPr/>
          </p:nvSpPr>
          <p:spPr bwMode="auto">
            <a:xfrm>
              <a:off x="1100260" y="4288867"/>
              <a:ext cx="1056076" cy="764061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VS Code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772550A-2F9D-9EA1-9140-5E1E1D11A746}"/>
                </a:ext>
              </a:extLst>
            </p:cNvPr>
            <p:cNvSpPr/>
            <p:nvPr/>
          </p:nvSpPr>
          <p:spPr bwMode="auto">
            <a:xfrm>
              <a:off x="2377007" y="4288867"/>
              <a:ext cx="1056076" cy="764061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Power BI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Desktop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1871815-CBD3-774A-9FE0-EA658FB933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87752" y="5079968"/>
              <a:ext cx="290922" cy="50701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47BAA8A-63B2-79E9-089B-5B77E13048B9}"/>
                </a:ext>
              </a:extLst>
            </p:cNvPr>
            <p:cNvCxnSpPr>
              <a:cxnSpLocks/>
              <a:stCxn id="32" idx="2"/>
            </p:cNvCxnSpPr>
            <p:nvPr/>
          </p:nvCxnSpPr>
          <p:spPr>
            <a:xfrm>
              <a:off x="1628298" y="5052928"/>
              <a:ext cx="264984" cy="53231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Arrow: Left 41">
            <a:extLst>
              <a:ext uri="{FF2B5EF4-FFF2-40B4-BE49-F238E27FC236}">
                <a16:creationId xmlns:a16="http://schemas.microsoft.com/office/drawing/2014/main" id="{399C4DDF-341F-ABF7-AB26-6F0FBB570048}"/>
              </a:ext>
            </a:extLst>
          </p:cNvPr>
          <p:cNvSpPr/>
          <p:nvPr/>
        </p:nvSpPr>
        <p:spPr bwMode="auto">
          <a:xfrm flipH="1">
            <a:off x="3032132" y="5736395"/>
            <a:ext cx="1470495" cy="581025"/>
          </a:xfrm>
          <a:prstGeom prst="leftArrow">
            <a:avLst>
              <a:gd name="adj1" fmla="val 571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Push Changes</a:t>
            </a:r>
          </a:p>
        </p:txBody>
      </p:sp>
    </p:spTree>
    <p:extLst>
      <p:ext uri="{BB962C8B-B14F-4D97-AF65-F5344CB8AC3E}">
        <p14:creationId xmlns:p14="http://schemas.microsoft.com/office/powerpoint/2010/main" val="34155414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9" grpId="0" animBg="1"/>
      <p:bldP spid="17" grpId="0" animBg="1"/>
      <p:bldP spid="19" grpId="0" animBg="1"/>
      <p:bldP spid="20" grpId="0" animBg="1"/>
      <p:bldP spid="21" grpId="0" animBg="1"/>
      <p:bldP spid="7" grpId="0" animBg="1"/>
      <p:bldP spid="4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88ADF-8A87-2047-1E06-521EE43DF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Auto-bind behavior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6E581-CAEE-DED1-9EDD-0146FE1D09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5432256"/>
          </a:xfrm>
        </p:spPr>
        <p:txBody>
          <a:bodyPr/>
          <a:lstStyle/>
          <a:p>
            <a:r>
              <a:rPr lang="en-US" dirty="0"/>
              <a:t>Some workspace item types self-manage their relations to other workspace items</a:t>
            </a:r>
          </a:p>
          <a:p>
            <a:pPr lvl="1"/>
            <a:r>
              <a:rPr lang="en-US" dirty="0"/>
              <a:t>Pipelines support auto-binding behavior</a:t>
            </a:r>
          </a:p>
          <a:p>
            <a:pPr lvl="1"/>
            <a:r>
              <a:rPr lang="en-US" dirty="0"/>
              <a:t>Notebooks have not supported auto-binding behavior in the past - But that is about to change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you encounter workspace item types that do not support auto-binding…</a:t>
            </a:r>
          </a:p>
          <a:p>
            <a:pPr lvl="1"/>
            <a:r>
              <a:rPr lang="en-US" dirty="0"/>
              <a:t>required to run a post-sync job script to correctly reestablish relations to other workspace items.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82D0D2-83C0-F39D-6A3E-BE063E1B7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26" y="2432781"/>
            <a:ext cx="7170709" cy="314509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A294F59-55CB-0714-DF8C-171DF0455DB3}"/>
              </a:ext>
            </a:extLst>
          </p:cNvPr>
          <p:cNvGrpSpPr/>
          <p:nvPr/>
        </p:nvGrpSpPr>
        <p:grpSpPr>
          <a:xfrm>
            <a:off x="8154664" y="2577307"/>
            <a:ext cx="3838302" cy="1976085"/>
            <a:chOff x="8344361" y="2965927"/>
            <a:chExt cx="3838302" cy="197608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7F7D582-1B56-CFF2-588D-7AF616692D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32834"/>
            <a:stretch>
              <a:fillRect/>
            </a:stretch>
          </p:blipFill>
          <p:spPr>
            <a:xfrm>
              <a:off x="8344361" y="3316261"/>
              <a:ext cx="3838302" cy="16257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F5CCDB-10C1-230F-8A5F-BD46951C0F56}"/>
                </a:ext>
              </a:extLst>
            </p:cNvPr>
            <p:cNvSpPr/>
            <p:nvPr/>
          </p:nvSpPr>
          <p:spPr bwMode="auto">
            <a:xfrm>
              <a:off x="8344361" y="2965927"/>
              <a:ext cx="3838302" cy="33905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solidFill>
                    <a:schemeClr val="tx1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Adding auto-binding support to notebook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71818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8F0C-715A-E3B3-5267-8F0477552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Jobs After Update-from-GIT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DA14B-D54F-BB6C-2863-9B8D5E45E5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816156"/>
          </a:xfrm>
        </p:spPr>
        <p:txBody>
          <a:bodyPr/>
          <a:lstStyle/>
          <a:p>
            <a:r>
              <a:rPr lang="en-US" dirty="0"/>
              <a:t>After </a:t>
            </a:r>
            <a:r>
              <a:rPr lang="en-US" sz="2000" b="1" dirty="0">
                <a:solidFill>
                  <a:srgbClr val="8A0000"/>
                </a:solidFill>
              </a:rPr>
              <a:t>Update from GIT</a:t>
            </a:r>
            <a:r>
              <a:rPr lang="en-US" dirty="0"/>
              <a:t> completes, workspace items often require additional configuration</a:t>
            </a:r>
          </a:p>
          <a:p>
            <a:pPr lvl="1"/>
            <a:r>
              <a:rPr lang="en-US" dirty="0"/>
              <a:t>Run ETL jobs using notebooks, pipelines, copy jobs or dataflows</a:t>
            </a:r>
          </a:p>
          <a:p>
            <a:pPr lvl="1"/>
            <a:r>
              <a:rPr lang="en-US" dirty="0"/>
              <a:t>Updates required for workspace items that do not support auto-binding</a:t>
            </a:r>
          </a:p>
          <a:p>
            <a:pPr lvl="1"/>
            <a:r>
              <a:rPr lang="en-US" dirty="0"/>
              <a:t>Updates required for workspace items that do not support variable libraries</a:t>
            </a:r>
          </a:p>
          <a:p>
            <a:r>
              <a:rPr lang="en-US" dirty="0"/>
              <a:t>Jobs run after </a:t>
            </a:r>
            <a:r>
              <a:rPr lang="en-US" sz="2000" b="1" dirty="0">
                <a:solidFill>
                  <a:srgbClr val="8A0000"/>
                </a:solidFill>
              </a:rPr>
              <a:t>Update from GIT</a:t>
            </a:r>
            <a:r>
              <a:rPr lang="en-US" dirty="0"/>
              <a:t> operation fall into two categories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Post-deploy jobs</a:t>
            </a:r>
            <a:r>
              <a:rPr lang="en-US" dirty="0"/>
              <a:t> run only once after an empty workspace is first initialized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Post-sync jobs</a:t>
            </a:r>
            <a:r>
              <a:rPr lang="en-US" dirty="0"/>
              <a:t> run each time after an Update from GIT operation completes on a workspace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266234-375C-0397-BCFF-6446320E25EC}"/>
              </a:ext>
            </a:extLst>
          </p:cNvPr>
          <p:cNvSpPr/>
          <p:nvPr/>
        </p:nvSpPr>
        <p:spPr bwMode="auto">
          <a:xfrm>
            <a:off x="6224488" y="4168473"/>
            <a:ext cx="4318543" cy="2621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Scenario 2: sync dev workspace after pull request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F789B8-ED02-1BE5-A6CF-F0CCBEA2E230}"/>
              </a:ext>
            </a:extLst>
          </p:cNvPr>
          <p:cNvSpPr/>
          <p:nvPr/>
        </p:nvSpPr>
        <p:spPr bwMode="auto">
          <a:xfrm>
            <a:off x="8989254" y="5751721"/>
            <a:ext cx="1344611" cy="6633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880936-9ECD-FBE1-507C-860E634FEB9F}"/>
              </a:ext>
            </a:extLst>
          </p:cNvPr>
          <p:cNvSpPr/>
          <p:nvPr/>
        </p:nvSpPr>
        <p:spPr bwMode="auto">
          <a:xfrm>
            <a:off x="6477611" y="4348761"/>
            <a:ext cx="1344610" cy="653647"/>
          </a:xfrm>
          <a:prstGeom prst="rect">
            <a:avLst/>
          </a:prstGeom>
          <a:solidFill>
            <a:srgbClr val="8A0000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40F5D7A2-7068-B9BC-3AE8-22CDB2D4565B}"/>
              </a:ext>
            </a:extLst>
          </p:cNvPr>
          <p:cNvSpPr/>
          <p:nvPr/>
        </p:nvSpPr>
        <p:spPr bwMode="auto">
          <a:xfrm flipH="1">
            <a:off x="7840359" y="5747237"/>
            <a:ext cx="1086801" cy="606100"/>
          </a:xfrm>
          <a:prstGeom prst="leftArrow">
            <a:avLst>
              <a:gd name="adj1" fmla="val 57100"/>
              <a:gd name="adj2" fmla="val 50000"/>
            </a:avLst>
          </a:prstGeom>
          <a:solidFill>
            <a:schemeClr val="accent3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Pull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Request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94E19C-94F7-AEB7-BD68-2779BE63A66B}"/>
              </a:ext>
            </a:extLst>
          </p:cNvPr>
          <p:cNvSpPr/>
          <p:nvPr/>
        </p:nvSpPr>
        <p:spPr bwMode="auto">
          <a:xfrm>
            <a:off x="6477611" y="5752831"/>
            <a:ext cx="1344610" cy="663325"/>
          </a:xfrm>
          <a:prstGeom prst="rect">
            <a:avLst/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CE5C02-23D5-EC67-91DB-534D13B83EEA}"/>
              </a:ext>
            </a:extLst>
          </p:cNvPr>
          <p:cNvSpPr/>
          <p:nvPr/>
        </p:nvSpPr>
        <p:spPr bwMode="auto">
          <a:xfrm>
            <a:off x="8989254" y="4385744"/>
            <a:ext cx="1344611" cy="66332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AD08881A-36F5-C3BE-18D9-12E3294CE134}"/>
              </a:ext>
            </a:extLst>
          </p:cNvPr>
          <p:cNvSpPr/>
          <p:nvPr/>
        </p:nvSpPr>
        <p:spPr bwMode="auto">
          <a:xfrm>
            <a:off x="6609929" y="5028664"/>
            <a:ext cx="1020915" cy="702653"/>
          </a:xfrm>
          <a:prstGeom prst="downArrow">
            <a:avLst>
              <a:gd name="adj1" fmla="val 67807"/>
              <a:gd name="adj2" fmla="val 50000"/>
            </a:avLst>
          </a:prstGeom>
          <a:solidFill>
            <a:schemeClr val="accent3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Commit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to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GIT</a:t>
            </a: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43D5CDA8-71FB-FE65-A48F-0F5F56F6B7FE}"/>
              </a:ext>
            </a:extLst>
          </p:cNvPr>
          <p:cNvSpPr/>
          <p:nvPr/>
        </p:nvSpPr>
        <p:spPr bwMode="auto">
          <a:xfrm>
            <a:off x="9154104" y="5049070"/>
            <a:ext cx="1020915" cy="702653"/>
          </a:xfrm>
          <a:prstGeom prst="upArrow">
            <a:avLst/>
          </a:prstGeom>
          <a:solidFill>
            <a:schemeClr val="accent3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Update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from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GIT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FC7475-A5E0-C0A7-BA01-18A55084CFCF}"/>
              </a:ext>
            </a:extLst>
          </p:cNvPr>
          <p:cNvSpPr/>
          <p:nvPr/>
        </p:nvSpPr>
        <p:spPr bwMode="auto">
          <a:xfrm>
            <a:off x="1250104" y="4182379"/>
            <a:ext cx="4318543" cy="2621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Scenario 1: creating a feature workspace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5106BA-C3AA-9714-B013-4401FAE8D2E5}"/>
              </a:ext>
            </a:extLst>
          </p:cNvPr>
          <p:cNvSpPr/>
          <p:nvPr/>
        </p:nvSpPr>
        <p:spPr bwMode="auto">
          <a:xfrm>
            <a:off x="3985404" y="5703920"/>
            <a:ext cx="1344611" cy="6633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C22394-B7CC-4F39-0BFE-478C5F0ABD3A}"/>
              </a:ext>
            </a:extLst>
          </p:cNvPr>
          <p:cNvSpPr/>
          <p:nvPr/>
        </p:nvSpPr>
        <p:spPr bwMode="auto">
          <a:xfrm>
            <a:off x="1503226" y="4299850"/>
            <a:ext cx="1344610" cy="653647"/>
          </a:xfrm>
          <a:prstGeom prst="rect">
            <a:avLst/>
          </a:prstGeom>
          <a:solidFill>
            <a:srgbClr val="8A0000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25" name="Arrow: Left 24">
            <a:extLst>
              <a:ext uri="{FF2B5EF4-FFF2-40B4-BE49-F238E27FC236}">
                <a16:creationId xmlns:a16="http://schemas.microsoft.com/office/drawing/2014/main" id="{7C8BDC4F-00B5-2697-4679-2337D4D31932}"/>
              </a:ext>
            </a:extLst>
          </p:cNvPr>
          <p:cNvSpPr/>
          <p:nvPr/>
        </p:nvSpPr>
        <p:spPr bwMode="auto">
          <a:xfrm>
            <a:off x="2862947" y="5747237"/>
            <a:ext cx="1020916" cy="584998"/>
          </a:xfrm>
          <a:prstGeom prst="leftArrow">
            <a:avLst>
              <a:gd name="adj1" fmla="val 571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Create Branch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5C534F-78CD-9888-7AF2-44CFE54C9296}"/>
              </a:ext>
            </a:extLst>
          </p:cNvPr>
          <p:cNvSpPr/>
          <p:nvPr/>
        </p:nvSpPr>
        <p:spPr bwMode="auto">
          <a:xfrm>
            <a:off x="1503226" y="5703919"/>
            <a:ext cx="1344610" cy="663325"/>
          </a:xfrm>
          <a:prstGeom prst="rect">
            <a:avLst/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4B2D00-D4AC-20AF-C477-76C1BF447E9F}"/>
              </a:ext>
            </a:extLst>
          </p:cNvPr>
          <p:cNvSpPr/>
          <p:nvPr/>
        </p:nvSpPr>
        <p:spPr bwMode="auto">
          <a:xfrm>
            <a:off x="3897965" y="4336832"/>
            <a:ext cx="1344611" cy="66332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5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293FC32-E1E0-A2AC-C9A7-660F7A50ED06}"/>
              </a:ext>
            </a:extLst>
          </p:cNvPr>
          <p:cNvSpPr/>
          <p:nvPr/>
        </p:nvSpPr>
        <p:spPr bwMode="auto">
          <a:xfrm>
            <a:off x="4065217" y="5008798"/>
            <a:ext cx="1020915" cy="702653"/>
          </a:xfrm>
          <a:prstGeom prst="downArrow">
            <a:avLst>
              <a:gd name="adj1" fmla="val 67807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Commit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to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GIT</a:t>
            </a:r>
          </a:p>
        </p:txBody>
      </p:sp>
      <p:sp>
        <p:nvSpPr>
          <p:cNvPr id="29" name="Arrow: Up 28">
            <a:extLst>
              <a:ext uri="{FF2B5EF4-FFF2-40B4-BE49-F238E27FC236}">
                <a16:creationId xmlns:a16="http://schemas.microsoft.com/office/drawing/2014/main" id="{8E9CC8F8-91C6-6E06-459D-04AB32D35A7C}"/>
              </a:ext>
            </a:extLst>
          </p:cNvPr>
          <p:cNvSpPr/>
          <p:nvPr/>
        </p:nvSpPr>
        <p:spPr bwMode="auto">
          <a:xfrm>
            <a:off x="1665073" y="4971052"/>
            <a:ext cx="1020915" cy="702653"/>
          </a:xfrm>
          <a:prstGeom prst="up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Update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from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rgbClr val="8A0000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3572052491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4E05-6C1A-111A-95ED-8825D0EB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Post-deploy Jobs versus Post-sync Jobs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D3D8C-4430-F673-BE51-8C3D20C879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4493538"/>
          </a:xfrm>
        </p:spPr>
        <p:txBody>
          <a:bodyPr/>
          <a:lstStyle/>
          <a:p>
            <a:r>
              <a:rPr lang="en-US" dirty="0"/>
              <a:t>Examples of </a:t>
            </a:r>
            <a:r>
              <a:rPr lang="en-US" sz="2200" b="1" dirty="0">
                <a:solidFill>
                  <a:srgbClr val="8A0000"/>
                </a:solidFill>
              </a:rPr>
              <a:t>Post-deploy jobs</a:t>
            </a:r>
            <a:r>
              <a:rPr lang="en-US" dirty="0"/>
              <a:t> that run only once after workspace is first initialized</a:t>
            </a:r>
          </a:p>
          <a:p>
            <a:pPr marL="801688" lvl="1" indent="-344488">
              <a:buFont typeface="+mj-lt"/>
              <a:buAutoNum type="arabicPeriod"/>
            </a:pPr>
            <a:r>
              <a:rPr lang="en-US" dirty="0"/>
              <a:t>Process ETL jobs by running notebooks, pipelines, copy jobs, dataflows, etc.</a:t>
            </a:r>
          </a:p>
          <a:p>
            <a:pPr marL="801688" lvl="1" indent="-344488">
              <a:buFont typeface="+mj-lt"/>
              <a:buAutoNum type="arabicPeriod"/>
            </a:pPr>
            <a:r>
              <a:rPr lang="en-US" dirty="0"/>
              <a:t>Call </a:t>
            </a:r>
            <a:r>
              <a:rPr lang="en-US" sz="1800" b="1" dirty="0">
                <a:solidFill>
                  <a:srgbClr val="8A0000"/>
                </a:solidFill>
              </a:rPr>
              <a:t>Refresh </a:t>
            </a:r>
            <a:r>
              <a:rPr lang="en-US" sz="1800" b="1" dirty="0" err="1">
                <a:solidFill>
                  <a:srgbClr val="8A0000"/>
                </a:solidFill>
              </a:rPr>
              <a:t>Sql</a:t>
            </a:r>
            <a:r>
              <a:rPr lang="en-US" sz="1800" b="1" dirty="0">
                <a:solidFill>
                  <a:srgbClr val="8A0000"/>
                </a:solidFill>
              </a:rPr>
              <a:t> Endpoint Metadata</a:t>
            </a:r>
            <a:r>
              <a:rPr lang="en-US" dirty="0"/>
              <a:t> API</a:t>
            </a:r>
          </a:p>
          <a:p>
            <a:pPr marL="801688" lvl="1" indent="-344488">
              <a:buFont typeface="+mj-lt"/>
              <a:buAutoNum type="arabicPeriod"/>
            </a:pPr>
            <a:r>
              <a:rPr lang="en-US" dirty="0"/>
              <a:t>Create connections and bind them to semantic models</a:t>
            </a:r>
          </a:p>
          <a:p>
            <a:pPr lvl="1"/>
            <a:endParaRPr lang="en-US" dirty="0"/>
          </a:p>
          <a:p>
            <a:r>
              <a:rPr lang="en-US" dirty="0"/>
              <a:t>Examples of </a:t>
            </a:r>
            <a:r>
              <a:rPr lang="en-US" sz="2200" b="1" dirty="0">
                <a:solidFill>
                  <a:srgbClr val="8A0000"/>
                </a:solidFill>
              </a:rPr>
              <a:t>Post-sync jobs</a:t>
            </a:r>
            <a:r>
              <a:rPr lang="en-US" dirty="0"/>
              <a:t> that run each time after an </a:t>
            </a:r>
            <a:r>
              <a:rPr lang="en-US" sz="2000" b="1" dirty="0">
                <a:solidFill>
                  <a:srgbClr val="8A0000"/>
                </a:solidFill>
              </a:rPr>
              <a:t>Update from GIT</a:t>
            </a:r>
            <a:r>
              <a:rPr lang="en-US" dirty="0"/>
              <a:t> operation</a:t>
            </a:r>
          </a:p>
          <a:p>
            <a:pPr marL="801688" lvl="1" indent="-288925">
              <a:buFont typeface="+mj-lt"/>
              <a:buAutoNum type="arabicPeriod"/>
            </a:pPr>
            <a:r>
              <a:rPr lang="en-US" dirty="0"/>
              <a:t>Rebind a notebook to a lakehouse</a:t>
            </a:r>
          </a:p>
          <a:p>
            <a:pPr marL="801688" lvl="1" indent="-288925">
              <a:buFont typeface="+mj-lt"/>
              <a:buAutoNum type="arabicPeriod"/>
            </a:pPr>
            <a:r>
              <a:rPr lang="en-US" dirty="0"/>
              <a:t>Update external datasource path for semantic model with environment-specific settings</a:t>
            </a:r>
          </a:p>
          <a:p>
            <a:pPr marL="801688" lvl="1" indent="-288925">
              <a:buFont typeface="+mj-lt"/>
              <a:buAutoNum type="arabicPeriod"/>
            </a:pPr>
            <a:r>
              <a:rPr lang="en-US" dirty="0"/>
              <a:t>Update datasource for DirectLake semantic model to reference lakehouse in same workspace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436509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60706-1360-5073-2361-54D8DEA61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93F4-3AE7-35C9-AD43-48538360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Feature Workspace using APIs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A1433-47BE-A5BE-4007-337C8B6812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138773"/>
          </a:xfrm>
        </p:spPr>
        <p:txBody>
          <a:bodyPr/>
          <a:lstStyle/>
          <a:p>
            <a:r>
              <a:rPr lang="en-US" dirty="0"/>
              <a:t>You can write scripts to create and configure feature workspaces</a:t>
            </a:r>
          </a:p>
          <a:p>
            <a:pPr lvl="1"/>
            <a:r>
              <a:rPr lang="en-US" dirty="0"/>
              <a:t>You can prepare workspace for dev work by running ETL jobs and connecting semantic models</a:t>
            </a:r>
          </a:p>
          <a:p>
            <a:pPr lvl="1"/>
            <a:r>
              <a:rPr lang="en-US" dirty="0"/>
              <a:t>You can deal with environment-specific settings that have been persisted into GIT branch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16607D-8232-669B-7CC5-706D83498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417" y="2482584"/>
            <a:ext cx="6375580" cy="44247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76897085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360D4-76C5-D930-D538-9D1DB8EF3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Workflow To Keep the dev Workspace in Sync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74DAD-E95C-4AC4-E67E-9ACF56D5F7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Workflow created with trigger to run upon pull request completion</a:t>
            </a:r>
          </a:p>
          <a:p>
            <a:pPr lvl="1"/>
            <a:r>
              <a:rPr lang="en-US" dirty="0"/>
              <a:t> Workflow runs after changes have been merged to integration branch</a:t>
            </a:r>
          </a:p>
          <a:p>
            <a:pPr lvl="1"/>
            <a:r>
              <a:rPr lang="en-US" dirty="0"/>
              <a:t>Workflow starts by running Update from GIT operation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77042E-1009-A80C-7D1A-5FA49359B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991" y="2598144"/>
            <a:ext cx="6049902" cy="42058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9CA8EC-31F3-8B66-9870-4EFA44C1F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77" y="2598144"/>
            <a:ext cx="3272439" cy="19690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75844028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6CACD-2B0A-F118-8331-BFE12B53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642459A4-2056-38B3-2A92-A5DF3A0FF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3280366"/>
            <a:ext cx="11672047" cy="928011"/>
          </a:xfrm>
        </p:spPr>
        <p:txBody>
          <a:bodyPr/>
          <a:lstStyle/>
          <a:p>
            <a:r>
              <a:rPr lang="en-US" sz="4400" dirty="0"/>
              <a:t>Building a Release Process</a:t>
            </a:r>
          </a:p>
        </p:txBody>
      </p:sp>
    </p:spTree>
    <p:extLst>
      <p:ext uri="{BB962C8B-B14F-4D97-AF65-F5344CB8AC3E}">
        <p14:creationId xmlns:p14="http://schemas.microsoft.com/office/powerpoint/2010/main" val="49083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AF28-0087-4CE3-D954-94C69CC53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</a:t>
            </a:r>
            <a:r>
              <a:rPr lang="en-US" dirty="0" err="1"/>
              <a:t>th</a:t>
            </a:r>
            <a:r>
              <a:rPr lang="en-US" dirty="0"/>
              <a:t> Release Process for Continuous </a:t>
            </a:r>
            <a:r>
              <a:rPr lang="en-US" dirty="0" err="1"/>
              <a:t>Intergation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A76A7-19C5-F2C7-92DA-4C1D437D04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5555367"/>
          </a:xfrm>
        </p:spPr>
        <p:txBody>
          <a:bodyPr/>
          <a:lstStyle/>
          <a:p>
            <a:r>
              <a:rPr lang="en-US" dirty="0"/>
              <a:t>Release process built to deploy updates from integration branch to </a:t>
            </a:r>
            <a:r>
              <a:rPr lang="en-US" sz="20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2000" b="1" dirty="0">
                <a:solidFill>
                  <a:srgbClr val="8A0000"/>
                </a:solidFill>
              </a:rPr>
              <a:t>prod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Deploy to </a:t>
            </a:r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workspace for testing and, once approved, deploy to </a:t>
            </a:r>
            <a:r>
              <a:rPr lang="en-US" sz="1800" b="1" dirty="0">
                <a:solidFill>
                  <a:srgbClr val="8A0000"/>
                </a:solidFill>
              </a:rPr>
              <a:t>prod</a:t>
            </a:r>
            <a:r>
              <a:rPr lang="en-US" dirty="0"/>
              <a:t> workspace</a:t>
            </a:r>
          </a:p>
          <a:p>
            <a:pPr>
              <a:spcBef>
                <a:spcPts val="2400"/>
              </a:spcBef>
            </a:pPr>
            <a:endParaRPr lang="en-US" dirty="0"/>
          </a:p>
          <a:p>
            <a:pPr>
              <a:spcBef>
                <a:spcPts val="2400"/>
              </a:spcBef>
            </a:pPr>
            <a:endParaRPr lang="en-US" dirty="0"/>
          </a:p>
          <a:p>
            <a:pPr lvl="1">
              <a:spcBef>
                <a:spcPts val="2400"/>
              </a:spcBef>
            </a:pPr>
            <a:endParaRPr lang="en-US" dirty="0"/>
          </a:p>
          <a:p>
            <a:pPr lvl="1">
              <a:spcBef>
                <a:spcPts val="2400"/>
              </a:spcBef>
            </a:pPr>
            <a:endParaRPr lang="en-US" dirty="0"/>
          </a:p>
          <a:p>
            <a:pPr>
              <a:spcBef>
                <a:spcPts val="2400"/>
              </a:spcBef>
            </a:pPr>
            <a:r>
              <a:rPr lang="en-US" dirty="0"/>
              <a:t>Choose between several common options for building a release process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Option 1</a:t>
            </a:r>
            <a:r>
              <a:rPr lang="en-US" dirty="0"/>
              <a:t>: Build the release process using </a:t>
            </a:r>
            <a:r>
              <a:rPr lang="en-US" sz="1800" b="1" dirty="0">
                <a:solidFill>
                  <a:srgbClr val="8A0000"/>
                </a:solidFill>
              </a:rPr>
              <a:t>deployment pipelines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Option 2</a:t>
            </a:r>
            <a:r>
              <a:rPr lang="en-US" dirty="0"/>
              <a:t>: Build the release process using </a:t>
            </a:r>
            <a:r>
              <a:rPr lang="en-US" sz="1800" b="1" dirty="0">
                <a:solidFill>
                  <a:srgbClr val="8A0000"/>
                </a:solidFill>
              </a:rPr>
              <a:t>GIT synchronization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Option 3</a:t>
            </a:r>
            <a:r>
              <a:rPr lang="en-US" dirty="0"/>
              <a:t>: Build the release process using </a:t>
            </a:r>
            <a:r>
              <a:rPr lang="en-US" sz="1800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and </a:t>
            </a:r>
            <a:r>
              <a:rPr lang="en-US" sz="1800" b="1" dirty="0" err="1">
                <a:solidFill>
                  <a:srgbClr val="8A0000"/>
                </a:solidFill>
              </a:rPr>
              <a:t>GitFlow</a:t>
            </a:r>
            <a:r>
              <a:rPr lang="en-US" dirty="0"/>
              <a:t> branching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Option 4</a:t>
            </a:r>
            <a:r>
              <a:rPr lang="en-US" dirty="0"/>
              <a:t>: Build the release process using </a:t>
            </a:r>
            <a:r>
              <a:rPr lang="en-US" sz="1800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release flow</a:t>
            </a:r>
            <a:r>
              <a:rPr lang="en-US" dirty="0"/>
              <a:t> branching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F6FF3E-771F-AD12-8DA9-A4D141C3BF9C}"/>
              </a:ext>
            </a:extLst>
          </p:cNvPr>
          <p:cNvGrpSpPr/>
          <p:nvPr/>
        </p:nvGrpSpPr>
        <p:grpSpPr>
          <a:xfrm>
            <a:off x="1117091" y="2128558"/>
            <a:ext cx="6527293" cy="2437909"/>
            <a:chOff x="998219" y="2878366"/>
            <a:chExt cx="7734302" cy="28887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E24531B-8FAA-C307-4FEC-40304229C0FC}"/>
                </a:ext>
              </a:extLst>
            </p:cNvPr>
            <p:cNvSpPr/>
            <p:nvPr/>
          </p:nvSpPr>
          <p:spPr bwMode="auto">
            <a:xfrm>
              <a:off x="998219" y="2878366"/>
              <a:ext cx="4869065" cy="288872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Development Process (CI)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ABFA2AE-6E8B-F0C4-2F82-B69C4D2DB2E2}"/>
                </a:ext>
              </a:extLst>
            </p:cNvPr>
            <p:cNvSpPr/>
            <p:nvPr/>
          </p:nvSpPr>
          <p:spPr bwMode="auto">
            <a:xfrm>
              <a:off x="6030031" y="2878366"/>
              <a:ext cx="2702490" cy="2888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Release Process (CD)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1D54CF8-277F-4BEB-E10A-A083652D8FBA}"/>
                </a:ext>
              </a:extLst>
            </p:cNvPr>
            <p:cNvGrpSpPr/>
            <p:nvPr/>
          </p:nvGrpSpPr>
          <p:grpSpPr>
            <a:xfrm>
              <a:off x="1138108" y="4282427"/>
              <a:ext cx="3113579" cy="975768"/>
              <a:chOff x="1854618" y="1506117"/>
              <a:chExt cx="3443987" cy="139270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61427ECF-F91C-F61E-15D4-5CB4B90CAF10}"/>
                  </a:ext>
                </a:extLst>
              </p:cNvPr>
              <p:cNvGrpSpPr/>
              <p:nvPr/>
            </p:nvGrpSpPr>
            <p:grpSpPr>
              <a:xfrm>
                <a:off x="1854618" y="1506117"/>
                <a:ext cx="3443987" cy="614039"/>
                <a:chOff x="1194579" y="1506117"/>
                <a:chExt cx="4104026" cy="695707"/>
              </a:xfrm>
            </p:grpSpPr>
            <p:sp>
              <p:nvSpPr>
                <p:cNvPr id="28" name="Arrow: Right 27">
                  <a:extLst>
                    <a:ext uri="{FF2B5EF4-FFF2-40B4-BE49-F238E27FC236}">
                      <a16:creationId xmlns:a16="http://schemas.microsoft.com/office/drawing/2014/main" id="{64965567-A564-68F8-6FA2-0642CE64F363}"/>
                    </a:ext>
                  </a:extLst>
                </p:cNvPr>
                <p:cNvSpPr/>
                <p:nvPr/>
              </p:nvSpPr>
              <p:spPr bwMode="auto">
                <a:xfrm>
                  <a:off x="4796382" y="1681008"/>
                  <a:ext cx="502223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1992BC9A-11CA-A82A-B31B-3DA93BB52652}"/>
                    </a:ext>
                  </a:extLst>
                </p:cNvPr>
                <p:cNvSpPr/>
                <p:nvPr/>
              </p:nvSpPr>
              <p:spPr bwMode="auto">
                <a:xfrm>
                  <a:off x="3504794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21F49DBB-3951-A785-47EE-461125200325}"/>
                    </a:ext>
                  </a:extLst>
                </p:cNvPr>
                <p:cNvSpPr/>
                <p:nvPr/>
              </p:nvSpPr>
              <p:spPr bwMode="auto">
                <a:xfrm>
                  <a:off x="1194579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31" name="Arrow: Left-Right 30">
                  <a:extLst>
                    <a:ext uri="{FF2B5EF4-FFF2-40B4-BE49-F238E27FC236}">
                      <a16:creationId xmlns:a16="http://schemas.microsoft.com/office/drawing/2014/main" id="{C1B792C2-4C61-5D18-7B98-DC805B171468}"/>
                    </a:ext>
                  </a:extLst>
                </p:cNvPr>
                <p:cNvSpPr/>
                <p:nvPr/>
              </p:nvSpPr>
              <p:spPr bwMode="auto">
                <a:xfrm flipH="1">
                  <a:off x="2536213" y="1681008"/>
                  <a:ext cx="925970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E6C7B83-4493-93C4-BD84-DA3FAB8F6AC0}"/>
                  </a:ext>
                </a:extLst>
              </p:cNvPr>
              <p:cNvGrpSpPr/>
              <p:nvPr/>
            </p:nvGrpSpPr>
            <p:grpSpPr>
              <a:xfrm>
                <a:off x="1879901" y="2284778"/>
                <a:ext cx="3418704" cy="614039"/>
                <a:chOff x="1224707" y="1506117"/>
                <a:chExt cx="4073898" cy="695707"/>
              </a:xfrm>
            </p:grpSpPr>
            <p:sp>
              <p:nvSpPr>
                <p:cNvPr id="24" name="Arrow: Right 23">
                  <a:extLst>
                    <a:ext uri="{FF2B5EF4-FFF2-40B4-BE49-F238E27FC236}">
                      <a16:creationId xmlns:a16="http://schemas.microsoft.com/office/drawing/2014/main" id="{7C943FE2-42F7-754A-0973-A3DAD9228796}"/>
                    </a:ext>
                  </a:extLst>
                </p:cNvPr>
                <p:cNvSpPr/>
                <p:nvPr/>
              </p:nvSpPr>
              <p:spPr bwMode="auto">
                <a:xfrm>
                  <a:off x="4796382" y="1681008"/>
                  <a:ext cx="502223" cy="345925"/>
                </a:xfrm>
                <a:prstGeom prst="rightArrow">
                  <a:avLst>
                    <a:gd name="adj1" fmla="val 61383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93593FD3-BCBD-0A37-50AD-017B19A37F29}"/>
                    </a:ext>
                  </a:extLst>
                </p:cNvPr>
                <p:cNvSpPr/>
                <p:nvPr/>
              </p:nvSpPr>
              <p:spPr bwMode="auto">
                <a:xfrm>
                  <a:off x="3517172" y="1506117"/>
                  <a:ext cx="1261062" cy="695707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branch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422AE5DC-A4B3-BCB1-075B-627C36C23375}"/>
                    </a:ext>
                  </a:extLst>
                </p:cNvPr>
                <p:cNvSpPr/>
                <p:nvPr/>
              </p:nvSpPr>
              <p:spPr bwMode="auto">
                <a:xfrm>
                  <a:off x="1224707" y="1506117"/>
                  <a:ext cx="1261062" cy="695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75000"/>
                    </a:schemeClr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feature</a:t>
                  </a:r>
                </a:p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700" b="1" dirty="0">
                      <a:solidFill>
                        <a:schemeClr val="tx1"/>
                      </a:solidFill>
                      <a:latin typeface="Lucida Console" panose="020B0609040504020204" pitchFamily="49" charset="0"/>
                      <a:ea typeface="Segoe UI" pitchFamily="34" charset="0"/>
                      <a:cs typeface="Segoe UI" pitchFamily="34" charset="0"/>
                    </a:rPr>
                    <a:t>workspace</a:t>
                  </a:r>
                </a:p>
              </p:txBody>
            </p:sp>
            <p:sp>
              <p:nvSpPr>
                <p:cNvPr id="27" name="Arrow: Left-Right 26">
                  <a:extLst>
                    <a:ext uri="{FF2B5EF4-FFF2-40B4-BE49-F238E27FC236}">
                      <a16:creationId xmlns:a16="http://schemas.microsoft.com/office/drawing/2014/main" id="{566E8484-FBBA-A17A-D40D-95240201C7DE}"/>
                    </a:ext>
                  </a:extLst>
                </p:cNvPr>
                <p:cNvSpPr/>
                <p:nvPr/>
              </p:nvSpPr>
              <p:spPr bwMode="auto">
                <a:xfrm flipH="1">
                  <a:off x="2536212" y="1681008"/>
                  <a:ext cx="920226" cy="345925"/>
                </a:xfrm>
                <a:prstGeom prst="leftRightArrow">
                  <a:avLst>
                    <a:gd name="adj1" fmla="val 62628"/>
                    <a:gd name="adj2" fmla="val 50000"/>
                  </a:avLst>
                </a:prstGeom>
                <a:solidFill>
                  <a:srgbClr val="C000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7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C26B5CE-F926-A859-8A17-8ECD52642020}"/>
                </a:ext>
              </a:extLst>
            </p:cNvPr>
            <p:cNvGrpSpPr/>
            <p:nvPr/>
          </p:nvGrpSpPr>
          <p:grpSpPr>
            <a:xfrm>
              <a:off x="4386498" y="3042990"/>
              <a:ext cx="1140078" cy="2247676"/>
              <a:chOff x="5239777" y="695739"/>
              <a:chExt cx="1261062" cy="2601961"/>
            </a:xfrm>
            <a:solidFill>
              <a:schemeClr val="accent4"/>
            </a:solidFill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2FC58EC-BEEE-93D2-88FB-C52735684308}"/>
                  </a:ext>
                </a:extLst>
              </p:cNvPr>
              <p:cNvSpPr/>
              <p:nvPr/>
            </p:nvSpPr>
            <p:spPr bwMode="auto">
              <a:xfrm>
                <a:off x="5239777" y="2022754"/>
                <a:ext cx="1261062" cy="1274946"/>
              </a:xfrm>
              <a:prstGeom prst="rect">
                <a:avLst/>
              </a:pr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integration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36E3131-54C9-6AB8-1DF2-DEF36C082EE7}"/>
                  </a:ext>
                </a:extLst>
              </p:cNvPr>
              <p:cNvSpPr/>
              <p:nvPr/>
            </p:nvSpPr>
            <p:spPr bwMode="auto">
              <a:xfrm>
                <a:off x="5239777" y="695739"/>
                <a:ext cx="1261062" cy="853809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50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1" name="Arrow: Right 20">
                <a:extLst>
                  <a:ext uri="{FF2B5EF4-FFF2-40B4-BE49-F238E27FC236}">
                    <a16:creationId xmlns:a16="http://schemas.microsoft.com/office/drawing/2014/main" id="{60B77C76-058D-CEB1-096D-B3DE650A1955}"/>
                  </a:ext>
                </a:extLst>
              </p:cNvPr>
              <p:cNvSpPr/>
              <p:nvPr/>
            </p:nvSpPr>
            <p:spPr bwMode="auto">
              <a:xfrm rot="16200000">
                <a:off x="5666768" y="1663964"/>
                <a:ext cx="407079" cy="282097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D5ADB22-F3D0-2ED8-5BFC-D77D05802E4E}"/>
                </a:ext>
              </a:extLst>
            </p:cNvPr>
            <p:cNvSpPr/>
            <p:nvPr/>
          </p:nvSpPr>
          <p:spPr bwMode="auto">
            <a:xfrm>
              <a:off x="7296447" y="3313589"/>
              <a:ext cx="1140078" cy="737554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DF0663B9-0E17-F59C-7E02-0FADA95FA3EC}"/>
                </a:ext>
              </a:extLst>
            </p:cNvPr>
            <p:cNvSpPr/>
            <p:nvPr/>
          </p:nvSpPr>
          <p:spPr bwMode="auto">
            <a:xfrm>
              <a:off x="6149302" y="3780544"/>
              <a:ext cx="1027873" cy="92721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3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?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9A59961-749A-AA76-8748-E630C5DB16C3}"/>
                </a:ext>
              </a:extLst>
            </p:cNvPr>
            <p:cNvSpPr/>
            <p:nvPr/>
          </p:nvSpPr>
          <p:spPr bwMode="auto">
            <a:xfrm>
              <a:off x="7296447" y="4371215"/>
              <a:ext cx="1140078" cy="73755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4413708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6907D-20D1-1514-8462-548723B35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68C7C-C21C-5F7D-698D-2C8737E73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1: Release Process using Deployment Pipelines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6ED71-EC59-1719-2845-56C78AF62D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Use GIT integration for CI and deployment pipeline for CD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main</a:t>
            </a:r>
            <a:r>
              <a:rPr lang="en-US" dirty="0"/>
              <a:t> branch serves as integration branch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workspace kept in sync with </a:t>
            </a:r>
            <a:r>
              <a:rPr lang="en-US" sz="1800" b="1" dirty="0">
                <a:solidFill>
                  <a:srgbClr val="8A0000"/>
                </a:solidFill>
              </a:rPr>
              <a:t>main</a:t>
            </a:r>
            <a:r>
              <a:rPr lang="en-US" dirty="0"/>
              <a:t> branch using automated </a:t>
            </a:r>
            <a:r>
              <a:rPr lang="en-US" sz="1800" b="1" dirty="0">
                <a:solidFill>
                  <a:srgbClr val="8A0000"/>
                </a:solidFill>
              </a:rPr>
              <a:t>Update from GIT</a:t>
            </a:r>
            <a:r>
              <a:rPr lang="en-US" dirty="0"/>
              <a:t> action</a:t>
            </a:r>
          </a:p>
          <a:p>
            <a:pPr lvl="1"/>
            <a:r>
              <a:rPr lang="en-US" dirty="0"/>
              <a:t>Workspace item changes moves across workspaces using deployment pipeline </a:t>
            </a:r>
            <a:r>
              <a:rPr lang="en-US" sz="1800" b="1" dirty="0">
                <a:solidFill>
                  <a:srgbClr val="8A0000"/>
                </a:solidFill>
              </a:rPr>
              <a:t>Deploy</a:t>
            </a:r>
            <a:r>
              <a:rPr lang="en-US" dirty="0"/>
              <a:t> action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FE0FFD9-7992-6F28-5E0D-6A479BFF11FE}"/>
              </a:ext>
            </a:extLst>
          </p:cNvPr>
          <p:cNvGrpSpPr/>
          <p:nvPr/>
        </p:nvGrpSpPr>
        <p:grpSpPr>
          <a:xfrm>
            <a:off x="1088136" y="2981217"/>
            <a:ext cx="6007608" cy="2785869"/>
            <a:chOff x="1655064" y="2837691"/>
            <a:chExt cx="6592824" cy="333450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BC7124B-3D74-F5C0-172C-6ABF71442944}"/>
                </a:ext>
              </a:extLst>
            </p:cNvPr>
            <p:cNvSpPr/>
            <p:nvPr/>
          </p:nvSpPr>
          <p:spPr bwMode="auto">
            <a:xfrm>
              <a:off x="1655064" y="2837691"/>
              <a:ext cx="6592824" cy="33345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CA976C5-54C1-82F6-6A16-A22407627BAF}"/>
                </a:ext>
              </a:extLst>
            </p:cNvPr>
            <p:cNvGrpSpPr/>
            <p:nvPr/>
          </p:nvGrpSpPr>
          <p:grpSpPr>
            <a:xfrm>
              <a:off x="1789970" y="3032081"/>
              <a:ext cx="6278868" cy="1722505"/>
              <a:chOff x="4345542" y="2777855"/>
              <a:chExt cx="6278868" cy="18825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C6ABD75-0ACF-05EA-77C8-6A3BF8E0CFE9}"/>
                  </a:ext>
                </a:extLst>
              </p:cNvPr>
              <p:cNvSpPr/>
              <p:nvPr/>
            </p:nvSpPr>
            <p:spPr bwMode="auto">
              <a:xfrm>
                <a:off x="4345542" y="3114012"/>
                <a:ext cx="6278868" cy="15463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4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0E8BD0E-879B-E129-C290-5758ADF264D8}"/>
                  </a:ext>
                </a:extLst>
              </p:cNvPr>
              <p:cNvSpPr/>
              <p:nvPr/>
            </p:nvSpPr>
            <p:spPr bwMode="auto">
              <a:xfrm>
                <a:off x="4345542" y="2777855"/>
                <a:ext cx="6278868" cy="33615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Fabric Deployment Pipeline</a:t>
                </a:r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4D200BE-A4B3-F714-BF31-25D547A5E611}"/>
                </a:ext>
              </a:extLst>
            </p:cNvPr>
            <p:cNvSpPr/>
            <p:nvPr/>
          </p:nvSpPr>
          <p:spPr bwMode="auto">
            <a:xfrm>
              <a:off x="1894883" y="5129106"/>
              <a:ext cx="1140078" cy="878502"/>
            </a:xfrm>
            <a:prstGeom prst="rect">
              <a:avLst/>
            </a:prstGeom>
            <a:solidFill>
              <a:schemeClr val="accent4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F688C21-93A3-F33A-A811-407376E91974}"/>
                </a:ext>
              </a:extLst>
            </p:cNvPr>
            <p:cNvSpPr/>
            <p:nvPr/>
          </p:nvSpPr>
          <p:spPr bwMode="auto">
            <a:xfrm>
              <a:off x="1943526" y="3638496"/>
              <a:ext cx="1140078" cy="737554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9D41071-4002-BBBD-6B3B-47E239275E8E}"/>
                </a:ext>
              </a:extLst>
            </p:cNvPr>
            <p:cNvSpPr/>
            <p:nvPr/>
          </p:nvSpPr>
          <p:spPr bwMode="auto">
            <a:xfrm>
              <a:off x="4212782" y="3638496"/>
              <a:ext cx="1140078" cy="737554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194448B-2666-0FD1-39D5-A51788E60CE9}"/>
                </a:ext>
              </a:extLst>
            </p:cNvPr>
            <p:cNvSpPr/>
            <p:nvPr/>
          </p:nvSpPr>
          <p:spPr bwMode="auto">
            <a:xfrm>
              <a:off x="6389894" y="3637128"/>
              <a:ext cx="1140078" cy="73755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22" name="Arrow: Left 21">
              <a:extLst>
                <a:ext uri="{FF2B5EF4-FFF2-40B4-BE49-F238E27FC236}">
                  <a16:creationId xmlns:a16="http://schemas.microsoft.com/office/drawing/2014/main" id="{FDDD173A-097D-C881-BC7D-56951B8055B3}"/>
                </a:ext>
              </a:extLst>
            </p:cNvPr>
            <p:cNvSpPr/>
            <p:nvPr/>
          </p:nvSpPr>
          <p:spPr bwMode="auto">
            <a:xfrm flipH="1">
              <a:off x="3179029" y="3694516"/>
              <a:ext cx="938328" cy="58334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  <p:sp>
          <p:nvSpPr>
            <p:cNvPr id="23" name="Arrow: Up 22">
              <a:extLst>
                <a:ext uri="{FF2B5EF4-FFF2-40B4-BE49-F238E27FC236}">
                  <a16:creationId xmlns:a16="http://schemas.microsoft.com/office/drawing/2014/main" id="{624265DE-5FA6-D98D-7E16-C4CBE4FB0FF9}"/>
                </a:ext>
              </a:extLst>
            </p:cNvPr>
            <p:cNvSpPr/>
            <p:nvPr/>
          </p:nvSpPr>
          <p:spPr bwMode="auto">
            <a:xfrm>
              <a:off x="2139047" y="4383254"/>
              <a:ext cx="651749" cy="734108"/>
            </a:xfrm>
            <a:prstGeom prst="upArrow">
              <a:avLst>
                <a:gd name="adj1" fmla="val 70327"/>
                <a:gd name="adj2" fmla="val 37681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Update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from GIT</a:t>
              </a:r>
            </a:p>
          </p:txBody>
        </p:sp>
        <p:sp>
          <p:nvSpPr>
            <p:cNvPr id="24" name="Arrow: Left 23">
              <a:extLst>
                <a:ext uri="{FF2B5EF4-FFF2-40B4-BE49-F238E27FC236}">
                  <a16:creationId xmlns:a16="http://schemas.microsoft.com/office/drawing/2014/main" id="{63FC887E-9FA1-91F5-DC0B-4C9D251F2BB7}"/>
                </a:ext>
              </a:extLst>
            </p:cNvPr>
            <p:cNvSpPr/>
            <p:nvPr/>
          </p:nvSpPr>
          <p:spPr bwMode="auto">
            <a:xfrm flipH="1">
              <a:off x="5415206" y="3675523"/>
              <a:ext cx="938328" cy="58334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0070621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E0DD6F0-AF31-D1B8-EFB7-54CFE641D83C}"/>
              </a:ext>
            </a:extLst>
          </p:cNvPr>
          <p:cNvGrpSpPr/>
          <p:nvPr/>
        </p:nvGrpSpPr>
        <p:grpSpPr>
          <a:xfrm>
            <a:off x="1142033" y="3085195"/>
            <a:ext cx="6694375" cy="2888720"/>
            <a:chOff x="1361489" y="2554843"/>
            <a:chExt cx="6694375" cy="288872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54FCC9D-8532-18F0-D476-88821A1D8733}"/>
                </a:ext>
              </a:extLst>
            </p:cNvPr>
            <p:cNvSpPr/>
            <p:nvPr/>
          </p:nvSpPr>
          <p:spPr bwMode="auto">
            <a:xfrm>
              <a:off x="1361489" y="2554843"/>
              <a:ext cx="6694375" cy="28887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76C113-7EA8-C3D2-0162-D1EDE79EC86C}"/>
                </a:ext>
              </a:extLst>
            </p:cNvPr>
            <p:cNvSpPr/>
            <p:nvPr/>
          </p:nvSpPr>
          <p:spPr bwMode="auto">
            <a:xfrm>
              <a:off x="1621496" y="4318920"/>
              <a:ext cx="1140078" cy="868081"/>
            </a:xfrm>
            <a:prstGeom prst="rect">
              <a:avLst/>
            </a:prstGeom>
            <a:solidFill>
              <a:schemeClr val="accent4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B30BC97-83F3-7D58-FB35-8BF814BE7E41}"/>
                </a:ext>
              </a:extLst>
            </p:cNvPr>
            <p:cNvSpPr/>
            <p:nvPr/>
          </p:nvSpPr>
          <p:spPr bwMode="auto">
            <a:xfrm>
              <a:off x="1621496" y="2734549"/>
              <a:ext cx="1140078" cy="73755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C50D31E-885D-BC85-3E74-B7986A6AA364}"/>
                </a:ext>
              </a:extLst>
            </p:cNvPr>
            <p:cNvSpPr/>
            <p:nvPr/>
          </p:nvSpPr>
          <p:spPr bwMode="auto">
            <a:xfrm>
              <a:off x="4048682" y="4318920"/>
              <a:ext cx="1140078" cy="868081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D0EB86D-9A52-4187-7EC0-37E4A5E70041}"/>
                </a:ext>
              </a:extLst>
            </p:cNvPr>
            <p:cNvSpPr/>
            <p:nvPr/>
          </p:nvSpPr>
          <p:spPr bwMode="auto">
            <a:xfrm>
              <a:off x="4048682" y="2734549"/>
              <a:ext cx="1140078" cy="737554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38793AE-9EFD-9C73-440B-61F12D8B9085}"/>
                </a:ext>
              </a:extLst>
            </p:cNvPr>
            <p:cNvSpPr/>
            <p:nvPr/>
          </p:nvSpPr>
          <p:spPr bwMode="auto">
            <a:xfrm>
              <a:off x="6528667" y="4318920"/>
              <a:ext cx="1140078" cy="86808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2F062B-0883-3FC3-6C76-5FC60C3267D6}"/>
                </a:ext>
              </a:extLst>
            </p:cNvPr>
            <p:cNvSpPr/>
            <p:nvPr/>
          </p:nvSpPr>
          <p:spPr bwMode="auto">
            <a:xfrm>
              <a:off x="6528667" y="2734549"/>
              <a:ext cx="1140078" cy="73755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7" name="Arrow: Left 16">
              <a:extLst>
                <a:ext uri="{FF2B5EF4-FFF2-40B4-BE49-F238E27FC236}">
                  <a16:creationId xmlns:a16="http://schemas.microsoft.com/office/drawing/2014/main" id="{C880A035-7AB5-882C-BBD9-5D3D417C70F4}"/>
                </a:ext>
              </a:extLst>
            </p:cNvPr>
            <p:cNvSpPr/>
            <p:nvPr/>
          </p:nvSpPr>
          <p:spPr bwMode="auto">
            <a:xfrm flipH="1">
              <a:off x="2802216" y="4461287"/>
              <a:ext cx="1236284" cy="58334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  <p:sp>
          <p:nvSpPr>
            <p:cNvPr id="18" name="Arrow: Up 17">
              <a:extLst>
                <a:ext uri="{FF2B5EF4-FFF2-40B4-BE49-F238E27FC236}">
                  <a16:creationId xmlns:a16="http://schemas.microsoft.com/office/drawing/2014/main" id="{4084AF86-8F1D-F047-1EC1-342DB918EA73}"/>
                </a:ext>
              </a:extLst>
            </p:cNvPr>
            <p:cNvSpPr/>
            <p:nvPr/>
          </p:nvSpPr>
          <p:spPr bwMode="auto">
            <a:xfrm>
              <a:off x="1865661" y="3522421"/>
              <a:ext cx="651749" cy="734108"/>
            </a:xfrm>
            <a:prstGeom prst="upArrow">
              <a:avLst>
                <a:gd name="adj1" fmla="val 70327"/>
                <a:gd name="adj2" fmla="val 37681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Update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from GIT</a:t>
              </a:r>
            </a:p>
          </p:txBody>
        </p:sp>
        <p:sp>
          <p:nvSpPr>
            <p:cNvPr id="19" name="Arrow: Up 18">
              <a:extLst>
                <a:ext uri="{FF2B5EF4-FFF2-40B4-BE49-F238E27FC236}">
                  <a16:creationId xmlns:a16="http://schemas.microsoft.com/office/drawing/2014/main" id="{1306EFA2-0F7A-F348-21F0-58B229CE7C15}"/>
                </a:ext>
              </a:extLst>
            </p:cNvPr>
            <p:cNvSpPr/>
            <p:nvPr/>
          </p:nvSpPr>
          <p:spPr bwMode="auto">
            <a:xfrm>
              <a:off x="4292847" y="3522421"/>
              <a:ext cx="651749" cy="734108"/>
            </a:xfrm>
            <a:prstGeom prst="upArrow">
              <a:avLst>
                <a:gd name="adj1" fmla="val 70327"/>
                <a:gd name="adj2" fmla="val 37681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Update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from GIT</a:t>
              </a:r>
            </a:p>
          </p:txBody>
        </p:sp>
        <p:sp>
          <p:nvSpPr>
            <p:cNvPr id="20" name="Arrow: Left 19">
              <a:extLst>
                <a:ext uri="{FF2B5EF4-FFF2-40B4-BE49-F238E27FC236}">
                  <a16:creationId xmlns:a16="http://schemas.microsoft.com/office/drawing/2014/main" id="{147C6B21-CFBA-3BE5-49CE-DE164EF89E40}"/>
                </a:ext>
              </a:extLst>
            </p:cNvPr>
            <p:cNvSpPr/>
            <p:nvPr/>
          </p:nvSpPr>
          <p:spPr bwMode="auto">
            <a:xfrm flipH="1">
              <a:off x="5233963" y="4461287"/>
              <a:ext cx="1236284" cy="58334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  <p:sp>
          <p:nvSpPr>
            <p:cNvPr id="21" name="Arrow: Up 20">
              <a:extLst>
                <a:ext uri="{FF2B5EF4-FFF2-40B4-BE49-F238E27FC236}">
                  <a16:creationId xmlns:a16="http://schemas.microsoft.com/office/drawing/2014/main" id="{15CBF609-A3A8-3D26-9EEF-1A81D39CE720}"/>
                </a:ext>
              </a:extLst>
            </p:cNvPr>
            <p:cNvSpPr/>
            <p:nvPr/>
          </p:nvSpPr>
          <p:spPr bwMode="auto">
            <a:xfrm>
              <a:off x="6772832" y="3522421"/>
              <a:ext cx="651749" cy="734108"/>
            </a:xfrm>
            <a:prstGeom prst="upArrow">
              <a:avLst>
                <a:gd name="adj1" fmla="val 70327"/>
                <a:gd name="adj2" fmla="val 37681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Update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from GIT</a:t>
              </a:r>
            </a:p>
          </p:txBody>
        </p:sp>
      </p:grpSp>
      <p:sp>
        <p:nvSpPr>
          <p:cNvPr id="22" name="Title 21">
            <a:extLst>
              <a:ext uri="{FF2B5EF4-FFF2-40B4-BE49-F238E27FC236}">
                <a16:creationId xmlns:a16="http://schemas.microsoft.com/office/drawing/2014/main" id="{877EB7E4-9E37-753F-91AF-898F2E47B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2: Release Process using GIT Sync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A7F62D8-9EC4-C688-2159-E8A7A1CEAB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Use GIT synchronization to publish changes to </a:t>
            </a:r>
            <a:r>
              <a:rPr lang="en-US" sz="20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2000" b="1" dirty="0">
                <a:solidFill>
                  <a:srgbClr val="8A0000"/>
                </a:solidFill>
              </a:rPr>
              <a:t>prod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branch serves as integration branch</a:t>
            </a:r>
          </a:p>
          <a:p>
            <a:pPr lvl="1"/>
            <a:r>
              <a:rPr lang="en-US" dirty="0"/>
              <a:t>All workspace kept in sync with underlying branch using automated </a:t>
            </a:r>
            <a:r>
              <a:rPr lang="en-US" sz="1800" b="1" dirty="0">
                <a:solidFill>
                  <a:srgbClr val="8A0000"/>
                </a:solidFill>
              </a:rPr>
              <a:t>Update from GIT</a:t>
            </a:r>
            <a:r>
              <a:rPr lang="en-US" dirty="0"/>
              <a:t> action</a:t>
            </a:r>
          </a:p>
          <a:p>
            <a:pPr lvl="1"/>
            <a:r>
              <a:rPr lang="en-US" dirty="0"/>
              <a:t>Workspace item changes moved across branches using pull request</a:t>
            </a:r>
          </a:p>
        </p:txBody>
      </p:sp>
    </p:spTree>
    <p:extLst>
      <p:ext uri="{BB962C8B-B14F-4D97-AF65-F5344CB8AC3E}">
        <p14:creationId xmlns:p14="http://schemas.microsoft.com/office/powerpoint/2010/main" val="3834323517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655EA-18FE-56CC-FD33-80E4A26D1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fabric-cicd Python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8AC37-A8C3-6A1A-3030-7D1C6CEC29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292935"/>
          </a:xfrm>
        </p:spPr>
        <p:txBody>
          <a:bodyPr/>
          <a:lstStyle/>
          <a:p>
            <a:r>
              <a:rPr lang="en-US" sz="2000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library provides ease-of-use deployment wrapper around Fabric REST APIs</a:t>
            </a:r>
          </a:p>
          <a:p>
            <a:pPr lvl="1"/>
            <a:r>
              <a:rPr lang="en-US" dirty="0"/>
              <a:t>Code-first designed allows for deployment from item definitions folder to target workspace</a:t>
            </a:r>
          </a:p>
          <a:p>
            <a:pPr lvl="1"/>
            <a:r>
              <a:rPr lang="en-US" dirty="0"/>
              <a:t>Built-in code automatically determines &amp; reestablishes dependencies between workspace items</a:t>
            </a:r>
          </a:p>
          <a:p>
            <a:pPr lvl="1"/>
            <a:r>
              <a:rPr lang="en-US" dirty="0"/>
              <a:t>Provides parameterization to deal with environment-specific settings persisted to GIT branch</a:t>
            </a:r>
          </a:p>
          <a:p>
            <a:pPr lvl="1"/>
            <a:r>
              <a:rPr lang="en-US" dirty="0"/>
              <a:t>Provides best practice for building API-driven release process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D08CE9-B258-AE4E-DD1E-354B7A548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390" y="3218791"/>
            <a:ext cx="9717352" cy="284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498907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C3EAD-A9FE-AD69-780E-10430C45F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Configuration-based 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FC3AD-F598-869A-9695-6DB097549E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908215"/>
          </a:xfrm>
        </p:spPr>
        <p:txBody>
          <a:bodyPr/>
          <a:lstStyle/>
          <a:p>
            <a:r>
              <a:rPr lang="en-US" dirty="0"/>
              <a:t>Using configuration-based deployment is recommended with </a:t>
            </a:r>
            <a:r>
              <a:rPr lang="en-US" sz="2000" b="1" dirty="0">
                <a:solidFill>
                  <a:srgbClr val="8A0000"/>
                </a:solidFill>
              </a:rPr>
              <a:t>fabric-cicd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You must create YAML file (e.g. </a:t>
            </a:r>
            <a:r>
              <a:rPr lang="en-US" sz="1800" b="1" dirty="0" err="1">
                <a:solidFill>
                  <a:srgbClr val="8A0000"/>
                </a:solidFill>
              </a:rPr>
              <a:t>deploy.yml</a:t>
            </a:r>
            <a:r>
              <a:rPr lang="en-US" dirty="0"/>
              <a:t>) containing basic deployment information</a:t>
            </a:r>
          </a:p>
          <a:p>
            <a:pPr lvl="1"/>
            <a:r>
              <a:rPr lang="en-US" dirty="0"/>
              <a:t>Deployment configures environments such as </a:t>
            </a:r>
            <a:r>
              <a:rPr lang="en-US" sz="18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, </a:t>
            </a:r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prod</a:t>
            </a:r>
            <a:r>
              <a:rPr lang="en-US" dirty="0"/>
              <a:t> as deployment targets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automatically activates value set in variable library if name matches environment name</a:t>
            </a:r>
          </a:p>
          <a:p>
            <a:pPr lvl="1"/>
            <a:r>
              <a:rPr lang="en-US" dirty="0"/>
              <a:t>Older style of calling publish_all_items still supported for backwards compatibility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B4CDB9-CC78-DDBE-78D3-AB353DD40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56" y="3399592"/>
            <a:ext cx="3867019" cy="32427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03CF20-8B5B-821C-FB54-267EC6FFF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190" y="3399592"/>
            <a:ext cx="5162730" cy="30852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7606991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4F02-8C69-C9A1-659F-0818B4AC5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3: Release Process using fabric-cicd and </a:t>
            </a:r>
            <a:r>
              <a:rPr lang="en-US" dirty="0" err="1"/>
              <a:t>GitFlow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5D563-D6C4-1F0F-37F2-9DBE46534C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Use </a:t>
            </a:r>
            <a:r>
              <a:rPr lang="en-US" sz="2000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library to deploy changes to </a:t>
            </a:r>
            <a:r>
              <a:rPr lang="en-US" sz="20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2000" b="1" dirty="0">
                <a:solidFill>
                  <a:srgbClr val="8A0000"/>
                </a:solidFill>
              </a:rPr>
              <a:t>prod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branch serves as integration branch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workspace kept in sync with underlying branch using automated </a:t>
            </a:r>
            <a:r>
              <a:rPr lang="en-US" sz="1800" b="1" dirty="0">
                <a:solidFill>
                  <a:srgbClr val="8A0000"/>
                </a:solidFill>
              </a:rPr>
              <a:t>Update from GIT</a:t>
            </a:r>
            <a:r>
              <a:rPr lang="en-US" dirty="0"/>
              <a:t> action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prod</a:t>
            </a:r>
            <a:r>
              <a:rPr lang="en-US" dirty="0"/>
              <a:t> workspaces kept in sync with underlying branch using </a:t>
            </a:r>
            <a:r>
              <a:rPr lang="en-US" b="1" dirty="0">
                <a:solidFill>
                  <a:srgbClr val="8A0000"/>
                </a:solidFill>
              </a:rPr>
              <a:t>fabric-cicd</a:t>
            </a:r>
            <a:r>
              <a:rPr lang="en-US" dirty="0"/>
              <a:t> library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91374A4-E855-99DB-FA9B-C049795F99AE}"/>
              </a:ext>
            </a:extLst>
          </p:cNvPr>
          <p:cNvGrpSpPr/>
          <p:nvPr/>
        </p:nvGrpSpPr>
        <p:grpSpPr>
          <a:xfrm>
            <a:off x="1097139" y="3039291"/>
            <a:ext cx="6694375" cy="3379797"/>
            <a:chOff x="1353171" y="2097459"/>
            <a:chExt cx="6694375" cy="337979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9357DDC-D94A-5598-16E5-D0D5CD6DBB3D}"/>
                </a:ext>
              </a:extLst>
            </p:cNvPr>
            <p:cNvSpPr/>
            <p:nvPr/>
          </p:nvSpPr>
          <p:spPr bwMode="auto">
            <a:xfrm>
              <a:off x="1353171" y="2097459"/>
              <a:ext cx="6694375" cy="33797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470794-F14D-7592-7801-720FBA1FC3FC}"/>
                </a:ext>
              </a:extLst>
            </p:cNvPr>
            <p:cNvSpPr/>
            <p:nvPr/>
          </p:nvSpPr>
          <p:spPr bwMode="auto">
            <a:xfrm>
              <a:off x="1621496" y="4318920"/>
              <a:ext cx="1140078" cy="868081"/>
            </a:xfrm>
            <a:prstGeom prst="rect">
              <a:avLst/>
            </a:prstGeom>
            <a:solidFill>
              <a:schemeClr val="accent4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2DD4CE9-42EA-3672-E61A-31AF136AE83D}"/>
                </a:ext>
              </a:extLst>
            </p:cNvPr>
            <p:cNvSpPr/>
            <p:nvPr/>
          </p:nvSpPr>
          <p:spPr bwMode="auto">
            <a:xfrm>
              <a:off x="1621496" y="2341357"/>
              <a:ext cx="1140078" cy="73755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908A7DA-43F2-53CB-E9B9-6189C3D47563}"/>
                </a:ext>
              </a:extLst>
            </p:cNvPr>
            <p:cNvSpPr/>
            <p:nvPr/>
          </p:nvSpPr>
          <p:spPr bwMode="auto">
            <a:xfrm>
              <a:off x="4048682" y="4318920"/>
              <a:ext cx="1140078" cy="868081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C6DD17-48E8-B467-CEFE-8CEFD39B542C}"/>
                </a:ext>
              </a:extLst>
            </p:cNvPr>
            <p:cNvSpPr/>
            <p:nvPr/>
          </p:nvSpPr>
          <p:spPr bwMode="auto">
            <a:xfrm>
              <a:off x="4048682" y="2341357"/>
              <a:ext cx="1140078" cy="737554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5C4D5D3-C17E-43D4-0F4D-8C7198EE17EA}"/>
                </a:ext>
              </a:extLst>
            </p:cNvPr>
            <p:cNvSpPr/>
            <p:nvPr/>
          </p:nvSpPr>
          <p:spPr bwMode="auto">
            <a:xfrm>
              <a:off x="6528667" y="4318920"/>
              <a:ext cx="1140078" cy="86808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461AE9C-746F-39DA-213F-0CAC3BBD1888}"/>
                </a:ext>
              </a:extLst>
            </p:cNvPr>
            <p:cNvSpPr/>
            <p:nvPr/>
          </p:nvSpPr>
          <p:spPr bwMode="auto">
            <a:xfrm>
              <a:off x="6528667" y="2341357"/>
              <a:ext cx="1140078" cy="73755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1" name="Arrow: Left 10">
              <a:extLst>
                <a:ext uri="{FF2B5EF4-FFF2-40B4-BE49-F238E27FC236}">
                  <a16:creationId xmlns:a16="http://schemas.microsoft.com/office/drawing/2014/main" id="{72E1B834-6ECA-DB09-0AF7-2512D8C1C9B7}"/>
                </a:ext>
              </a:extLst>
            </p:cNvPr>
            <p:cNvSpPr/>
            <p:nvPr/>
          </p:nvSpPr>
          <p:spPr bwMode="auto">
            <a:xfrm flipH="1">
              <a:off x="2802216" y="4461287"/>
              <a:ext cx="1236284" cy="58334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  <p:sp>
          <p:nvSpPr>
            <p:cNvPr id="14" name="Arrow: Left 13">
              <a:extLst>
                <a:ext uri="{FF2B5EF4-FFF2-40B4-BE49-F238E27FC236}">
                  <a16:creationId xmlns:a16="http://schemas.microsoft.com/office/drawing/2014/main" id="{D18657CF-6F01-9E0D-C578-E1A8690EEF11}"/>
                </a:ext>
              </a:extLst>
            </p:cNvPr>
            <p:cNvSpPr/>
            <p:nvPr/>
          </p:nvSpPr>
          <p:spPr bwMode="auto">
            <a:xfrm flipH="1">
              <a:off x="5233963" y="4461287"/>
              <a:ext cx="1236284" cy="58334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Pull Request</a:t>
              </a:r>
            </a:p>
          </p:txBody>
        </p:sp>
        <p:sp>
          <p:nvSpPr>
            <p:cNvPr id="16" name="Arrow: Left 15">
              <a:extLst>
                <a:ext uri="{FF2B5EF4-FFF2-40B4-BE49-F238E27FC236}">
                  <a16:creationId xmlns:a16="http://schemas.microsoft.com/office/drawing/2014/main" id="{B3A24F4F-0E5B-29FE-5733-B0E87B0B4C61}"/>
                </a:ext>
              </a:extLst>
            </p:cNvPr>
            <p:cNvSpPr/>
            <p:nvPr/>
          </p:nvSpPr>
          <p:spPr bwMode="auto">
            <a:xfrm rot="16200000" flipH="1">
              <a:off x="6475494" y="3333320"/>
              <a:ext cx="1211965" cy="75197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fabric-cicd</a:t>
              </a:r>
            </a:p>
          </p:txBody>
        </p:sp>
        <p:sp>
          <p:nvSpPr>
            <p:cNvPr id="17" name="Arrow: Left 16">
              <a:extLst>
                <a:ext uri="{FF2B5EF4-FFF2-40B4-BE49-F238E27FC236}">
                  <a16:creationId xmlns:a16="http://schemas.microsoft.com/office/drawing/2014/main" id="{53AEDB03-633D-8470-2115-BABBF238B4A4}"/>
                </a:ext>
              </a:extLst>
            </p:cNvPr>
            <p:cNvSpPr/>
            <p:nvPr/>
          </p:nvSpPr>
          <p:spPr bwMode="auto">
            <a:xfrm rot="16200000" flipH="1">
              <a:off x="1585552" y="3346849"/>
              <a:ext cx="1211965" cy="704133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Update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 from GIT</a:t>
              </a:r>
            </a:p>
          </p:txBody>
        </p:sp>
        <p:sp>
          <p:nvSpPr>
            <p:cNvPr id="18" name="Arrow: Left 17">
              <a:extLst>
                <a:ext uri="{FF2B5EF4-FFF2-40B4-BE49-F238E27FC236}">
                  <a16:creationId xmlns:a16="http://schemas.microsoft.com/office/drawing/2014/main" id="{FCA78167-D21E-97D2-5448-5563345C592B}"/>
                </a:ext>
              </a:extLst>
            </p:cNvPr>
            <p:cNvSpPr/>
            <p:nvPr/>
          </p:nvSpPr>
          <p:spPr bwMode="auto">
            <a:xfrm rot="16200000" flipH="1">
              <a:off x="3993377" y="3333320"/>
              <a:ext cx="1211965" cy="75197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fabric-cicd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9142041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EF8D5D-9171-B04B-366B-4FBDCAB04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 from GIT to Workspace Workflow with ADO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31A40B-825D-375F-2312-A4493BD67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4" y="1078992"/>
            <a:ext cx="3006649" cy="51933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B09B84-25CC-1BE2-82D2-EF5E3D795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672" y="1088627"/>
            <a:ext cx="5330789" cy="51933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43F3F8-4931-5BAD-A277-3FD9DB7EF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5287" y="1078992"/>
            <a:ext cx="3082143" cy="519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801977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F358-7F62-6168-75C6-1C93B7E7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Parameterization with fabric-cicd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39F88-1D7D-E887-163C-F8C7FB02B8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23494"/>
          </a:xfrm>
        </p:spPr>
        <p:txBody>
          <a:bodyPr/>
          <a:lstStyle/>
          <a:p>
            <a:r>
              <a:rPr lang="en-US" dirty="0"/>
              <a:t>Parameterization allows updates to item definition files on the fly</a:t>
            </a:r>
          </a:p>
          <a:p>
            <a:pPr lvl="1"/>
            <a:r>
              <a:rPr lang="en-US" dirty="0"/>
              <a:t>Parameterization required to deal with environment-specific settings committed to GIT</a:t>
            </a:r>
          </a:p>
          <a:p>
            <a:pPr lvl="1"/>
            <a:r>
              <a:rPr lang="en-US" dirty="0"/>
              <a:t>Parameterization enabled by adding </a:t>
            </a:r>
            <a:r>
              <a:rPr lang="en-US" sz="1600" b="1" dirty="0" err="1">
                <a:solidFill>
                  <a:srgbClr val="8A0000"/>
                </a:solidFill>
              </a:rPr>
              <a:t>parameter.yml</a:t>
            </a:r>
            <a:r>
              <a:rPr lang="en-US" b="1" dirty="0"/>
              <a:t> </a:t>
            </a:r>
            <a:r>
              <a:rPr lang="en-US" dirty="0"/>
              <a:t>file to root folder</a:t>
            </a:r>
          </a:p>
          <a:p>
            <a:pPr lvl="1"/>
            <a:r>
              <a:rPr lang="en-US" dirty="0"/>
              <a:t>Parameterization used to update item definition files using substitution patterns (e.g. find-replace)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EB4D5A-1466-BFF3-5736-5BD6AE45C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4303858"/>
            <a:ext cx="8183880" cy="25001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093C6D-241C-ADF8-E79D-9A7600E9D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898340"/>
            <a:ext cx="8984653" cy="12037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69791408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4D7BB-7528-4F8A-CA5E-3C39A4EDB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RegEx</a:t>
            </a:r>
            <a:r>
              <a:rPr lang="en-US" dirty="0"/>
              <a:t> and Dynamic Variables in Parameterization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18E09-DD34-FBB6-F77B-50ADF491B2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3508653"/>
          </a:xfrm>
        </p:spPr>
        <p:txBody>
          <a:bodyPr/>
          <a:lstStyle/>
          <a:p>
            <a:r>
              <a:rPr lang="en-US" dirty="0"/>
              <a:t>The problem: you need to update the default lakehouse id and the workspace id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solution is based on regex expressions and dynamic variables (</a:t>
            </a:r>
            <a:r>
              <a:rPr lang="en-US" sz="2000" b="1" dirty="0">
                <a:solidFill>
                  <a:srgbClr val="8A0000"/>
                </a:solidFill>
              </a:rPr>
              <a:t>$</a:t>
            </a:r>
            <a:r>
              <a:rPr lang="en-US" sz="2000" b="1" dirty="0" err="1">
                <a:solidFill>
                  <a:srgbClr val="8A0000"/>
                </a:solidFill>
              </a:rPr>
              <a:t>workspace.$id</a:t>
            </a:r>
            <a:r>
              <a:rPr lang="en-US" dirty="0"/>
              <a:t>)</a:t>
            </a:r>
            <a:endParaRPr lang="en-US" b="1" dirty="0">
              <a:solidFill>
                <a:srgbClr val="8A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E0D18E-0C95-E51F-EB45-E13B30791C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920"/>
          <a:stretch>
            <a:fillRect/>
          </a:stretch>
        </p:blipFill>
        <p:spPr>
          <a:xfrm>
            <a:off x="936749" y="4833451"/>
            <a:ext cx="8312683" cy="2050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18EAF5-397E-8B26-8420-1F3C1A8B5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749" y="1748439"/>
            <a:ext cx="5532368" cy="24121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56442869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F520-0A2F-FD69-1084-98DF16E11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Semantic Model to Lakehouse SQL Endpoint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8E719-5CC5-C703-000A-87F77A0565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B7F11D-61CE-2454-5F33-FC552F6A0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97" y="1878131"/>
            <a:ext cx="7073571" cy="18400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ED2BD0-0286-5BF5-2ED3-90FC4C047A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118" r="24529"/>
          <a:stretch>
            <a:fillRect/>
          </a:stretch>
        </p:blipFill>
        <p:spPr>
          <a:xfrm>
            <a:off x="822173" y="4257154"/>
            <a:ext cx="7506565" cy="14121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21944337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39087-BBDC-1B64-12FE-0FBF45010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1A949-0FA7-FA90-C5B4-70482F86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84748"/>
          </a:xfrm>
        </p:spPr>
        <p:txBody>
          <a:bodyPr/>
          <a:lstStyle/>
          <a:p>
            <a:r>
              <a:rPr lang="en-US" sz="3500" dirty="0"/>
              <a:t>Option 4: Release Process using fabric-cicd and release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C6515-A364-3DE3-2CD6-3D9D593369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677656"/>
          </a:xfrm>
        </p:spPr>
        <p:txBody>
          <a:bodyPr/>
          <a:lstStyle/>
          <a:p>
            <a:r>
              <a:rPr lang="en-US" dirty="0"/>
              <a:t>Option 4 is built on trunk-based development approach</a:t>
            </a:r>
          </a:p>
          <a:p>
            <a:pPr lvl="1"/>
            <a:r>
              <a:rPr lang="en-US" sz="1800" b="1" dirty="0">
                <a:solidFill>
                  <a:srgbClr val="8A0000"/>
                </a:solidFill>
              </a:rPr>
              <a:t>main</a:t>
            </a:r>
            <a:r>
              <a:rPr lang="en-US" dirty="0"/>
              <a:t> branch serves as integration branch with </a:t>
            </a:r>
            <a:r>
              <a:rPr lang="en-US" sz="1800" b="1" dirty="0">
                <a:solidFill>
                  <a:srgbClr val="8A0000"/>
                </a:solidFill>
              </a:rPr>
              <a:t>dev</a:t>
            </a:r>
            <a:r>
              <a:rPr lang="en-US" dirty="0"/>
              <a:t> workspace kept in sync using </a:t>
            </a:r>
            <a:r>
              <a:rPr lang="en-US" sz="1800" b="1" dirty="0">
                <a:solidFill>
                  <a:srgbClr val="8A0000"/>
                </a:solidFill>
              </a:rPr>
              <a:t>Update from GIT</a:t>
            </a:r>
            <a:endParaRPr lang="en-US" dirty="0"/>
          </a:p>
          <a:p>
            <a:pPr lvl="1"/>
            <a:r>
              <a:rPr lang="en-US" dirty="0"/>
              <a:t>Release process does not include log-lived branches for </a:t>
            </a:r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prod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Release process involves creating new test branch for each release</a:t>
            </a:r>
          </a:p>
          <a:p>
            <a:pPr lvl="1"/>
            <a:r>
              <a:rPr lang="en-US" dirty="0"/>
              <a:t>Upon creation, </a:t>
            </a:r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branch deployed to </a:t>
            </a:r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workspace using </a:t>
            </a:r>
            <a:r>
              <a:rPr lang="en-US" sz="1800" b="1" dirty="0">
                <a:solidFill>
                  <a:srgbClr val="8A0000"/>
                </a:solidFill>
              </a:rPr>
              <a:t>fabric-cicd</a:t>
            </a:r>
            <a:endParaRPr lang="en-US" b="1" dirty="0">
              <a:solidFill>
                <a:srgbClr val="8A0000"/>
              </a:solidFill>
            </a:endParaRPr>
          </a:p>
          <a:p>
            <a:pPr lvl="1"/>
            <a:r>
              <a:rPr lang="en-US" dirty="0"/>
              <a:t>Once </a:t>
            </a:r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branch approved, </a:t>
            </a:r>
            <a:r>
              <a:rPr lang="en-US" sz="1800" b="1" dirty="0">
                <a:solidFill>
                  <a:srgbClr val="8A0000"/>
                </a:solidFill>
              </a:rPr>
              <a:t>prod</a:t>
            </a:r>
            <a:r>
              <a:rPr lang="en-US" dirty="0"/>
              <a:t> branch created from </a:t>
            </a:r>
            <a:r>
              <a:rPr lang="en-US" sz="1800" b="1" dirty="0">
                <a:solidFill>
                  <a:srgbClr val="8A0000"/>
                </a:solidFill>
              </a:rPr>
              <a:t>test</a:t>
            </a:r>
            <a:r>
              <a:rPr lang="en-US" dirty="0"/>
              <a:t> branch and deployed with </a:t>
            </a:r>
            <a:r>
              <a:rPr lang="en-US" sz="1600" b="1" dirty="0">
                <a:solidFill>
                  <a:srgbClr val="8A0000"/>
                </a:solidFill>
              </a:rPr>
              <a:t>fabric-cicd</a:t>
            </a:r>
          </a:p>
          <a:p>
            <a:pPr lvl="1"/>
            <a:r>
              <a:rPr lang="en-US" dirty="0"/>
              <a:t>Creating of </a:t>
            </a:r>
            <a:r>
              <a:rPr lang="en-US" sz="1800" b="1" dirty="0">
                <a:solidFill>
                  <a:srgbClr val="8A0000"/>
                </a:solidFill>
              </a:rPr>
              <a:t>test 1.x</a:t>
            </a:r>
            <a:r>
              <a:rPr lang="en-US" dirty="0"/>
              <a:t> and </a:t>
            </a:r>
            <a:r>
              <a:rPr lang="en-US" sz="1800" b="1" dirty="0">
                <a:solidFill>
                  <a:srgbClr val="8A0000"/>
                </a:solidFill>
              </a:rPr>
              <a:t>prod 1.x</a:t>
            </a:r>
            <a:r>
              <a:rPr lang="en-US" dirty="0"/>
              <a:t> branches creates valuable release history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31E923-C926-9B90-8502-CB2EFDF3C77E}"/>
              </a:ext>
            </a:extLst>
          </p:cNvPr>
          <p:cNvGrpSpPr/>
          <p:nvPr/>
        </p:nvGrpSpPr>
        <p:grpSpPr>
          <a:xfrm>
            <a:off x="1206218" y="4093498"/>
            <a:ext cx="5473171" cy="2677656"/>
            <a:chOff x="1156572" y="3015722"/>
            <a:chExt cx="6428373" cy="337979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794FA96-CC2D-D6E2-6068-268695BCD2E4}"/>
                </a:ext>
              </a:extLst>
            </p:cNvPr>
            <p:cNvSpPr/>
            <p:nvPr/>
          </p:nvSpPr>
          <p:spPr bwMode="auto">
            <a:xfrm>
              <a:off x="1156572" y="3015722"/>
              <a:ext cx="6428373" cy="33797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566B62B-B261-8650-9385-F5C632A47B13}"/>
                </a:ext>
              </a:extLst>
            </p:cNvPr>
            <p:cNvSpPr/>
            <p:nvPr/>
          </p:nvSpPr>
          <p:spPr bwMode="auto">
            <a:xfrm>
              <a:off x="1392896" y="5233320"/>
              <a:ext cx="1140078" cy="868081"/>
            </a:xfrm>
            <a:prstGeom prst="rect">
              <a:avLst/>
            </a:prstGeom>
            <a:solidFill>
              <a:schemeClr val="accent4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997501C-F781-D58E-73B1-61504F5C2655}"/>
                </a:ext>
              </a:extLst>
            </p:cNvPr>
            <p:cNvSpPr/>
            <p:nvPr/>
          </p:nvSpPr>
          <p:spPr bwMode="auto">
            <a:xfrm>
              <a:off x="1392896" y="3255757"/>
              <a:ext cx="1140078" cy="73755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C163DD5-4839-3509-44E2-D912C48AC893}"/>
                </a:ext>
              </a:extLst>
            </p:cNvPr>
            <p:cNvSpPr/>
            <p:nvPr/>
          </p:nvSpPr>
          <p:spPr bwMode="auto">
            <a:xfrm>
              <a:off x="3820082" y="5233320"/>
              <a:ext cx="1140078" cy="868081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 1.x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C356791-D454-736F-F678-08EAF9D6C5C9}"/>
                </a:ext>
              </a:extLst>
            </p:cNvPr>
            <p:cNvSpPr/>
            <p:nvPr/>
          </p:nvSpPr>
          <p:spPr bwMode="auto">
            <a:xfrm>
              <a:off x="3820082" y="3255757"/>
              <a:ext cx="1140078" cy="737554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B99D3-18E1-F956-48F8-74E85D16C179}"/>
                </a:ext>
              </a:extLst>
            </p:cNvPr>
            <p:cNvSpPr/>
            <p:nvPr/>
          </p:nvSpPr>
          <p:spPr bwMode="auto">
            <a:xfrm>
              <a:off x="6300067" y="5233320"/>
              <a:ext cx="1140078" cy="86808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 1.x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  <a:endParaRPr lang="en-US" sz="1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2F39EA-AD52-F49D-4458-9A1859A58660}"/>
                </a:ext>
              </a:extLst>
            </p:cNvPr>
            <p:cNvSpPr/>
            <p:nvPr/>
          </p:nvSpPr>
          <p:spPr bwMode="auto">
            <a:xfrm>
              <a:off x="6300067" y="3255757"/>
              <a:ext cx="1140078" cy="73755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1" name="Arrow: Left 10">
              <a:extLst>
                <a:ext uri="{FF2B5EF4-FFF2-40B4-BE49-F238E27FC236}">
                  <a16:creationId xmlns:a16="http://schemas.microsoft.com/office/drawing/2014/main" id="{3FFE83F9-3327-A5D3-A710-3F49121C2AEB}"/>
                </a:ext>
              </a:extLst>
            </p:cNvPr>
            <p:cNvSpPr/>
            <p:nvPr/>
          </p:nvSpPr>
          <p:spPr bwMode="auto">
            <a:xfrm flipH="1">
              <a:off x="2573616" y="5375687"/>
              <a:ext cx="1236284" cy="58334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Create Request</a:t>
              </a:r>
            </a:p>
          </p:txBody>
        </p:sp>
        <p:sp>
          <p:nvSpPr>
            <p:cNvPr id="14" name="Arrow: Left 13">
              <a:extLst>
                <a:ext uri="{FF2B5EF4-FFF2-40B4-BE49-F238E27FC236}">
                  <a16:creationId xmlns:a16="http://schemas.microsoft.com/office/drawing/2014/main" id="{13317754-E089-1B4E-3DE8-D0AACC65A677}"/>
                </a:ext>
              </a:extLst>
            </p:cNvPr>
            <p:cNvSpPr/>
            <p:nvPr/>
          </p:nvSpPr>
          <p:spPr bwMode="auto">
            <a:xfrm flipH="1">
              <a:off x="5005363" y="5375687"/>
              <a:ext cx="1236284" cy="58334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Create Branch</a:t>
              </a:r>
            </a:p>
          </p:txBody>
        </p:sp>
        <p:sp>
          <p:nvSpPr>
            <p:cNvPr id="16" name="Arrow: Left 15">
              <a:extLst>
                <a:ext uri="{FF2B5EF4-FFF2-40B4-BE49-F238E27FC236}">
                  <a16:creationId xmlns:a16="http://schemas.microsoft.com/office/drawing/2014/main" id="{10C01F17-7F0C-B998-ACAB-9938D593C134}"/>
                </a:ext>
              </a:extLst>
            </p:cNvPr>
            <p:cNvSpPr/>
            <p:nvPr/>
          </p:nvSpPr>
          <p:spPr bwMode="auto">
            <a:xfrm rot="16200000" flipH="1">
              <a:off x="6246894" y="4247720"/>
              <a:ext cx="1211965" cy="75197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fabric-cicd</a:t>
              </a:r>
            </a:p>
          </p:txBody>
        </p:sp>
        <p:sp>
          <p:nvSpPr>
            <p:cNvPr id="17" name="Arrow: Left 16">
              <a:extLst>
                <a:ext uri="{FF2B5EF4-FFF2-40B4-BE49-F238E27FC236}">
                  <a16:creationId xmlns:a16="http://schemas.microsoft.com/office/drawing/2014/main" id="{6845E998-6C40-8A7F-BF3C-6FA57E64464B}"/>
                </a:ext>
              </a:extLst>
            </p:cNvPr>
            <p:cNvSpPr/>
            <p:nvPr/>
          </p:nvSpPr>
          <p:spPr bwMode="auto">
            <a:xfrm rot="16200000" flipH="1">
              <a:off x="1356952" y="4261249"/>
              <a:ext cx="1211965" cy="704133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Update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 from GIT</a:t>
              </a:r>
            </a:p>
          </p:txBody>
        </p:sp>
        <p:sp>
          <p:nvSpPr>
            <p:cNvPr id="18" name="Arrow: Left 17">
              <a:extLst>
                <a:ext uri="{FF2B5EF4-FFF2-40B4-BE49-F238E27FC236}">
                  <a16:creationId xmlns:a16="http://schemas.microsoft.com/office/drawing/2014/main" id="{0E7029C8-720E-F9EF-B891-DD01352BA478}"/>
                </a:ext>
              </a:extLst>
            </p:cNvPr>
            <p:cNvSpPr/>
            <p:nvPr/>
          </p:nvSpPr>
          <p:spPr bwMode="auto">
            <a:xfrm rot="16200000" flipH="1">
              <a:off x="3764777" y="4247720"/>
              <a:ext cx="1211965" cy="751976"/>
            </a:xfrm>
            <a:prstGeom prst="leftArrow">
              <a:avLst>
                <a:gd name="adj1" fmla="val 571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800" b="1" dirty="0">
                  <a:solidFill>
                    <a:srgbClr val="8A0000"/>
                  </a:solidFill>
                  <a:latin typeface="Arial Black" panose="020B0A04020102020204" pitchFamily="34" charset="0"/>
                  <a:ea typeface="Segoe UI" pitchFamily="34" charset="0"/>
                  <a:cs typeface="Segoe UI" pitchFamily="34" charset="0"/>
                </a:rPr>
                <a:t>fabric-cicd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2EB51B0-C33E-08D8-3801-FF30D2F28684}"/>
              </a:ext>
            </a:extLst>
          </p:cNvPr>
          <p:cNvGrpSpPr/>
          <p:nvPr/>
        </p:nvGrpSpPr>
        <p:grpSpPr>
          <a:xfrm>
            <a:off x="7069866" y="4056994"/>
            <a:ext cx="2165155" cy="2137274"/>
            <a:chOff x="8290053" y="3759684"/>
            <a:chExt cx="2786437" cy="255088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2051F8E-0020-7673-7365-496224A0EC29}"/>
                </a:ext>
              </a:extLst>
            </p:cNvPr>
            <p:cNvSpPr/>
            <p:nvPr/>
          </p:nvSpPr>
          <p:spPr bwMode="auto">
            <a:xfrm>
              <a:off x="8290053" y="3759684"/>
              <a:ext cx="2786437" cy="255088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91440" rIns="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Release History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1C47D01-D478-9F24-08B9-4E62345AF5AB}"/>
                </a:ext>
              </a:extLst>
            </p:cNvPr>
            <p:cNvGrpSpPr/>
            <p:nvPr/>
          </p:nvGrpSpPr>
          <p:grpSpPr>
            <a:xfrm>
              <a:off x="8519695" y="4110349"/>
              <a:ext cx="2329867" cy="2064828"/>
              <a:chOff x="8655535" y="4072565"/>
              <a:chExt cx="2329867" cy="269993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54EED4F-F7C7-4680-23F9-A9EA1E995455}"/>
                  </a:ext>
                </a:extLst>
              </p:cNvPr>
              <p:cNvSpPr/>
              <p:nvPr/>
            </p:nvSpPr>
            <p:spPr bwMode="auto">
              <a:xfrm>
                <a:off x="8655535" y="4072566"/>
                <a:ext cx="1069535" cy="4667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1.0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19F28DC-66D2-11E3-B28F-BAAA18F578C6}"/>
                  </a:ext>
                </a:extLst>
              </p:cNvPr>
              <p:cNvSpPr/>
              <p:nvPr/>
            </p:nvSpPr>
            <p:spPr bwMode="auto">
              <a:xfrm>
                <a:off x="9915867" y="4072565"/>
                <a:ext cx="1069535" cy="46679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1.0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AEEF8D8-A4E9-E829-4ADD-A6A5133A7E8B}"/>
                  </a:ext>
                </a:extLst>
              </p:cNvPr>
              <p:cNvSpPr/>
              <p:nvPr/>
            </p:nvSpPr>
            <p:spPr bwMode="auto">
              <a:xfrm>
                <a:off x="8655535" y="4640245"/>
                <a:ext cx="1069535" cy="4667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1.1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CA556B6-10C4-CE24-D237-A6C9C78976C7}"/>
                  </a:ext>
                </a:extLst>
              </p:cNvPr>
              <p:cNvSpPr/>
              <p:nvPr/>
            </p:nvSpPr>
            <p:spPr bwMode="auto">
              <a:xfrm>
                <a:off x="9915867" y="4640244"/>
                <a:ext cx="1069535" cy="46679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1.1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99650CB-6E04-5060-CE33-851570AB4FD7}"/>
                  </a:ext>
                </a:extLst>
              </p:cNvPr>
              <p:cNvSpPr/>
              <p:nvPr/>
            </p:nvSpPr>
            <p:spPr bwMode="auto">
              <a:xfrm>
                <a:off x="8655535" y="5207924"/>
                <a:ext cx="1069535" cy="4667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1.2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2FFF357-76CE-DFC2-EEF6-D11C8CA4DA2C}"/>
                  </a:ext>
                </a:extLst>
              </p:cNvPr>
              <p:cNvSpPr/>
              <p:nvPr/>
            </p:nvSpPr>
            <p:spPr bwMode="auto">
              <a:xfrm>
                <a:off x="8655535" y="5775603"/>
                <a:ext cx="1069535" cy="4667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1.3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1A27591-ABB4-EF1C-9DE0-E4971E2E3B70}"/>
                  </a:ext>
                </a:extLst>
              </p:cNvPr>
              <p:cNvSpPr/>
              <p:nvPr/>
            </p:nvSpPr>
            <p:spPr bwMode="auto">
              <a:xfrm>
                <a:off x="9915867" y="5775602"/>
                <a:ext cx="1069535" cy="46679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1.3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54192BC-FEDE-656C-AA6D-66C35609EC25}"/>
                  </a:ext>
                </a:extLst>
              </p:cNvPr>
              <p:cNvSpPr/>
              <p:nvPr/>
            </p:nvSpPr>
            <p:spPr bwMode="auto">
              <a:xfrm>
                <a:off x="8655535" y="6305705"/>
                <a:ext cx="1069535" cy="4667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2.0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9D396CA-ED53-1159-0C67-DF66900E1932}"/>
                  </a:ext>
                </a:extLst>
              </p:cNvPr>
              <p:cNvSpPr/>
              <p:nvPr/>
            </p:nvSpPr>
            <p:spPr bwMode="auto">
              <a:xfrm>
                <a:off x="9915867" y="6305704"/>
                <a:ext cx="1069535" cy="46679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2.0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833103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6F215-FECD-31E4-2DE0-8C5FD42FB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Workflows in 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3408BE-70E3-C46E-5AE5-291FA2A4F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193829"/>
            <a:ext cx="8670570" cy="54257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35531820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2D68F-CBCF-6E7A-7599-080211693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0DA52-6F4D-5423-EA42-A0A074A46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/>
          <a:p>
            <a:r>
              <a:rPr lang="en-US" dirty="0"/>
              <a:t>Session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73234-763A-A401-34D3-57421EDCCB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2564805"/>
          </a:xfrm>
        </p:spPr>
        <p:txBody>
          <a:bodyPr/>
          <a:lstStyle/>
          <a:p>
            <a:r>
              <a:rPr lang="en-US" dirty="0"/>
              <a:t>Essential Concepts and Capabilities</a:t>
            </a:r>
          </a:p>
          <a:p>
            <a:r>
              <a:rPr lang="en-US" dirty="0"/>
              <a:t>Planning the Fabric CI/CD Project Lifecycle</a:t>
            </a:r>
          </a:p>
          <a:p>
            <a:r>
              <a:rPr lang="en-US" dirty="0"/>
              <a:t>Creating Project Infrastructure using Terraform</a:t>
            </a:r>
          </a:p>
          <a:p>
            <a:r>
              <a:rPr lang="en-US" dirty="0"/>
              <a:t>Building a Development Process</a:t>
            </a:r>
          </a:p>
          <a:p>
            <a:r>
              <a:rPr lang="en-US" dirty="0"/>
              <a:t>Building a Release Process</a:t>
            </a:r>
          </a:p>
        </p:txBody>
      </p:sp>
    </p:spTree>
    <p:extLst>
      <p:ext uri="{BB962C8B-B14F-4D97-AF65-F5344CB8AC3E}">
        <p14:creationId xmlns:p14="http://schemas.microsoft.com/office/powerpoint/2010/main" val="292986262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abric Theme">
  <a:themeElements>
    <a:clrScheme name="Custom 4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F2C80F"/>
      </a:accent1>
      <a:accent2>
        <a:srgbClr val="0045D6"/>
      </a:accent2>
      <a:accent3>
        <a:srgbClr val="008D7B"/>
      </a:accent3>
      <a:accent4>
        <a:srgbClr val="002166"/>
      </a:accent4>
      <a:accent5>
        <a:srgbClr val="002D89"/>
      </a:accent5>
      <a:accent6>
        <a:srgbClr val="1BFFE2"/>
      </a:accent6>
      <a:hlink>
        <a:srgbClr val="0078D4"/>
      </a:hlink>
      <a:folHlink>
        <a:srgbClr val="0078D4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8EF47BD7-F710-45A9-8AE8-D03654F6711E}" vid="{3CF6A8A8-DA63-4A8A-A544-BAFFF90A76CB}"/>
    </a:ext>
  </a:extLst>
</a:theme>
</file>

<file path=ppt/theme/theme2.xml><?xml version="1.0" encoding="utf-8"?>
<a:theme xmlns:a="http://schemas.openxmlformats.org/drawingml/2006/main" name="Theme1">
  <a:themeElements>
    <a:clrScheme name="Custom 10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008D7B"/>
      </a:accent1>
      <a:accent2>
        <a:srgbClr val="0045D6"/>
      </a:accent2>
      <a:accent3>
        <a:srgbClr val="FFFFCC"/>
      </a:accent3>
      <a:accent4>
        <a:srgbClr val="990099"/>
      </a:accent4>
      <a:accent5>
        <a:srgbClr val="900000"/>
      </a:accent5>
      <a:accent6>
        <a:srgbClr val="FFC000"/>
      </a:accent6>
      <a:hlink>
        <a:srgbClr val="C00000"/>
      </a:hlink>
      <a:folHlink>
        <a:srgbClr val="C00000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278F993C-81DB-4FF5-BCAA-CBB0E0CCC442}" vid="{58D1AD11-405F-4081-B6AE-91DD6BC4897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692671-1E95-4751-B591-81D3AFC057E8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3c10a0e8-556e-4c2d-9121-1181542ea83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3AD2D799A0384499DFA8618B2D06C3" ma:contentTypeVersion="19" ma:contentTypeDescription="Create a new document." ma:contentTypeScope="" ma:versionID="4ad8bb11041bccc4900be347311affd5">
  <xsd:schema xmlns:xsd="http://www.w3.org/2001/XMLSchema" xmlns:xs="http://www.w3.org/2001/XMLSchema" xmlns:p="http://schemas.microsoft.com/office/2006/metadata/properties" xmlns:ns1="http://schemas.microsoft.com/sharepoint/v3" xmlns:ns3="3c10a0e8-556e-4c2d-9121-1181542ea83c" xmlns:ns4="91f22b01-9196-48cc-8d58-ee179122dd75" targetNamespace="http://schemas.microsoft.com/office/2006/metadata/properties" ma:root="true" ma:fieldsID="55cc422832b79ebb748bec44d447ca3b" ns1:_="" ns3:_="" ns4:_="">
    <xsd:import namespace="http://schemas.microsoft.com/sharepoint/v3"/>
    <xsd:import namespace="3c10a0e8-556e-4c2d-9121-1181542ea83c"/>
    <xsd:import namespace="91f22b01-9196-48cc-8d58-ee179122dd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CR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10a0e8-556e-4c2d-9121-1181542e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f22b01-9196-48cc-8d58-ee179122dd7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http://schemas.microsoft.com/office/infopath/2007/PartnerControls"/>
    <ds:schemaRef ds:uri="http://schemas.microsoft.com/sharepoint/v3"/>
    <ds:schemaRef ds:uri="http://schemas.microsoft.com/office/2006/metadata/properties"/>
    <ds:schemaRef ds:uri="http://purl.org/dc/dcmitype/"/>
    <ds:schemaRef ds:uri="http://purl.org/dc/terms/"/>
    <ds:schemaRef ds:uri="http://schemas.microsoft.com/office/2006/documentManagement/types"/>
    <ds:schemaRef ds:uri="91f22b01-9196-48cc-8d58-ee179122dd75"/>
    <ds:schemaRef ds:uri="http://purl.org/dc/elements/1.1/"/>
    <ds:schemaRef ds:uri="http://schemas.openxmlformats.org/package/2006/metadata/core-properties"/>
    <ds:schemaRef ds:uri="3c10a0e8-556e-4c2d-9121-1181542ea83c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2411704-DA91-4A2A-81D1-00044852D0BE}">
  <ds:schemaRefs>
    <ds:schemaRef ds:uri="3c10a0e8-556e-4c2d-9121-1181542ea83c"/>
    <ds:schemaRef ds:uri="91f22b01-9196-48cc-8d58-ee179122dd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19419</TotalTime>
  <Words>3800</Words>
  <Application>Microsoft Office PowerPoint</Application>
  <PresentationFormat>Custom</PresentationFormat>
  <Paragraphs>700</Paragraphs>
  <Slides>63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72" baseType="lpstr">
      <vt:lpstr>Arial</vt:lpstr>
      <vt:lpstr>Arial Black</vt:lpstr>
      <vt:lpstr>Lucida Console</vt:lpstr>
      <vt:lpstr>Segoe UI</vt:lpstr>
      <vt:lpstr>Segoe UI Light</vt:lpstr>
      <vt:lpstr>Segoe UI Semibold</vt:lpstr>
      <vt:lpstr>Wingdings</vt:lpstr>
      <vt:lpstr>Fabric Theme</vt:lpstr>
      <vt:lpstr>Theme1</vt:lpstr>
      <vt:lpstr>Patterns and Best Practices with Fabric CI/CD</vt:lpstr>
      <vt:lpstr>Session Agenda </vt:lpstr>
      <vt:lpstr>Motivation for CI/CD</vt:lpstr>
      <vt:lpstr>Serialization of Workspace Items to/from Item Definitions</vt:lpstr>
      <vt:lpstr>Automation in Fabric</vt:lpstr>
      <vt:lpstr>Python SDK (new)</vt:lpstr>
      <vt:lpstr>The fabric-cicd Python Library</vt:lpstr>
      <vt:lpstr>Fabric CI/CD Best Practices Discussed In This Session</vt:lpstr>
      <vt:lpstr>fabric_devops developer sample</vt:lpstr>
      <vt:lpstr>Planning the Fabric CI/CD Project Lifecycle</vt:lpstr>
      <vt:lpstr>Planning the Fabric CI/CD Project Lifecycles</vt:lpstr>
      <vt:lpstr>Plan the Fabric Solution</vt:lpstr>
      <vt:lpstr>Plan the Project Environments </vt:lpstr>
      <vt:lpstr>Plan the GIT repository</vt:lpstr>
      <vt:lpstr>Plan the Development Process for Continuous Integration</vt:lpstr>
      <vt:lpstr>Plan the Release Process for Continuous Deployment</vt:lpstr>
      <vt:lpstr>Creating Project Infrastructure using Terraform</vt:lpstr>
      <vt:lpstr>Using Terraform to Create Project Infrastructure</vt:lpstr>
      <vt:lpstr>Terraform Demo Files in GitHub</vt:lpstr>
      <vt:lpstr>Terraform Providers</vt:lpstr>
      <vt:lpstr>Terraform State File</vt:lpstr>
      <vt:lpstr>Terraform Configuration Project Files</vt:lpstr>
      <vt:lpstr>Authenticating as a Service Principal</vt:lpstr>
      <vt:lpstr>Creating a Fabric Workspace</vt:lpstr>
      <vt:lpstr>Create a Fabric Capacity</vt:lpstr>
      <vt:lpstr>Creating an Azure Storage Account</vt:lpstr>
      <vt:lpstr>Creating ADLS Gen2 Connections</vt:lpstr>
      <vt:lpstr>Managing Connections in Fabric</vt:lpstr>
      <vt:lpstr>Cleanup of Workspace-specific Connection</vt:lpstr>
      <vt:lpstr>Building a Development Process</vt:lpstr>
      <vt:lpstr>Build the Development Process for Continuous Integration</vt:lpstr>
      <vt:lpstr>Creating a Variable Library for Parameterization</vt:lpstr>
      <vt:lpstr>Using variables in a notebook</vt:lpstr>
      <vt:lpstr>Using variables in a ADLS Gen2 shortcut</vt:lpstr>
      <vt:lpstr>Create a GIT Repository</vt:lpstr>
      <vt:lpstr>Configure GIT Repository with Secrets and Variables</vt:lpstr>
      <vt:lpstr>Extend the GIT Repository with Workflows</vt:lpstr>
      <vt:lpstr>Create a GIT Source Control Connection</vt:lpstr>
      <vt:lpstr>Creating GIT Source Control Connections using APIs</vt:lpstr>
      <vt:lpstr>Connect the dev workspace to integration branch</vt:lpstr>
      <vt:lpstr>Connecting a Workspace to GIT Branch using APIs</vt:lpstr>
      <vt:lpstr>Flows for Feature Branches and Feature Workspaces</vt:lpstr>
      <vt:lpstr>Creating Feature Workspace by Hand</vt:lpstr>
      <vt:lpstr>Edit in Workspace versus Edit Locally using Client Tools</vt:lpstr>
      <vt:lpstr>Auto-bind behavior</vt:lpstr>
      <vt:lpstr>Running Jobs After Update-from-GIT Operations</vt:lpstr>
      <vt:lpstr>Post-deploy Jobs versus Post-sync Jobs</vt:lpstr>
      <vt:lpstr>Creating Feature Workspace using APIs</vt:lpstr>
      <vt:lpstr>Adding Workflow To Keep the dev Workspace in Sync</vt:lpstr>
      <vt:lpstr>Building a Release Process</vt:lpstr>
      <vt:lpstr>Building th Release Process for Continuous Intergation</vt:lpstr>
      <vt:lpstr>Option 1: Release Process using Deployment Pipelines</vt:lpstr>
      <vt:lpstr>Option 2: Release Process using GIT Sync</vt:lpstr>
      <vt:lpstr>The fabric-cicd Python Library</vt:lpstr>
      <vt:lpstr>Configuration-based Deployment</vt:lpstr>
      <vt:lpstr>Option 3: Release Process using fabric-cicd and GitFlow</vt:lpstr>
      <vt:lpstr>Deploy from GIT to Workspace Workflow with ADO</vt:lpstr>
      <vt:lpstr>Parameterization with fabric-cicd</vt:lpstr>
      <vt:lpstr>Using RegEx and Dynamic Variables in Parameterization</vt:lpstr>
      <vt:lpstr>Connecting Semantic Model to Lakehouse SQL Endpoint</vt:lpstr>
      <vt:lpstr>Option 4: Release Process using fabric-cicd and release flow</vt:lpstr>
      <vt:lpstr>Workflows in Action</vt:lpstr>
      <vt:lpstr>Session Summary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&lt;Speech title here&gt;</dc:subject>
  <dc:creator>Arvind Dutta;Ted.Pattison@microsoft.com</dc:creator>
  <cp:keywords/>
  <dc:description>Template: Ariel Butz; ZUM Communications
Formatting: 
Audience Type:</dc:description>
  <cp:lastModifiedBy>Ted Pattison</cp:lastModifiedBy>
  <cp:revision>79</cp:revision>
  <cp:lastPrinted>2026-03-17T00:34:14Z</cp:lastPrinted>
  <dcterms:created xsi:type="dcterms:W3CDTF">2018-09-21T01:16:59Z</dcterms:created>
  <dcterms:modified xsi:type="dcterms:W3CDTF">2026-03-27T23:36:38Z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0x010100B63AD2D799A0384499DFA8618B2D06C3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AuthorIds_UIVersion_47104">
    <vt:lpwstr>18</vt:lpwstr>
  </property>
  <property fmtid="{D5CDD505-2E9C-101B-9397-08002B2CF9AE}" pid="12" name="MSIP_Label_87867195-f2b8-4ac2-b0b6-6bb73cb33afc_Enabled">
    <vt:lpwstr>true</vt:lpwstr>
  </property>
  <property fmtid="{D5CDD505-2E9C-101B-9397-08002B2CF9AE}" pid="13" name="MSIP_Label_87867195-f2b8-4ac2-b0b6-6bb73cb33afc_SetDate">
    <vt:lpwstr>2021-11-16T15:21:41Z</vt:lpwstr>
  </property>
  <property fmtid="{D5CDD505-2E9C-101B-9397-08002B2CF9AE}" pid="14" name="MSIP_Label_87867195-f2b8-4ac2-b0b6-6bb73cb33afc_Method">
    <vt:lpwstr>Privileged</vt:lpwstr>
  </property>
  <property fmtid="{D5CDD505-2E9C-101B-9397-08002B2CF9AE}" pid="15" name="MSIP_Label_87867195-f2b8-4ac2-b0b6-6bb73cb33afc_Name">
    <vt:lpwstr>Not Restricted</vt:lpwstr>
  </property>
  <property fmtid="{D5CDD505-2E9C-101B-9397-08002B2CF9AE}" pid="16" name="MSIP_Label_87867195-f2b8-4ac2-b0b6-6bb73cb33afc_SiteId">
    <vt:lpwstr>72f988bf-86f1-41af-91ab-2d7cd011db47</vt:lpwstr>
  </property>
  <property fmtid="{D5CDD505-2E9C-101B-9397-08002B2CF9AE}" pid="17" name="MSIP_Label_87867195-f2b8-4ac2-b0b6-6bb73cb33afc_ActionId">
    <vt:lpwstr>9942a4e6-ac4e-4ace-9fe2-0b1ceecd1d50</vt:lpwstr>
  </property>
  <property fmtid="{D5CDD505-2E9C-101B-9397-08002B2CF9AE}" pid="18" name="MSIP_Label_87867195-f2b8-4ac2-b0b6-6bb73cb33afc_ContentBits">
    <vt:lpwstr>0</vt:lpwstr>
  </property>
</Properties>
</file>