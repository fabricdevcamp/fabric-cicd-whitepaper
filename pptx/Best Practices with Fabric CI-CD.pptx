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551" r:id="rId4"/>
    <p:sldMasterId id="2147484576" r:id="rId5"/>
  </p:sldMasterIdLst>
  <p:notesMasterIdLst>
    <p:notesMasterId r:id="rId89"/>
  </p:notesMasterIdLst>
  <p:handoutMasterIdLst>
    <p:handoutMasterId r:id="rId90"/>
  </p:handoutMasterIdLst>
  <p:sldIdLst>
    <p:sldId id="2147482125" r:id="rId6"/>
    <p:sldId id="2147482159" r:id="rId7"/>
    <p:sldId id="2147482112" r:id="rId8"/>
    <p:sldId id="2147482217" r:id="rId9"/>
    <p:sldId id="2147482218" r:id="rId10"/>
    <p:sldId id="2147482219" r:id="rId11"/>
    <p:sldId id="2147482174" r:id="rId12"/>
    <p:sldId id="2147482220" r:id="rId13"/>
    <p:sldId id="2147482173" r:id="rId14"/>
    <p:sldId id="2147482113" r:id="rId15"/>
    <p:sldId id="2147482189" r:id="rId16"/>
    <p:sldId id="2147482188" r:id="rId17"/>
    <p:sldId id="2147482201" r:id="rId18"/>
    <p:sldId id="2147482202" r:id="rId19"/>
    <p:sldId id="2147482203" r:id="rId20"/>
    <p:sldId id="2147482172" r:id="rId21"/>
    <p:sldId id="2147482169" r:id="rId22"/>
    <p:sldId id="2147482193" r:id="rId23"/>
    <p:sldId id="2147482171" r:id="rId24"/>
    <p:sldId id="2147482167" r:id="rId25"/>
    <p:sldId id="2147482199" r:id="rId26"/>
    <p:sldId id="2147482195" r:id="rId27"/>
    <p:sldId id="2147482197" r:id="rId28"/>
    <p:sldId id="2147482196" r:id="rId29"/>
    <p:sldId id="2147482236" r:id="rId30"/>
    <p:sldId id="2147482238" r:id="rId31"/>
    <p:sldId id="2147482239" r:id="rId32"/>
    <p:sldId id="2147482240" r:id="rId33"/>
    <p:sldId id="2147482237" r:id="rId34"/>
    <p:sldId id="2147482241" r:id="rId35"/>
    <p:sldId id="2147482118" r:id="rId36"/>
    <p:sldId id="2147482139" r:id="rId37"/>
    <p:sldId id="2147482124" r:id="rId38"/>
    <p:sldId id="2147482121" r:id="rId39"/>
    <p:sldId id="2147482122" r:id="rId40"/>
    <p:sldId id="2147482120" r:id="rId41"/>
    <p:sldId id="2147482119" r:id="rId42"/>
    <p:sldId id="2147482146" r:id="rId43"/>
    <p:sldId id="2147482200" r:id="rId44"/>
    <p:sldId id="2147482140" r:id="rId45"/>
    <p:sldId id="2147482204" r:id="rId46"/>
    <p:sldId id="2147482205" r:id="rId47"/>
    <p:sldId id="2147482206" r:id="rId48"/>
    <p:sldId id="2147482141" r:id="rId49"/>
    <p:sldId id="2147482116" r:id="rId50"/>
    <p:sldId id="2147482187" r:id="rId51"/>
    <p:sldId id="2147482207" r:id="rId52"/>
    <p:sldId id="2147482208" r:id="rId53"/>
    <p:sldId id="2147482177" r:id="rId54"/>
    <p:sldId id="2147482221" r:id="rId55"/>
    <p:sldId id="2147482222" r:id="rId56"/>
    <p:sldId id="2147482223" r:id="rId57"/>
    <p:sldId id="2147482179" r:id="rId58"/>
    <p:sldId id="2147482210" r:id="rId59"/>
    <p:sldId id="2147482132" r:id="rId60"/>
    <p:sldId id="2147482211" r:id="rId61"/>
    <p:sldId id="2147482178" r:id="rId62"/>
    <p:sldId id="2147482180" r:id="rId63"/>
    <p:sldId id="2147482212" r:id="rId64"/>
    <p:sldId id="2147482213" r:id="rId65"/>
    <p:sldId id="2147482147" r:id="rId66"/>
    <p:sldId id="2147482214" r:id="rId67"/>
    <p:sldId id="2147482185" r:id="rId68"/>
    <p:sldId id="2147482175" r:id="rId69"/>
    <p:sldId id="2147482224" r:id="rId70"/>
    <p:sldId id="2147482161" r:id="rId71"/>
    <p:sldId id="2147482232" r:id="rId72"/>
    <p:sldId id="2147482225" r:id="rId73"/>
    <p:sldId id="2147482226" r:id="rId74"/>
    <p:sldId id="2147482228" r:id="rId75"/>
    <p:sldId id="2147482152" r:id="rId76"/>
    <p:sldId id="2147482229" r:id="rId77"/>
    <p:sldId id="2147482231" r:id="rId78"/>
    <p:sldId id="2147482230" r:id="rId79"/>
    <p:sldId id="2147482154" r:id="rId80"/>
    <p:sldId id="2147482156" r:id="rId81"/>
    <p:sldId id="2147482151" r:id="rId82"/>
    <p:sldId id="2147482149" r:id="rId83"/>
    <p:sldId id="2147482157" r:id="rId84"/>
    <p:sldId id="2147482158" r:id="rId85"/>
    <p:sldId id="2147482233" r:id="rId86"/>
    <p:sldId id="2147482234" r:id="rId87"/>
    <p:sldId id="2147482235" r:id="rId88"/>
  </p:sldIdLst>
  <p:sldSz cx="12436475" cy="6994525"/>
  <p:notesSz cx="7010400" cy="92964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E73487-5996-4DE0-B97B-80AE53F81838}">
          <p14:sldIdLst>
            <p14:sldId id="2147482125"/>
            <p14:sldId id="2147482159"/>
            <p14:sldId id="2147482112"/>
            <p14:sldId id="2147482217"/>
            <p14:sldId id="2147482218"/>
            <p14:sldId id="2147482219"/>
            <p14:sldId id="2147482174"/>
            <p14:sldId id="2147482220"/>
            <p14:sldId id="2147482173"/>
            <p14:sldId id="2147482113"/>
            <p14:sldId id="2147482189"/>
            <p14:sldId id="2147482188"/>
            <p14:sldId id="2147482201"/>
            <p14:sldId id="2147482202"/>
            <p14:sldId id="2147482203"/>
            <p14:sldId id="2147482172"/>
            <p14:sldId id="2147482169"/>
            <p14:sldId id="2147482193"/>
            <p14:sldId id="2147482171"/>
            <p14:sldId id="2147482167"/>
            <p14:sldId id="2147482199"/>
            <p14:sldId id="2147482195"/>
            <p14:sldId id="2147482197"/>
            <p14:sldId id="2147482196"/>
            <p14:sldId id="2147482236"/>
            <p14:sldId id="2147482238"/>
            <p14:sldId id="2147482239"/>
            <p14:sldId id="2147482240"/>
            <p14:sldId id="2147482237"/>
            <p14:sldId id="2147482241"/>
            <p14:sldId id="2147482118"/>
            <p14:sldId id="2147482139"/>
            <p14:sldId id="2147482124"/>
            <p14:sldId id="2147482121"/>
            <p14:sldId id="2147482122"/>
            <p14:sldId id="2147482120"/>
            <p14:sldId id="2147482119"/>
            <p14:sldId id="2147482146"/>
            <p14:sldId id="2147482200"/>
            <p14:sldId id="2147482140"/>
            <p14:sldId id="2147482204"/>
            <p14:sldId id="2147482205"/>
            <p14:sldId id="2147482206"/>
            <p14:sldId id="2147482141"/>
            <p14:sldId id="2147482116"/>
            <p14:sldId id="2147482187"/>
            <p14:sldId id="2147482207"/>
            <p14:sldId id="2147482208"/>
            <p14:sldId id="2147482177"/>
            <p14:sldId id="2147482221"/>
            <p14:sldId id="2147482222"/>
            <p14:sldId id="2147482223"/>
            <p14:sldId id="2147482179"/>
            <p14:sldId id="2147482210"/>
            <p14:sldId id="2147482132"/>
            <p14:sldId id="2147482211"/>
            <p14:sldId id="2147482178"/>
            <p14:sldId id="2147482180"/>
            <p14:sldId id="2147482212"/>
            <p14:sldId id="2147482213"/>
            <p14:sldId id="2147482147"/>
            <p14:sldId id="2147482214"/>
            <p14:sldId id="2147482185"/>
            <p14:sldId id="2147482175"/>
            <p14:sldId id="2147482224"/>
            <p14:sldId id="2147482161"/>
            <p14:sldId id="2147482232"/>
            <p14:sldId id="2147482225"/>
            <p14:sldId id="2147482226"/>
            <p14:sldId id="2147482228"/>
            <p14:sldId id="2147482152"/>
            <p14:sldId id="2147482229"/>
            <p14:sldId id="2147482231"/>
            <p14:sldId id="2147482230"/>
            <p14:sldId id="2147482154"/>
            <p14:sldId id="2147482156"/>
            <p14:sldId id="2147482151"/>
            <p14:sldId id="2147482149"/>
            <p14:sldId id="2147482157"/>
            <p14:sldId id="2147482158"/>
            <p14:sldId id="2147482233"/>
            <p14:sldId id="2147482234"/>
            <p14:sldId id="214748223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0CFE33-38B5-93F4-CBDC-19387157439A}" name="Fretz Nuson" initials="FN" userId="S::frnuson@microsoft.com::4f89d152-8c61-4ebe-9979-f75548eb188f" providerId="AD"/>
  <p188:author id="{29F777B8-775D-FF4A-5EC6-49912B8B8FCB}" name="Nimrod Shalit" initials="NS" userId="S::nishalit@microsoft.com::13d05e46-027d-46c3-aabb-ccf1744354f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7" name="Jasper Hedegaard Bojsen" initials="JHB" lastIdx="2" clrIdx="7">
    <p:extLst>
      <p:ext uri="{19B8F6BF-5375-455C-9EA6-DF929625EA0E}">
        <p15:presenceInfo xmlns:p15="http://schemas.microsoft.com/office/powerpoint/2012/main" userId="S::jasperhb@microsoft.com::e917db92-6445-433e-ac97-2eab88ce737d" providerId="AD"/>
      </p:ext>
    </p:extLst>
  </p:cmAuthor>
  <p:cmAuthor id="1" name="Mary Feil-Jacobs" initials="MFJ" lastIdx="43" clrIdx="1"/>
  <p:cmAuthor id="8" name="Gordon Macdonald" initials="GM" lastIdx="10" clrIdx="8">
    <p:extLst>
      <p:ext uri="{19B8F6BF-5375-455C-9EA6-DF929625EA0E}">
        <p15:presenceInfo xmlns:p15="http://schemas.microsoft.com/office/powerpoint/2012/main" userId="419a06e8ae266e15" providerId="Windows Live"/>
      </p:ext>
    </p:extLst>
  </p:cmAuthor>
  <p:cmAuthor id="2" name="Monica Lueder" initials="ML" lastIdx="22" clrIdx="2"/>
  <p:cmAuthor id="3" name="Mary Feil-Jacobs" initials="MF" lastIdx="22" clrIdx="3"/>
  <p:cmAuthor id="4" name="Angela Powell" initials="AP" lastIdx="9" clrIdx="4">
    <p:extLst>
      <p:ext uri="{19B8F6BF-5375-455C-9EA6-DF929625EA0E}">
        <p15:presenceInfo xmlns:p15="http://schemas.microsoft.com/office/powerpoint/2012/main" userId="cf7d67635d593fc2" providerId="Windows Live"/>
      </p:ext>
    </p:extLst>
  </p:cmAuthor>
  <p:cmAuthor id="5" name="Andrew Cook" initials="AC" lastIdx="7" clrIdx="5">
    <p:extLst>
      <p:ext uri="{19B8F6BF-5375-455C-9EA6-DF929625EA0E}">
        <p15:presenceInfo xmlns:p15="http://schemas.microsoft.com/office/powerpoint/2012/main" userId="S-1-5-21-2127521184-1604012920-1887927527-2644137" providerId="AD"/>
      </p:ext>
    </p:extLst>
  </p:cmAuthor>
  <p:cmAuthor id="6" name="Olga Masek" initials="OM" lastIdx="13" clrIdx="6">
    <p:extLst>
      <p:ext uri="{19B8F6BF-5375-455C-9EA6-DF929625EA0E}">
        <p15:presenceInfo xmlns:p15="http://schemas.microsoft.com/office/powerpoint/2012/main" userId="S-1-5-21-2127521184-1604012920-1887927527-166090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00"/>
    <a:srgbClr val="C00000"/>
    <a:srgbClr val="FFB9FF"/>
    <a:srgbClr val="FFFFFF"/>
    <a:srgbClr val="6C0000"/>
    <a:srgbClr val="89FFF1"/>
    <a:srgbClr val="FFCDFF"/>
    <a:srgbClr val="D9E6FF"/>
    <a:srgbClr val="FFCCCC"/>
    <a:srgbClr val="DAA52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224" autoAdjust="0"/>
  </p:normalViewPr>
  <p:slideViewPr>
    <p:cSldViewPr snapToGrid="0">
      <p:cViewPr varScale="1">
        <p:scale>
          <a:sx n="85" d="100"/>
          <a:sy n="85" d="100"/>
        </p:scale>
        <p:origin x="4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4381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2.xml"/><Relationship Id="rId90" Type="http://schemas.openxmlformats.org/officeDocument/2006/relationships/handoutMaster" Target="handoutMasters/handoutMaster1.xml"/><Relationship Id="rId95" Type="http://schemas.openxmlformats.org/officeDocument/2006/relationships/tableStyles" Target="tableStyles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93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91" Type="http://schemas.openxmlformats.org/officeDocument/2006/relationships/commentAuthors" Target="commentAuthors.xml"/><Relationship Id="rId9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presProps" Target="pres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7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r>
              <a:rPr lang="en-US">
                <a:latin typeface="Segoe UI" pitchFamily="34" charset="0"/>
              </a:rPr>
              <a:t>Power BI Dev Camp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r>
              <a:rPr lang="en-US">
                <a:latin typeface="Segoe UI" pitchFamily="34" charset="0"/>
              </a:rPr>
              <a:t>8/27/2020</a:t>
            </a: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831580"/>
            <a:ext cx="6052312" cy="361897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marL="582359" indent="0" algn="l">
              <a:defRPr sz="1200"/>
            </a:lvl1pPr>
          </a:lstStyle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CE60099-03E7-4FA1-8A7F-E6E6CFB0F855}" type="datetime8">
              <a:rPr lang="en-US" smtClean="0"/>
              <a:t>5/25/2026 12:51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6040627" y="8829967"/>
            <a:ext cx="96815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112E7-2001-8DAA-B9A3-DC418380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6D5BD-A1E8-0FD4-86AA-ECB650A1C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5E660-C143-6798-91FC-5E29522B2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2F3DFED-BC5A-2EF8-9001-B078ABBD857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26E49-2D4A-5D67-0560-9A72F357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400C5-C7DE-BB67-8261-0D05B9A5161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48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35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14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84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16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E7784-B8C7-2D26-DDA7-0A0655E78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75B70-9343-45D9-6384-375EC1351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28794F-17F1-7108-7B2F-87826F286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7D98EFF-552A-051C-D9D6-04E46E8A860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72C13-397F-55B2-F47D-299856B624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38BF3-DF0E-DE05-58FA-317456B19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430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092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87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29362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114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487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69912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 sz="1400" b="1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8438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1868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1353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6" y="190500"/>
            <a:ext cx="11801475" cy="498598"/>
          </a:xfrm>
        </p:spPr>
        <p:txBody>
          <a:bodyPr/>
          <a:lstStyle>
            <a:lvl1pPr>
              <a:defRPr sz="3598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5400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594" indent="-339594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+mn-lt"/>
              </a:defRPr>
            </a:lvl1pPr>
            <a:lvl2pPr marL="744252" indent="-34911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2pPr>
            <a:lvl3pPr marL="747426" indent="0">
              <a:lnSpc>
                <a:spcPts val="2400"/>
              </a:lnSpc>
              <a:buNone/>
              <a:defRPr sz="1800" b="1">
                <a:solidFill>
                  <a:srgbClr val="002060"/>
                </a:solidFill>
                <a:latin typeface="Lucida Console" panose="020B0609040504020204" pitchFamily="49" charset="0"/>
              </a:defRPr>
            </a:lvl3pPr>
            <a:lvl4pPr marL="518913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31505" indent="-412591">
              <a:buNone/>
              <a:defRPr sz="139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0616C0-C864-7BE9-C4CB-755BB3FB3DC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3651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8296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D712B6-0157-8532-DCDC-4589B35076F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360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645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74675" indent="-63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None/>
              <a:defRPr sz="1600" b="1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E2A54D-A755-F900-5808-4CCC5C04D02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700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F1BFE9-6D7B-E542-8545-679454897D67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5218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9624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172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3" r:id="rId1"/>
    <p:sldLayoutId id="2147484570" r:id="rId2"/>
    <p:sldLayoutId id="2147484573" r:id="rId3"/>
    <p:sldLayoutId id="2147484572" r:id="rId4"/>
    <p:sldLayoutId id="2147484574" r:id="rId5"/>
    <p:sldLayoutId id="2147484575" r:id="rId6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1" pos="1349" userDrawn="1">
          <p15:clr>
            <a:srgbClr val="C35EA4"/>
          </p15:clr>
        </p15:guide>
        <p15:guide id="32" pos="1528" userDrawn="1">
          <p15:clr>
            <a:srgbClr val="C35EA4"/>
          </p15:clr>
        </p15:guide>
        <p15:guide id="33" pos="2621" userDrawn="1">
          <p15:clr>
            <a:srgbClr val="C35EA4"/>
          </p15:clr>
        </p15:guide>
        <p15:guide id="34" pos="2765" userDrawn="1">
          <p15:clr>
            <a:srgbClr val="C35EA4"/>
          </p15:clr>
        </p15:guide>
        <p15:guide id="35" pos="3854" userDrawn="1">
          <p15:clr>
            <a:srgbClr val="C35EA4"/>
          </p15:clr>
        </p15:guide>
        <p15:guide id="36" pos="4003" userDrawn="1">
          <p15:clr>
            <a:srgbClr val="C35EA4"/>
          </p15:clr>
        </p15:guide>
        <p15:guide id="37" pos="5083" userDrawn="1">
          <p15:clr>
            <a:srgbClr val="C35EA4"/>
          </p15:clr>
        </p15:guide>
        <p15:guide id="38" pos="5230" userDrawn="1">
          <p15:clr>
            <a:srgbClr val="C35EA4"/>
          </p15:clr>
        </p15:guide>
        <p15:guide id="39" pos="6323" userDrawn="1">
          <p15:clr>
            <a:srgbClr val="C35EA4"/>
          </p15:clr>
        </p15:guide>
        <p15:guide id="40" pos="6469" userDrawn="1">
          <p15:clr>
            <a:srgbClr val="C35EA4"/>
          </p15:clr>
        </p15:guide>
        <p15:guide id="41" pos="293" userDrawn="1">
          <p15:clr>
            <a:srgbClr val="F26B43"/>
          </p15:clr>
        </p15:guide>
        <p15:guide id="42" pos="7565" userDrawn="1">
          <p15:clr>
            <a:srgbClr val="F26B43"/>
          </p15:clr>
        </p15:guide>
        <p15:guide id="43" orient="horz" pos="751" userDrawn="1">
          <p15:clr>
            <a:srgbClr val="5ACBF0"/>
          </p15:clr>
        </p15:guide>
        <p15:guide id="44" orient="horz" pos="1387" userDrawn="1">
          <p15:clr>
            <a:srgbClr val="5ACBF0"/>
          </p15:clr>
        </p15:guide>
        <p15:guide id="45" orient="horz" pos="605" userDrawn="1">
          <p15:clr>
            <a:srgbClr val="5ACBF0"/>
          </p15:clr>
        </p15:guide>
        <p15:guide id="46" orient="horz" pos="1514" userDrawn="1">
          <p15:clr>
            <a:srgbClr val="5ACBF0"/>
          </p15:clr>
        </p15:guide>
        <p15:guide id="47" orient="horz" pos="2130" userDrawn="1">
          <p15:clr>
            <a:srgbClr val="5ACBF0"/>
          </p15:clr>
        </p15:guide>
        <p15:guide id="48" orient="horz" pos="2299" userDrawn="1">
          <p15:clr>
            <a:srgbClr val="5ACBF0"/>
          </p15:clr>
        </p15:guide>
        <p15:guide id="49" orient="horz" pos="283" userDrawn="1">
          <p15:clr>
            <a:srgbClr val="F26B43"/>
          </p15:clr>
        </p15:guide>
        <p15:guide id="50" orient="horz" pos="4120" userDrawn="1">
          <p15:clr>
            <a:srgbClr val="F26B43"/>
          </p15:clr>
        </p15:guide>
        <p15:guide id="51" orient="horz" pos="2891" userDrawn="1">
          <p15:clr>
            <a:srgbClr val="5ACBF0"/>
          </p15:clr>
        </p15:guide>
        <p15:guide id="52" orient="horz" pos="3019" userDrawn="1">
          <p15:clr>
            <a:srgbClr val="5ACBF0"/>
          </p15:clr>
        </p15:guide>
        <p15:guide id="53" orient="horz" pos="3643" userDrawn="1">
          <p15:clr>
            <a:srgbClr val="5ACBF0"/>
          </p15:clr>
        </p15:guide>
        <p15:guide id="54" orient="horz" pos="3763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F7DB54B-389F-024C-4D79-28A5DD9BCD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2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7" r:id="rId1"/>
    <p:sldLayoutId id="2147484578" r:id="rId2"/>
    <p:sldLayoutId id="2147484579" r:id="rId3"/>
    <p:sldLayoutId id="2147484580" r:id="rId4"/>
    <p:sldLayoutId id="2147484581" r:id="rId5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5" pos="1349" userDrawn="1">
          <p15:clr>
            <a:srgbClr val="C35EA4"/>
          </p15:clr>
        </p15:guide>
        <p15:guide id="56" pos="1528" userDrawn="1">
          <p15:clr>
            <a:srgbClr val="C35EA4"/>
          </p15:clr>
        </p15:guide>
        <p15:guide id="57" pos="2621" userDrawn="1">
          <p15:clr>
            <a:srgbClr val="C35EA4"/>
          </p15:clr>
        </p15:guide>
        <p15:guide id="58" pos="2765" userDrawn="1">
          <p15:clr>
            <a:srgbClr val="C35EA4"/>
          </p15:clr>
        </p15:guide>
        <p15:guide id="59" pos="3854" userDrawn="1">
          <p15:clr>
            <a:srgbClr val="C35EA4"/>
          </p15:clr>
        </p15:guide>
        <p15:guide id="60" pos="4003" userDrawn="1">
          <p15:clr>
            <a:srgbClr val="C35EA4"/>
          </p15:clr>
        </p15:guide>
        <p15:guide id="61" pos="5083" userDrawn="1">
          <p15:clr>
            <a:srgbClr val="C35EA4"/>
          </p15:clr>
        </p15:guide>
        <p15:guide id="62" pos="5230" userDrawn="1">
          <p15:clr>
            <a:srgbClr val="C35EA4"/>
          </p15:clr>
        </p15:guide>
        <p15:guide id="63" pos="6323" userDrawn="1">
          <p15:clr>
            <a:srgbClr val="C35EA4"/>
          </p15:clr>
        </p15:guide>
        <p15:guide id="64" pos="6469" userDrawn="1">
          <p15:clr>
            <a:srgbClr val="C35EA4"/>
          </p15:clr>
        </p15:guide>
        <p15:guide id="65" pos="293" userDrawn="1">
          <p15:clr>
            <a:srgbClr val="F26B43"/>
          </p15:clr>
        </p15:guide>
        <p15:guide id="66" pos="7565" userDrawn="1">
          <p15:clr>
            <a:srgbClr val="F26B43"/>
          </p15:clr>
        </p15:guide>
        <p15:guide id="67" orient="horz" pos="751" userDrawn="1">
          <p15:clr>
            <a:srgbClr val="5ACBF0"/>
          </p15:clr>
        </p15:guide>
        <p15:guide id="68" orient="horz" pos="1387" userDrawn="1">
          <p15:clr>
            <a:srgbClr val="5ACBF0"/>
          </p15:clr>
        </p15:guide>
        <p15:guide id="69" orient="horz" pos="605" userDrawn="1">
          <p15:clr>
            <a:srgbClr val="5ACBF0"/>
          </p15:clr>
        </p15:guide>
        <p15:guide id="70" orient="horz" pos="1514" userDrawn="1">
          <p15:clr>
            <a:srgbClr val="5ACBF0"/>
          </p15:clr>
        </p15:guide>
        <p15:guide id="71" orient="horz" pos="2130" userDrawn="1">
          <p15:clr>
            <a:srgbClr val="5ACBF0"/>
          </p15:clr>
        </p15:guide>
        <p15:guide id="72" orient="horz" pos="2299" userDrawn="1">
          <p15:clr>
            <a:srgbClr val="5ACBF0"/>
          </p15:clr>
        </p15:guide>
        <p15:guide id="73" orient="horz" pos="283" userDrawn="1">
          <p15:clr>
            <a:srgbClr val="F26B43"/>
          </p15:clr>
        </p15:guide>
        <p15:guide id="74" orient="horz" pos="4120" userDrawn="1">
          <p15:clr>
            <a:srgbClr val="F26B43"/>
          </p15:clr>
        </p15:guide>
        <p15:guide id="75" orient="horz" pos="2891" userDrawn="1">
          <p15:clr>
            <a:srgbClr val="5ACBF0"/>
          </p15:clr>
        </p15:guide>
        <p15:guide id="76" orient="horz" pos="3019" userDrawn="1">
          <p15:clr>
            <a:srgbClr val="5ACBF0"/>
          </p15:clr>
        </p15:guide>
        <p15:guide id="77" orient="horz" pos="3643" userDrawn="1">
          <p15:clr>
            <a:srgbClr val="5ACBF0"/>
          </p15:clr>
        </p15:guide>
        <p15:guide id="78" orient="horz" pos="376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7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26B8-78C9-AA17-D8CE-6BC402B71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85473AEA-D435-81A9-1DA2-C2C1A3DA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5" y="2897842"/>
            <a:ext cx="10330234" cy="1908215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br>
              <a:rPr lang="en-US" sz="4400" dirty="0"/>
            </a:br>
            <a:r>
              <a:rPr lang="en-US" sz="4400" dirty="0"/>
              <a:t>Best Practices with Fabric CI-CD</a:t>
            </a:r>
            <a:br>
              <a:rPr lang="en-US" sz="4400" dirty="0"/>
            </a:br>
            <a:r>
              <a:rPr lang="en-US" sz="2400" dirty="0"/>
              <a:t>Diagrams, Images and Screenshots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11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88E04-D23A-A25B-F1EB-8E9F9E3F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E7FFA56-CE0E-CFF5-B162-583DA80A914D}"/>
              </a:ext>
            </a:extLst>
          </p:cNvPr>
          <p:cNvSpPr/>
          <p:nvPr/>
        </p:nvSpPr>
        <p:spPr bwMode="auto">
          <a:xfrm>
            <a:off x="698157" y="1328512"/>
            <a:ext cx="5066539" cy="20691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D4FBE6-79B5-FC66-133B-7E47E5765745}"/>
              </a:ext>
            </a:extLst>
          </p:cNvPr>
          <p:cNvSpPr/>
          <p:nvPr/>
        </p:nvSpPr>
        <p:spPr bwMode="auto">
          <a:xfrm>
            <a:off x="3699718" y="1506118"/>
            <a:ext cx="1886073" cy="171376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shared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codebase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516FAD5-2F91-29A4-A6E3-9A97FC9B5D67}"/>
              </a:ext>
            </a:extLst>
          </p:cNvPr>
          <p:cNvSpPr/>
          <p:nvPr/>
        </p:nvSpPr>
        <p:spPr bwMode="auto">
          <a:xfrm>
            <a:off x="2188867" y="1536252"/>
            <a:ext cx="1438916" cy="45967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merge changes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5661F-7FA0-1D15-6A83-4A38E66BFB70}"/>
              </a:ext>
            </a:extLst>
          </p:cNvPr>
          <p:cNvSpPr/>
          <p:nvPr/>
        </p:nvSpPr>
        <p:spPr bwMode="auto">
          <a:xfrm>
            <a:off x="855870" y="1506118"/>
            <a:ext cx="1261062" cy="4596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B4548C-BDCC-D32D-6DE5-8744F627A835}"/>
              </a:ext>
            </a:extLst>
          </p:cNvPr>
          <p:cNvSpPr/>
          <p:nvPr/>
        </p:nvSpPr>
        <p:spPr bwMode="auto">
          <a:xfrm>
            <a:off x="855870" y="2066022"/>
            <a:ext cx="1261062" cy="4596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EDDA63-B437-941E-F89B-82AE159FDC61}"/>
              </a:ext>
            </a:extLst>
          </p:cNvPr>
          <p:cNvSpPr/>
          <p:nvPr/>
        </p:nvSpPr>
        <p:spPr bwMode="auto">
          <a:xfrm>
            <a:off x="855870" y="2760202"/>
            <a:ext cx="1261062" cy="4596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N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52EF814-C49C-2BDD-746A-35D92D467376}"/>
              </a:ext>
            </a:extLst>
          </p:cNvPr>
          <p:cNvSpPr/>
          <p:nvPr/>
        </p:nvSpPr>
        <p:spPr bwMode="auto">
          <a:xfrm>
            <a:off x="2188867" y="2066022"/>
            <a:ext cx="1438916" cy="45967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merge changes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BC2C7C1-A356-D0EC-8558-427D50CA6645}"/>
              </a:ext>
            </a:extLst>
          </p:cNvPr>
          <p:cNvSpPr/>
          <p:nvPr/>
        </p:nvSpPr>
        <p:spPr bwMode="auto">
          <a:xfrm>
            <a:off x="2188867" y="2760202"/>
            <a:ext cx="1438916" cy="45967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merge changes</a:t>
            </a:r>
          </a:p>
        </p:txBody>
      </p:sp>
    </p:spTree>
    <p:extLst>
      <p:ext uri="{BB962C8B-B14F-4D97-AF65-F5344CB8AC3E}">
        <p14:creationId xmlns:p14="http://schemas.microsoft.com/office/powerpoint/2010/main" val="298033194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8C485D-3A46-40D1-5373-DDF18F784091}"/>
              </a:ext>
            </a:extLst>
          </p:cNvPr>
          <p:cNvSpPr/>
          <p:nvPr/>
        </p:nvSpPr>
        <p:spPr bwMode="auto">
          <a:xfrm>
            <a:off x="1543736" y="615928"/>
            <a:ext cx="5622378" cy="12218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B81A26D-EBCD-FB0A-ED1B-5BB31977E55B}"/>
              </a:ext>
            </a:extLst>
          </p:cNvPr>
          <p:cNvGrpSpPr/>
          <p:nvPr/>
        </p:nvGrpSpPr>
        <p:grpSpPr>
          <a:xfrm>
            <a:off x="1664104" y="773980"/>
            <a:ext cx="5320563" cy="893455"/>
            <a:chOff x="1664104" y="773980"/>
            <a:chExt cx="6857927" cy="166707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75316FA-3A99-1746-7388-C57FA01FDF73}"/>
                </a:ext>
              </a:extLst>
            </p:cNvPr>
            <p:cNvSpPr/>
            <p:nvPr/>
          </p:nvSpPr>
          <p:spPr bwMode="auto">
            <a:xfrm>
              <a:off x="1664104" y="773980"/>
              <a:ext cx="1632212" cy="166707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6F9DE8-BFD8-ED75-D80E-6643CBD92F41}"/>
                </a:ext>
              </a:extLst>
            </p:cNvPr>
            <p:cNvSpPr/>
            <p:nvPr/>
          </p:nvSpPr>
          <p:spPr bwMode="auto">
            <a:xfrm>
              <a:off x="4275308" y="797714"/>
              <a:ext cx="1625443" cy="164333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7E711A8B-74EF-8F35-800C-37539A4E8977}"/>
                </a:ext>
              </a:extLst>
            </p:cNvPr>
            <p:cNvSpPr/>
            <p:nvPr/>
          </p:nvSpPr>
          <p:spPr bwMode="auto">
            <a:xfrm>
              <a:off x="3363614" y="1301322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876C167-CDFD-1E40-7D5A-871E02B6B79C}"/>
                </a:ext>
              </a:extLst>
            </p:cNvPr>
            <p:cNvSpPr/>
            <p:nvPr/>
          </p:nvSpPr>
          <p:spPr bwMode="auto">
            <a:xfrm>
              <a:off x="6896588" y="797714"/>
              <a:ext cx="1625443" cy="1643338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A55C7AC8-4247-2C70-2CDB-A7000BB82B63}"/>
                </a:ext>
              </a:extLst>
            </p:cNvPr>
            <p:cNvSpPr/>
            <p:nvPr/>
          </p:nvSpPr>
          <p:spPr bwMode="auto">
            <a:xfrm>
              <a:off x="5984894" y="1301322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755312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FA20437-8694-791F-60C9-44BBDF1326A0}"/>
              </a:ext>
            </a:extLst>
          </p:cNvPr>
          <p:cNvGrpSpPr/>
          <p:nvPr/>
        </p:nvGrpSpPr>
        <p:grpSpPr>
          <a:xfrm>
            <a:off x="1304597" y="2701399"/>
            <a:ext cx="4277086" cy="3309886"/>
            <a:chOff x="1304597" y="2701399"/>
            <a:chExt cx="4277086" cy="330988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0F072A0-44ED-4CF5-6CD6-7D3A1C0E4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5525" y="3042186"/>
              <a:ext cx="4255708" cy="2969099"/>
            </a:xfrm>
            <a:prstGeom prst="rect">
              <a:avLst/>
            </a:prstGeom>
            <a:ln>
              <a:solidFill>
                <a:schemeClr val="tx1">
                  <a:lumMod val="75000"/>
                </a:schemeClr>
              </a:solidFill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E5D027-CAA7-3745-CFF1-906D87B657CA}"/>
                </a:ext>
              </a:extLst>
            </p:cNvPr>
            <p:cNvSpPr/>
            <p:nvPr/>
          </p:nvSpPr>
          <p:spPr bwMode="auto">
            <a:xfrm>
              <a:off x="1304597" y="2701399"/>
              <a:ext cx="4277086" cy="34078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solution workspace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860526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304F1-DCE9-082B-4798-46EFB66DE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4004CB-49FD-026A-AF15-6EF2C9DF8122}"/>
              </a:ext>
            </a:extLst>
          </p:cNvPr>
          <p:cNvSpPr/>
          <p:nvPr/>
        </p:nvSpPr>
        <p:spPr bwMode="auto">
          <a:xfrm>
            <a:off x="461168" y="387423"/>
            <a:ext cx="11172031" cy="51904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A3BAF9-40E5-9A38-F7E2-0BF88B3707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7577"/>
          <a:stretch>
            <a:fillRect/>
          </a:stretch>
        </p:blipFill>
        <p:spPr>
          <a:xfrm>
            <a:off x="747632" y="992229"/>
            <a:ext cx="5125165" cy="491131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BA7569-3965-E9AF-9DD1-7DE8793F76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2" t="7965"/>
          <a:stretch>
            <a:fillRect/>
          </a:stretch>
        </p:blipFill>
        <p:spPr>
          <a:xfrm>
            <a:off x="6364764" y="951589"/>
            <a:ext cx="5053094" cy="43837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8922431-F7AF-B822-6046-562224AE7F8C}"/>
              </a:ext>
            </a:extLst>
          </p:cNvPr>
          <p:cNvSpPr/>
          <p:nvPr/>
        </p:nvSpPr>
        <p:spPr bwMode="auto">
          <a:xfrm>
            <a:off x="676511" y="607667"/>
            <a:ext cx="5145486" cy="343922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presentation workspace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982FEB-26F9-FB41-F171-0808CEC3094E}"/>
              </a:ext>
            </a:extLst>
          </p:cNvPr>
          <p:cNvSpPr/>
          <p:nvPr/>
        </p:nvSpPr>
        <p:spPr bwMode="auto">
          <a:xfrm>
            <a:off x="6344442" y="599810"/>
            <a:ext cx="5073415" cy="343922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staging workspace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E35A62-78C7-D1B4-29EB-5407BDB83C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474"/>
          <a:stretch>
            <a:fillRect/>
          </a:stretch>
        </p:blipFill>
        <p:spPr>
          <a:xfrm>
            <a:off x="747632" y="1483360"/>
            <a:ext cx="5125165" cy="302541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5FFF870-63D6-8984-6176-A39125C79AB2}"/>
              </a:ext>
            </a:extLst>
          </p:cNvPr>
          <p:cNvSpPr/>
          <p:nvPr/>
        </p:nvSpPr>
        <p:spPr bwMode="auto">
          <a:xfrm>
            <a:off x="676511" y="951589"/>
            <a:ext cx="5145486" cy="3557187"/>
          </a:xfrm>
          <a:prstGeom prst="rect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16658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164F52B3-3A76-0930-C427-C3E8952DF810}"/>
              </a:ext>
            </a:extLst>
          </p:cNvPr>
          <p:cNvGrpSpPr/>
          <p:nvPr/>
        </p:nvGrpSpPr>
        <p:grpSpPr>
          <a:xfrm>
            <a:off x="405816" y="578706"/>
            <a:ext cx="10252024" cy="2444545"/>
            <a:chOff x="101016" y="771746"/>
            <a:chExt cx="11847144" cy="282489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79A6CB7-1AA1-EF3C-8DBB-04F18D20A525}"/>
                </a:ext>
              </a:extLst>
            </p:cNvPr>
            <p:cNvSpPr/>
            <p:nvPr/>
          </p:nvSpPr>
          <p:spPr bwMode="auto">
            <a:xfrm>
              <a:off x="101016" y="771746"/>
              <a:ext cx="11847144" cy="28248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4318084D-0D67-9F5C-7610-34F30F7E98B9}"/>
                </a:ext>
              </a:extLst>
            </p:cNvPr>
            <p:cNvSpPr/>
            <p:nvPr/>
          </p:nvSpPr>
          <p:spPr bwMode="auto">
            <a:xfrm>
              <a:off x="3587955" y="1889828"/>
              <a:ext cx="752617" cy="563590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141D90F-0997-31C5-CB00-C3FD03E40945}"/>
                </a:ext>
              </a:extLst>
            </p:cNvPr>
            <p:cNvGrpSpPr/>
            <p:nvPr/>
          </p:nvGrpSpPr>
          <p:grpSpPr>
            <a:xfrm>
              <a:off x="254001" y="897388"/>
              <a:ext cx="3261359" cy="2548470"/>
              <a:chOff x="254001" y="824650"/>
              <a:chExt cx="3261359" cy="254847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2026257-22E9-C796-4ADD-3D7AFC0A1916}"/>
                  </a:ext>
                </a:extLst>
              </p:cNvPr>
              <p:cNvSpPr/>
              <p:nvPr/>
            </p:nvSpPr>
            <p:spPr bwMode="auto">
              <a:xfrm>
                <a:off x="254001" y="824650"/>
                <a:ext cx="3261359" cy="254847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9144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 environment</a:t>
                </a:r>
              </a:p>
            </p:txBody>
          </p:sp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4873E3F-3C1A-6F6F-0930-3E5FCE14E8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74315" y="1158076"/>
                <a:ext cx="3030889" cy="2114574"/>
              </a:xfrm>
              <a:prstGeom prst="rect">
                <a:avLst/>
              </a:prstGeom>
              <a:ln>
                <a:solidFill>
                  <a:schemeClr val="tx1">
                    <a:lumMod val="75000"/>
                  </a:schemeClr>
                </a:solidFill>
              </a:ln>
            </p:spPr>
          </p:pic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96C10B5-CF4F-86BA-B6A3-7649EA8D5D1C}"/>
                </a:ext>
              </a:extLst>
            </p:cNvPr>
            <p:cNvGrpSpPr/>
            <p:nvPr/>
          </p:nvGrpSpPr>
          <p:grpSpPr>
            <a:xfrm>
              <a:off x="4413167" y="897388"/>
              <a:ext cx="3261359" cy="2548470"/>
              <a:chOff x="4587557" y="3272650"/>
              <a:chExt cx="3261359" cy="254847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28E7C84-7117-A395-D81D-663F93D1FC7B}"/>
                  </a:ext>
                </a:extLst>
              </p:cNvPr>
              <p:cNvSpPr/>
              <p:nvPr/>
            </p:nvSpPr>
            <p:spPr bwMode="auto">
              <a:xfrm>
                <a:off x="4587557" y="3272650"/>
                <a:ext cx="3261359" cy="254847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9144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environment</a:t>
                </a: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2A9C3CAE-3007-917A-0A44-EA52141E1B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07871" y="3606076"/>
                <a:ext cx="3030889" cy="2114574"/>
              </a:xfrm>
              <a:prstGeom prst="rect">
                <a:avLst/>
              </a:prstGeom>
              <a:ln>
                <a:solidFill>
                  <a:schemeClr val="tx1">
                    <a:lumMod val="75000"/>
                  </a:schemeClr>
                </a:solidFill>
              </a:ln>
            </p:spPr>
          </p:pic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302D7FC-C25D-BEC1-A5BC-941CF189D637}"/>
                </a:ext>
              </a:extLst>
            </p:cNvPr>
            <p:cNvGrpSpPr/>
            <p:nvPr/>
          </p:nvGrpSpPr>
          <p:grpSpPr>
            <a:xfrm>
              <a:off x="8572335" y="897388"/>
              <a:ext cx="3261359" cy="2548470"/>
              <a:chOff x="4587557" y="3272650"/>
              <a:chExt cx="3261359" cy="254847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0295818-7845-1260-6965-B370D4DAF6C1}"/>
                  </a:ext>
                </a:extLst>
              </p:cNvPr>
              <p:cNvSpPr/>
              <p:nvPr/>
            </p:nvSpPr>
            <p:spPr bwMode="auto">
              <a:xfrm>
                <a:off x="4587557" y="3272650"/>
                <a:ext cx="3261359" cy="254847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9144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environment</a:t>
                </a:r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59DAAD2B-DF9D-F879-7A69-56460D713A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07871" y="3606076"/>
                <a:ext cx="3030889" cy="2114574"/>
              </a:xfrm>
              <a:prstGeom prst="rect">
                <a:avLst/>
              </a:prstGeom>
              <a:ln>
                <a:solidFill>
                  <a:schemeClr val="tx1">
                    <a:lumMod val="75000"/>
                  </a:schemeClr>
                </a:solidFill>
              </a:ln>
            </p:spPr>
          </p:pic>
        </p:grp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05531E5D-497F-0D54-827D-5927866DCABE}"/>
                </a:ext>
              </a:extLst>
            </p:cNvPr>
            <p:cNvSpPr/>
            <p:nvPr/>
          </p:nvSpPr>
          <p:spPr bwMode="auto">
            <a:xfrm>
              <a:off x="7747121" y="1889828"/>
              <a:ext cx="752617" cy="563590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586689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6DEB0D-84D8-05A6-1192-3AFFB02D3339}"/>
              </a:ext>
            </a:extLst>
          </p:cNvPr>
          <p:cNvSpPr/>
          <p:nvPr/>
        </p:nvSpPr>
        <p:spPr bwMode="auto">
          <a:xfrm>
            <a:off x="367171" y="590155"/>
            <a:ext cx="3695245" cy="179445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environment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C9560D-64AC-48D2-C6DC-30DD84EF2BBC}"/>
              </a:ext>
            </a:extLst>
          </p:cNvPr>
          <p:cNvSpPr/>
          <p:nvPr/>
        </p:nvSpPr>
        <p:spPr bwMode="auto">
          <a:xfrm>
            <a:off x="581278" y="1689040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capacity (F4)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65DDEF-7F48-5E25-1570-C0ADF6801E9E}"/>
              </a:ext>
            </a:extLst>
          </p:cNvPr>
          <p:cNvSpPr/>
          <p:nvPr/>
        </p:nvSpPr>
        <p:spPr bwMode="auto">
          <a:xfrm>
            <a:off x="581278" y="1049494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DC9BCE-6015-0059-97C7-BE2AC020554C}"/>
              </a:ext>
            </a:extLst>
          </p:cNvPr>
          <p:cNvSpPr/>
          <p:nvPr/>
        </p:nvSpPr>
        <p:spPr bwMode="auto">
          <a:xfrm>
            <a:off x="4276523" y="590155"/>
            <a:ext cx="3695245" cy="1794458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 environment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57AA95-0F2A-00F2-B7D9-C7E8D2F74078}"/>
              </a:ext>
            </a:extLst>
          </p:cNvPr>
          <p:cNvSpPr/>
          <p:nvPr/>
        </p:nvSpPr>
        <p:spPr bwMode="auto">
          <a:xfrm>
            <a:off x="4490630" y="1689040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capacity (F16)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48FFFD-FF7F-26D0-8C79-F6C1C0A30ABC}"/>
              </a:ext>
            </a:extLst>
          </p:cNvPr>
          <p:cNvSpPr/>
          <p:nvPr/>
        </p:nvSpPr>
        <p:spPr bwMode="auto">
          <a:xfrm>
            <a:off x="4490630" y="1049494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447EE76-D4D9-A92B-07E6-0F2CB4917821}"/>
              </a:ext>
            </a:extLst>
          </p:cNvPr>
          <p:cNvSpPr/>
          <p:nvPr/>
        </p:nvSpPr>
        <p:spPr bwMode="auto">
          <a:xfrm>
            <a:off x="8159952" y="590155"/>
            <a:ext cx="3695245" cy="179445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environment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C1B7C5D-8BC3-8081-5058-5C5F6C9145CE}"/>
              </a:ext>
            </a:extLst>
          </p:cNvPr>
          <p:cNvSpPr/>
          <p:nvPr/>
        </p:nvSpPr>
        <p:spPr bwMode="auto">
          <a:xfrm>
            <a:off x="8374059" y="1689040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capacity (F64)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1CEC61-EB4F-670F-65E3-CD60A6ECC845}"/>
              </a:ext>
            </a:extLst>
          </p:cNvPr>
          <p:cNvSpPr/>
          <p:nvPr/>
        </p:nvSpPr>
        <p:spPr bwMode="auto">
          <a:xfrm>
            <a:off x="8374059" y="1049494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82954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1D4C8-ECF6-3696-D807-AB8D759E6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80EAB2-70B5-EB0C-9D7E-A91D0548D745}"/>
              </a:ext>
            </a:extLst>
          </p:cNvPr>
          <p:cNvSpPr/>
          <p:nvPr/>
        </p:nvSpPr>
        <p:spPr bwMode="auto">
          <a:xfrm>
            <a:off x="367171" y="590154"/>
            <a:ext cx="3695245" cy="30853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environment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1A738F-3F2D-E1F4-FD9C-26B2A570662E}"/>
              </a:ext>
            </a:extLst>
          </p:cNvPr>
          <p:cNvSpPr/>
          <p:nvPr/>
        </p:nvSpPr>
        <p:spPr bwMode="auto">
          <a:xfrm>
            <a:off x="581278" y="1689040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capacity (F4)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8DAA8B-164B-BD1A-3293-B632867294FE}"/>
              </a:ext>
            </a:extLst>
          </p:cNvPr>
          <p:cNvSpPr/>
          <p:nvPr/>
        </p:nvSpPr>
        <p:spPr bwMode="auto">
          <a:xfrm>
            <a:off x="581278" y="2328586"/>
            <a:ext cx="3267031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Azure Storage Account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used to store dev data files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03B977-15B4-153C-A69C-1C21D1572155}"/>
              </a:ext>
            </a:extLst>
          </p:cNvPr>
          <p:cNvSpPr/>
          <p:nvPr/>
        </p:nvSpPr>
        <p:spPr bwMode="auto">
          <a:xfrm>
            <a:off x="581278" y="1049494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025646-9568-6E8F-0398-1814BD048040}"/>
              </a:ext>
            </a:extLst>
          </p:cNvPr>
          <p:cNvSpPr/>
          <p:nvPr/>
        </p:nvSpPr>
        <p:spPr bwMode="auto">
          <a:xfrm>
            <a:off x="581278" y="2968133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Connection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to dev storage account</a:t>
            </a:r>
            <a:endParaRPr lang="en-US" sz="10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E9FFB44-606B-1AA3-94F3-2AE9AEC5B350}"/>
              </a:ext>
            </a:extLst>
          </p:cNvPr>
          <p:cNvSpPr/>
          <p:nvPr/>
        </p:nvSpPr>
        <p:spPr bwMode="auto">
          <a:xfrm>
            <a:off x="4276523" y="590154"/>
            <a:ext cx="3695245" cy="3085373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 environment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AFF555F-ED12-529A-0D68-3038712CBA88}"/>
              </a:ext>
            </a:extLst>
          </p:cNvPr>
          <p:cNvSpPr/>
          <p:nvPr/>
        </p:nvSpPr>
        <p:spPr bwMode="auto">
          <a:xfrm>
            <a:off x="4490630" y="1689040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capacity (F16)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B938BA9-09F2-ABE9-7B47-52D88392EB7E}"/>
              </a:ext>
            </a:extLst>
          </p:cNvPr>
          <p:cNvSpPr/>
          <p:nvPr/>
        </p:nvSpPr>
        <p:spPr bwMode="auto">
          <a:xfrm>
            <a:off x="4490630" y="2328586"/>
            <a:ext cx="3267031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Azure Storage Account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used to store test data files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3043F6F-6282-9B6B-8BAE-555BF5817B13}"/>
              </a:ext>
            </a:extLst>
          </p:cNvPr>
          <p:cNvSpPr/>
          <p:nvPr/>
        </p:nvSpPr>
        <p:spPr bwMode="auto">
          <a:xfrm>
            <a:off x="4490630" y="1049494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456399-447A-2544-6CF2-7587F0D8F2BA}"/>
              </a:ext>
            </a:extLst>
          </p:cNvPr>
          <p:cNvSpPr/>
          <p:nvPr/>
        </p:nvSpPr>
        <p:spPr bwMode="auto">
          <a:xfrm>
            <a:off x="4490630" y="2968133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Connection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to test storage account</a:t>
            </a:r>
            <a:endParaRPr lang="en-US" sz="10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19907E5-7069-E1B0-8BB2-00E9556C22D2}"/>
              </a:ext>
            </a:extLst>
          </p:cNvPr>
          <p:cNvSpPr/>
          <p:nvPr/>
        </p:nvSpPr>
        <p:spPr bwMode="auto">
          <a:xfrm>
            <a:off x="8159952" y="590154"/>
            <a:ext cx="3695245" cy="308537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environment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B30B4A4-E3F8-5F8A-256B-83315F59A324}"/>
              </a:ext>
            </a:extLst>
          </p:cNvPr>
          <p:cNvSpPr/>
          <p:nvPr/>
        </p:nvSpPr>
        <p:spPr bwMode="auto">
          <a:xfrm>
            <a:off x="8374059" y="1689040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capacity (F64)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D9D2C2F-3136-8B83-20C3-6271122CFFEF}"/>
              </a:ext>
            </a:extLst>
          </p:cNvPr>
          <p:cNvSpPr/>
          <p:nvPr/>
        </p:nvSpPr>
        <p:spPr bwMode="auto">
          <a:xfrm>
            <a:off x="8374059" y="2328586"/>
            <a:ext cx="3267031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Azure Storage Account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used to store prod data files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CAFE4A6-9CB4-09CD-670C-ED707824DEBC}"/>
              </a:ext>
            </a:extLst>
          </p:cNvPr>
          <p:cNvSpPr/>
          <p:nvPr/>
        </p:nvSpPr>
        <p:spPr bwMode="auto">
          <a:xfrm>
            <a:off x="8374059" y="1049494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666A40-BF4A-6054-AB85-BF14E54D406A}"/>
              </a:ext>
            </a:extLst>
          </p:cNvPr>
          <p:cNvSpPr/>
          <p:nvPr/>
        </p:nvSpPr>
        <p:spPr bwMode="auto">
          <a:xfrm>
            <a:off x="8374059" y="2968133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Connection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to prod storage account</a:t>
            </a:r>
            <a:endParaRPr lang="en-US" sz="10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37589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355D43-59C0-9C34-A078-23228550B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521" y="2244550"/>
            <a:ext cx="8297433" cy="25054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4511317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B332-B10D-D7A1-C70A-DEE2D965E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B7D506D-9DB6-56C3-34A3-7025F65D4D7F}"/>
              </a:ext>
            </a:extLst>
          </p:cNvPr>
          <p:cNvSpPr/>
          <p:nvPr/>
        </p:nvSpPr>
        <p:spPr bwMode="auto">
          <a:xfrm>
            <a:off x="1908943" y="1981202"/>
            <a:ext cx="9126611" cy="25997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DB41DF-AEF7-EACB-CBEF-B139B294F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723" y="2101698"/>
            <a:ext cx="2936796" cy="23413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504771-2B57-B0F9-4B5E-FFD242BF2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237" y="2101697"/>
            <a:ext cx="4627744" cy="23413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5BBD1075-1E6B-E13F-0345-41D668DC13C3}"/>
              </a:ext>
            </a:extLst>
          </p:cNvPr>
          <p:cNvSpPr/>
          <p:nvPr/>
        </p:nvSpPr>
        <p:spPr bwMode="auto">
          <a:xfrm>
            <a:off x="5015439" y="3168903"/>
            <a:ext cx="1166937" cy="475369"/>
          </a:xfrm>
          <a:prstGeom prst="rightArrow">
            <a:avLst>
              <a:gd name="adj1" fmla="val 62678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Commit to GIT</a:t>
            </a:r>
          </a:p>
        </p:txBody>
      </p:sp>
    </p:spTree>
    <p:extLst>
      <p:ext uri="{BB962C8B-B14F-4D97-AF65-F5344CB8AC3E}">
        <p14:creationId xmlns:p14="http://schemas.microsoft.com/office/powerpoint/2010/main" val="50774283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524661-05B7-816A-3BB6-33B3D520B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601" y="1844444"/>
            <a:ext cx="6249272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2655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11ED9-738A-F76D-BF98-7BEC528CF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0A41C63-A5C6-6E28-4FEC-5EB3B6E00003}"/>
              </a:ext>
            </a:extLst>
          </p:cNvPr>
          <p:cNvGrpSpPr/>
          <p:nvPr/>
        </p:nvGrpSpPr>
        <p:grpSpPr>
          <a:xfrm>
            <a:off x="1053583" y="708474"/>
            <a:ext cx="4621075" cy="958961"/>
            <a:chOff x="623277" y="717438"/>
            <a:chExt cx="4621075" cy="109343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2C8C80C-E0D0-AC3F-356D-930B960C3371}"/>
                </a:ext>
              </a:extLst>
            </p:cNvPr>
            <p:cNvSpPr/>
            <p:nvPr/>
          </p:nvSpPr>
          <p:spPr bwMode="auto">
            <a:xfrm>
              <a:off x="623277" y="717438"/>
              <a:ext cx="4621075" cy="10934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D30258E5-3A32-4FF5-D958-B1A72C737122}"/>
                </a:ext>
              </a:extLst>
            </p:cNvPr>
            <p:cNvSpPr/>
            <p:nvPr/>
          </p:nvSpPr>
          <p:spPr bwMode="auto">
            <a:xfrm flipH="1">
              <a:off x="2036715" y="985060"/>
              <a:ext cx="1779105" cy="555803"/>
            </a:xfrm>
            <a:prstGeom prst="rightArrow">
              <a:avLst>
                <a:gd name="adj1" fmla="val 62678"/>
                <a:gd name="adj2" fmla="val 5833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Update from GIT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5211951-AD22-E515-0FC6-479E3C892FD5}"/>
                </a:ext>
              </a:extLst>
            </p:cNvPr>
            <p:cNvSpPr/>
            <p:nvPr/>
          </p:nvSpPr>
          <p:spPr bwMode="auto">
            <a:xfrm>
              <a:off x="3874960" y="836056"/>
              <a:ext cx="1261062" cy="85380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GIT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01BB4FC-1366-9464-EFA7-3D6987320FBC}"/>
                </a:ext>
              </a:extLst>
            </p:cNvPr>
            <p:cNvSpPr/>
            <p:nvPr/>
          </p:nvSpPr>
          <p:spPr bwMode="auto">
            <a:xfrm>
              <a:off x="747816" y="83605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998496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3C7A9A-4B84-3DBC-AD05-0C09E44FB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97" y="416434"/>
            <a:ext cx="7494267" cy="41914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2366376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25E6E77-8A30-D875-931D-E71AA2B6B47B}"/>
              </a:ext>
            </a:extLst>
          </p:cNvPr>
          <p:cNvSpPr/>
          <p:nvPr/>
        </p:nvSpPr>
        <p:spPr bwMode="auto">
          <a:xfrm>
            <a:off x="903103" y="594377"/>
            <a:ext cx="7387457" cy="27584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Fabric solution design with Medallion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3EFDA4-0605-D094-B6DF-3F85940CE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463" y="961332"/>
            <a:ext cx="3449897" cy="18165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597693-3A42-51E6-9276-B711A4536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080" y="961332"/>
            <a:ext cx="3449897" cy="22836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1643006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F29E08-9B84-CF8A-4E2D-49BE8B6BE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99" y="223556"/>
            <a:ext cx="5042712" cy="51651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5575387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37AA8-FDDF-0FD1-6582-C416C5EF0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1CF3347-B2D3-274C-127B-32B4CC5052BE}"/>
              </a:ext>
            </a:extLst>
          </p:cNvPr>
          <p:cNvGrpSpPr/>
          <p:nvPr/>
        </p:nvGrpSpPr>
        <p:grpSpPr>
          <a:xfrm>
            <a:off x="856362" y="887768"/>
            <a:ext cx="4441780" cy="958961"/>
            <a:chOff x="1499629" y="3739975"/>
            <a:chExt cx="4170074" cy="110263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3245836-9D1C-9AC2-9968-EB8F1B468793}"/>
                </a:ext>
              </a:extLst>
            </p:cNvPr>
            <p:cNvSpPr/>
            <p:nvPr/>
          </p:nvSpPr>
          <p:spPr bwMode="auto">
            <a:xfrm>
              <a:off x="1499629" y="3739975"/>
              <a:ext cx="4170074" cy="1102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2F6D6202-FAE5-ADE6-0DA5-1224E10FC62D}"/>
                </a:ext>
              </a:extLst>
            </p:cNvPr>
            <p:cNvSpPr/>
            <p:nvPr/>
          </p:nvSpPr>
          <p:spPr bwMode="auto">
            <a:xfrm>
              <a:off x="2949384" y="4006166"/>
              <a:ext cx="1261062" cy="555803"/>
            </a:xfrm>
            <a:prstGeom prst="rightArrow">
              <a:avLst>
                <a:gd name="adj1" fmla="val 62678"/>
                <a:gd name="adj2" fmla="val 5833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931375-FE59-4EFC-6920-9D7802820302}"/>
                </a:ext>
              </a:extLst>
            </p:cNvPr>
            <p:cNvSpPr/>
            <p:nvPr/>
          </p:nvSpPr>
          <p:spPr bwMode="auto">
            <a:xfrm>
              <a:off x="4304880" y="3857162"/>
              <a:ext cx="1261062" cy="85380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integration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5116C4-85B4-83E8-D877-38A71A8144D1}"/>
                </a:ext>
              </a:extLst>
            </p:cNvPr>
            <p:cNvSpPr/>
            <p:nvPr/>
          </p:nvSpPr>
          <p:spPr bwMode="auto">
            <a:xfrm>
              <a:off x="1590499" y="3857165"/>
              <a:ext cx="1261062" cy="853809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ts val="200"/>
                </a:spcAft>
              </a:pPr>
              <a:r>
                <a:rPr lang="en-US" sz="12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ts val="200"/>
                </a:spcAft>
              </a:pPr>
              <a:r>
                <a:rPr lang="en-US" sz="12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62724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65BD47B-8F89-A94D-6193-922593C63FDA}"/>
              </a:ext>
            </a:extLst>
          </p:cNvPr>
          <p:cNvGrpSpPr/>
          <p:nvPr/>
        </p:nvGrpSpPr>
        <p:grpSpPr>
          <a:xfrm>
            <a:off x="999796" y="475392"/>
            <a:ext cx="4728651" cy="958961"/>
            <a:chOff x="1499628" y="3750283"/>
            <a:chExt cx="4439397" cy="110263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CE70D18-A46E-3353-F81D-8B99141106FA}"/>
                </a:ext>
              </a:extLst>
            </p:cNvPr>
            <p:cNvSpPr/>
            <p:nvPr/>
          </p:nvSpPr>
          <p:spPr bwMode="auto">
            <a:xfrm>
              <a:off x="1499628" y="3750283"/>
              <a:ext cx="4439397" cy="1102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40431711-4E9C-54BE-8982-303C7C24A803}"/>
                </a:ext>
              </a:extLst>
            </p:cNvPr>
            <p:cNvSpPr/>
            <p:nvPr/>
          </p:nvSpPr>
          <p:spPr bwMode="auto">
            <a:xfrm>
              <a:off x="2949384" y="4006166"/>
              <a:ext cx="1603938" cy="555803"/>
            </a:xfrm>
            <a:prstGeom prst="rightArrow">
              <a:avLst>
                <a:gd name="adj1" fmla="val 62678"/>
                <a:gd name="adj2" fmla="val 5833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Commit to GIT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2486A9C-506E-D23F-784F-75F2CB33B26A}"/>
                </a:ext>
              </a:extLst>
            </p:cNvPr>
            <p:cNvSpPr/>
            <p:nvPr/>
          </p:nvSpPr>
          <p:spPr bwMode="auto">
            <a:xfrm>
              <a:off x="4574203" y="3857162"/>
              <a:ext cx="1261062" cy="85380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integration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9D1545-1B35-CDED-4887-B6796542A87B}"/>
                </a:ext>
              </a:extLst>
            </p:cNvPr>
            <p:cNvSpPr/>
            <p:nvPr/>
          </p:nvSpPr>
          <p:spPr bwMode="auto">
            <a:xfrm>
              <a:off x="1590499" y="3857165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ts val="200"/>
                </a:spcAft>
              </a:pPr>
              <a:r>
                <a:rPr lang="en-US" sz="12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27088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FE26F-3C1D-8755-6A70-7311DE418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2A5646-53EF-CC91-5539-154467FA0970}"/>
              </a:ext>
            </a:extLst>
          </p:cNvPr>
          <p:cNvSpPr/>
          <p:nvPr/>
        </p:nvSpPr>
        <p:spPr bwMode="auto">
          <a:xfrm>
            <a:off x="1275345" y="638804"/>
            <a:ext cx="7986164" cy="1050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C32AA54-935F-0A9A-07DC-D577321235D6}"/>
              </a:ext>
            </a:extLst>
          </p:cNvPr>
          <p:cNvSpPr/>
          <p:nvPr/>
        </p:nvSpPr>
        <p:spPr bwMode="auto">
          <a:xfrm>
            <a:off x="2855423" y="882149"/>
            <a:ext cx="1708445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Create Branch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5E4E8C-2DB5-4BF9-48CF-EDFE240FAC15}"/>
              </a:ext>
            </a:extLst>
          </p:cNvPr>
          <p:cNvSpPr/>
          <p:nvPr/>
        </p:nvSpPr>
        <p:spPr bwMode="auto">
          <a:xfrm>
            <a:off x="4586109" y="740446"/>
            <a:ext cx="1343228" cy="8119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28A12A-0CD5-635C-2146-70D3554B469E}"/>
              </a:ext>
            </a:extLst>
          </p:cNvPr>
          <p:cNvSpPr/>
          <p:nvPr/>
        </p:nvSpPr>
        <p:spPr bwMode="auto">
          <a:xfrm>
            <a:off x="1407998" y="740449"/>
            <a:ext cx="1343228" cy="8119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CAB6515-99DD-781F-3CB0-24E9A9DE9906}"/>
              </a:ext>
            </a:extLst>
          </p:cNvPr>
          <p:cNvSpPr/>
          <p:nvPr/>
        </p:nvSpPr>
        <p:spPr bwMode="auto">
          <a:xfrm>
            <a:off x="6002037" y="873179"/>
            <a:ext cx="1708445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Update from GIT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B06631-2901-1BAF-6B0A-90B6646F3644}"/>
              </a:ext>
            </a:extLst>
          </p:cNvPr>
          <p:cNvSpPr/>
          <p:nvPr/>
        </p:nvSpPr>
        <p:spPr bwMode="auto">
          <a:xfrm>
            <a:off x="7783281" y="743543"/>
            <a:ext cx="1343228" cy="8119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</p:spTree>
    <p:extLst>
      <p:ext uri="{BB962C8B-B14F-4D97-AF65-F5344CB8AC3E}">
        <p14:creationId xmlns:p14="http://schemas.microsoft.com/office/powerpoint/2010/main" val="3004167463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E7259A4-B068-D358-3746-E071FE213BC2}"/>
              </a:ext>
            </a:extLst>
          </p:cNvPr>
          <p:cNvGrpSpPr/>
          <p:nvPr/>
        </p:nvGrpSpPr>
        <p:grpSpPr>
          <a:xfrm>
            <a:off x="1334183" y="849630"/>
            <a:ext cx="7155393" cy="2647632"/>
            <a:chOff x="903877" y="552767"/>
            <a:chExt cx="7084299" cy="264763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68E41BF-198F-ADB2-976A-3D675BD4F4A3}"/>
                </a:ext>
              </a:extLst>
            </p:cNvPr>
            <p:cNvSpPr/>
            <p:nvPr/>
          </p:nvSpPr>
          <p:spPr bwMode="auto">
            <a:xfrm>
              <a:off x="903877" y="552767"/>
              <a:ext cx="7084299" cy="26476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F6A5552B-DB7D-6F2C-D43E-359301F3F785}"/>
                </a:ext>
              </a:extLst>
            </p:cNvPr>
            <p:cNvSpPr/>
            <p:nvPr/>
          </p:nvSpPr>
          <p:spPr bwMode="auto">
            <a:xfrm>
              <a:off x="2273039" y="783360"/>
              <a:ext cx="1379762" cy="431177"/>
            </a:xfrm>
            <a:prstGeom prst="rightArrow">
              <a:avLst>
                <a:gd name="adj1" fmla="val 62678"/>
                <a:gd name="adj2" fmla="val 5833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Commit to GIT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4A5E3C-6460-C90A-2236-7D9CC73FAC5D}"/>
                </a:ext>
              </a:extLst>
            </p:cNvPr>
            <p:cNvSpPr/>
            <p:nvPr/>
          </p:nvSpPr>
          <p:spPr bwMode="auto">
            <a:xfrm>
              <a:off x="3715678" y="668205"/>
              <a:ext cx="1186321" cy="66236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feature_1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92E4E2-6A87-28AF-09B0-E47A47A426AB}"/>
                </a:ext>
              </a:extLst>
            </p:cNvPr>
            <p:cNvSpPr/>
            <p:nvPr/>
          </p:nvSpPr>
          <p:spPr bwMode="auto">
            <a:xfrm>
              <a:off x="1021976" y="668207"/>
              <a:ext cx="1186321" cy="6623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feature_1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8412FFAF-0907-EB59-9520-B3B410ADD753}"/>
                </a:ext>
              </a:extLst>
            </p:cNvPr>
            <p:cNvSpPr/>
            <p:nvPr/>
          </p:nvSpPr>
          <p:spPr bwMode="auto">
            <a:xfrm>
              <a:off x="4957268" y="776070"/>
              <a:ext cx="1343229" cy="431177"/>
            </a:xfrm>
            <a:prstGeom prst="rightArrow">
              <a:avLst>
                <a:gd name="adj1" fmla="val 62678"/>
                <a:gd name="adj2" fmla="val 5833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64DB877-9ECF-4540-F069-230B4F3C13EE}"/>
                </a:ext>
              </a:extLst>
            </p:cNvPr>
            <p:cNvSpPr/>
            <p:nvPr/>
          </p:nvSpPr>
          <p:spPr bwMode="auto">
            <a:xfrm>
              <a:off x="6375842" y="668206"/>
              <a:ext cx="1469571" cy="240789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integration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F5F65CC7-3AD5-CA86-92AD-825F78A88999}"/>
                </a:ext>
              </a:extLst>
            </p:cNvPr>
            <p:cNvSpPr/>
            <p:nvPr/>
          </p:nvSpPr>
          <p:spPr bwMode="auto">
            <a:xfrm>
              <a:off x="2273039" y="1551298"/>
              <a:ext cx="1379762" cy="431177"/>
            </a:xfrm>
            <a:prstGeom prst="rightArrow">
              <a:avLst>
                <a:gd name="adj1" fmla="val 62678"/>
                <a:gd name="adj2" fmla="val 5833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Commit to GIT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5AD9694-A812-8979-B114-9E3D37CB0181}"/>
                </a:ext>
              </a:extLst>
            </p:cNvPr>
            <p:cNvSpPr/>
            <p:nvPr/>
          </p:nvSpPr>
          <p:spPr bwMode="auto">
            <a:xfrm>
              <a:off x="3715678" y="1436143"/>
              <a:ext cx="1186321" cy="66236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feature_2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1247A8C-069D-08DF-EC00-41649767EC9E}"/>
                </a:ext>
              </a:extLst>
            </p:cNvPr>
            <p:cNvSpPr/>
            <p:nvPr/>
          </p:nvSpPr>
          <p:spPr bwMode="auto">
            <a:xfrm>
              <a:off x="1021976" y="1436145"/>
              <a:ext cx="1186321" cy="6623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feature_2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622F39B9-C40C-E76D-415D-39D24E90A9E0}"/>
                </a:ext>
              </a:extLst>
            </p:cNvPr>
            <p:cNvSpPr/>
            <p:nvPr/>
          </p:nvSpPr>
          <p:spPr bwMode="auto">
            <a:xfrm>
              <a:off x="4957268" y="1544008"/>
              <a:ext cx="1343229" cy="431177"/>
            </a:xfrm>
            <a:prstGeom prst="rightArrow">
              <a:avLst>
                <a:gd name="adj1" fmla="val 62678"/>
                <a:gd name="adj2" fmla="val 5833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  <p:sp>
          <p:nvSpPr>
            <p:cNvPr id="33" name="Arrow: Right 32">
              <a:extLst>
                <a:ext uri="{FF2B5EF4-FFF2-40B4-BE49-F238E27FC236}">
                  <a16:creationId xmlns:a16="http://schemas.microsoft.com/office/drawing/2014/main" id="{8A8F427D-3877-42E6-742A-869B26BE2F75}"/>
                </a:ext>
              </a:extLst>
            </p:cNvPr>
            <p:cNvSpPr/>
            <p:nvPr/>
          </p:nvSpPr>
          <p:spPr bwMode="auto">
            <a:xfrm>
              <a:off x="2280160" y="2528897"/>
              <a:ext cx="1379762" cy="431177"/>
            </a:xfrm>
            <a:prstGeom prst="rightArrow">
              <a:avLst>
                <a:gd name="adj1" fmla="val 62678"/>
                <a:gd name="adj2" fmla="val 5833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Commit to GIT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0D25400-356C-46A4-1D4F-4513F75F1EE2}"/>
                </a:ext>
              </a:extLst>
            </p:cNvPr>
            <p:cNvSpPr/>
            <p:nvPr/>
          </p:nvSpPr>
          <p:spPr bwMode="auto">
            <a:xfrm>
              <a:off x="3722798" y="2413742"/>
              <a:ext cx="1186321" cy="66236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feature_N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576AF5B-A037-0D34-D663-86CB7CEC6EC6}"/>
                </a:ext>
              </a:extLst>
            </p:cNvPr>
            <p:cNvSpPr/>
            <p:nvPr/>
          </p:nvSpPr>
          <p:spPr bwMode="auto">
            <a:xfrm>
              <a:off x="1029097" y="2413744"/>
              <a:ext cx="1186321" cy="6623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feature_N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6" name="Arrow: Right 35">
              <a:extLst>
                <a:ext uri="{FF2B5EF4-FFF2-40B4-BE49-F238E27FC236}">
                  <a16:creationId xmlns:a16="http://schemas.microsoft.com/office/drawing/2014/main" id="{72D15B01-0B49-6915-16AD-CD44E7EB2277}"/>
                </a:ext>
              </a:extLst>
            </p:cNvPr>
            <p:cNvSpPr/>
            <p:nvPr/>
          </p:nvSpPr>
          <p:spPr bwMode="auto">
            <a:xfrm>
              <a:off x="4964388" y="2521607"/>
              <a:ext cx="1343229" cy="431177"/>
            </a:xfrm>
            <a:prstGeom prst="rightArrow">
              <a:avLst>
                <a:gd name="adj1" fmla="val 62678"/>
                <a:gd name="adj2" fmla="val 5833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41C3F50-C173-3212-672F-BA222726A61D}"/>
                </a:ext>
              </a:extLst>
            </p:cNvPr>
            <p:cNvCxnSpPr>
              <a:cxnSpLocks/>
            </p:cNvCxnSpPr>
            <p:nvPr/>
          </p:nvCxnSpPr>
          <p:spPr>
            <a:xfrm>
              <a:off x="1047027" y="2268071"/>
              <a:ext cx="5253470" cy="0"/>
            </a:xfrm>
            <a:prstGeom prst="line">
              <a:avLst/>
            </a:prstGeom>
            <a:ln w="19050">
              <a:solidFill>
                <a:schemeClr val="tx1">
                  <a:lumMod val="60000"/>
                  <a:lumOff val="40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482793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8B2D02-66AE-8312-7C68-D65660629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311" y="579525"/>
            <a:ext cx="4514843" cy="35621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01460325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FDF045-68AB-BA8E-F987-F193D151E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443" y="434547"/>
            <a:ext cx="6001588" cy="6125430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87376809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708E7-1FEB-5605-CF24-303D2CEC9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47DC44-79C7-AC2D-0257-5C3BD3FE0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059" y="890850"/>
            <a:ext cx="3370982" cy="1472504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E5FE1C-9106-3B81-48EF-11D49C3DF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13" y="568962"/>
            <a:ext cx="6154009" cy="45154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56519074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2521B9-C16B-B9BE-5A0C-D0AC83891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848" y="917069"/>
            <a:ext cx="6830378" cy="552527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3912125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C8E1B4-C7B8-A398-459C-A9F370763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17" y="474937"/>
            <a:ext cx="10087722" cy="30223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9774159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14CF55B-591F-4B32-5B45-1B29CB05DC53}"/>
              </a:ext>
            </a:extLst>
          </p:cNvPr>
          <p:cNvSpPr/>
          <p:nvPr/>
        </p:nvSpPr>
        <p:spPr bwMode="auto">
          <a:xfrm>
            <a:off x="677510" y="756685"/>
            <a:ext cx="4626011" cy="13464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Origin GIT Repository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54CF6B9-0E9E-93DF-3DBB-61BB316D9362}"/>
              </a:ext>
            </a:extLst>
          </p:cNvPr>
          <p:cNvSpPr/>
          <p:nvPr/>
        </p:nvSpPr>
        <p:spPr bwMode="auto">
          <a:xfrm>
            <a:off x="2289717" y="1049787"/>
            <a:ext cx="1333597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Create Branch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A41240-D213-31BE-3A93-5186ECD59978}"/>
              </a:ext>
            </a:extLst>
          </p:cNvPr>
          <p:cNvSpPr/>
          <p:nvPr/>
        </p:nvSpPr>
        <p:spPr bwMode="auto">
          <a:xfrm>
            <a:off x="3664803" y="908085"/>
            <a:ext cx="1343228" cy="8119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79E635-7EBE-B9EF-995C-9CBF71DD6135}"/>
              </a:ext>
            </a:extLst>
          </p:cNvPr>
          <p:cNvSpPr/>
          <p:nvPr/>
        </p:nvSpPr>
        <p:spPr bwMode="auto">
          <a:xfrm>
            <a:off x="821972" y="908085"/>
            <a:ext cx="1343228" cy="8119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3CD043-D506-C06A-B93C-B79743955F11}"/>
              </a:ext>
            </a:extLst>
          </p:cNvPr>
          <p:cNvSpPr/>
          <p:nvPr/>
        </p:nvSpPr>
        <p:spPr bwMode="auto">
          <a:xfrm>
            <a:off x="5958790" y="765655"/>
            <a:ext cx="1910650" cy="13464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Developer Desktop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5F21A5-F489-8DA7-A7F2-676CD577BDE7}"/>
              </a:ext>
            </a:extLst>
          </p:cNvPr>
          <p:cNvSpPr/>
          <p:nvPr/>
        </p:nvSpPr>
        <p:spPr bwMode="auto">
          <a:xfrm>
            <a:off x="6144511" y="908085"/>
            <a:ext cx="1539208" cy="8119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local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files</a:t>
            </a:r>
            <a:endParaRPr lang="en-US" sz="12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37A72491-5C5D-3BFC-A0DB-DBCF46F408AA}"/>
              </a:ext>
            </a:extLst>
          </p:cNvPr>
          <p:cNvSpPr/>
          <p:nvPr/>
        </p:nvSpPr>
        <p:spPr bwMode="auto">
          <a:xfrm>
            <a:off x="5058981" y="1049787"/>
            <a:ext cx="1055519" cy="528569"/>
          </a:xfrm>
          <a:prstGeom prst="rightArrow">
            <a:avLst>
              <a:gd name="adj1" fmla="val 62678"/>
              <a:gd name="adj2" fmla="val 84775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git clone</a:t>
            </a:r>
          </a:p>
        </p:txBody>
      </p:sp>
    </p:spTree>
    <p:extLst>
      <p:ext uri="{BB962C8B-B14F-4D97-AF65-F5344CB8AC3E}">
        <p14:creationId xmlns:p14="http://schemas.microsoft.com/office/powerpoint/2010/main" val="1994004386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7DCD52-31B4-45D0-4B06-B9B798D2F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428" y="749171"/>
            <a:ext cx="8285456" cy="36756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1455685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A692F3-9237-C816-EF2C-13DB22F93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969" y="1877786"/>
            <a:ext cx="7430537" cy="323895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22530604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8EE0DD-6BEF-60D1-033B-0CAA79276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09" y="576552"/>
            <a:ext cx="10445915" cy="44650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70307502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2B0D7-6B2B-3D91-15C2-2F2CA0233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0C759EC-748C-0775-9B20-AA55B6E97D1A}"/>
              </a:ext>
            </a:extLst>
          </p:cNvPr>
          <p:cNvSpPr/>
          <p:nvPr/>
        </p:nvSpPr>
        <p:spPr bwMode="auto">
          <a:xfrm>
            <a:off x="5379666" y="1567924"/>
            <a:ext cx="4626011" cy="304506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Origin GIT Repository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6984137-3989-C886-F21D-37A1CE7EFF52}"/>
              </a:ext>
            </a:extLst>
          </p:cNvPr>
          <p:cNvSpPr/>
          <p:nvPr/>
        </p:nvSpPr>
        <p:spPr bwMode="auto">
          <a:xfrm>
            <a:off x="7053536" y="3521009"/>
            <a:ext cx="1333597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Pull Request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C15469-30C5-F319-8071-8664B5CE9C36}"/>
              </a:ext>
            </a:extLst>
          </p:cNvPr>
          <p:cNvSpPr/>
          <p:nvPr/>
        </p:nvSpPr>
        <p:spPr bwMode="auto">
          <a:xfrm>
            <a:off x="5670283" y="3379307"/>
            <a:ext cx="1343228" cy="8119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8EB768-85D8-606C-9C27-F3B806E71864}"/>
              </a:ext>
            </a:extLst>
          </p:cNvPr>
          <p:cNvSpPr/>
          <p:nvPr/>
        </p:nvSpPr>
        <p:spPr bwMode="auto">
          <a:xfrm>
            <a:off x="8426795" y="3379307"/>
            <a:ext cx="1343228" cy="8119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4A40C4-1ABF-C2BD-6EE7-6BEFB22906D1}"/>
              </a:ext>
            </a:extLst>
          </p:cNvPr>
          <p:cNvSpPr/>
          <p:nvPr/>
        </p:nvSpPr>
        <p:spPr bwMode="auto">
          <a:xfrm>
            <a:off x="1681655" y="1567924"/>
            <a:ext cx="3357419" cy="29620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Developer Desktop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8900FD-DF50-B3FA-4949-E6993959488F}"/>
              </a:ext>
            </a:extLst>
          </p:cNvPr>
          <p:cNvSpPr/>
          <p:nvPr/>
        </p:nvSpPr>
        <p:spPr bwMode="auto">
          <a:xfrm>
            <a:off x="2406872" y="3379307"/>
            <a:ext cx="1681069" cy="8119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local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files</a:t>
            </a:r>
            <a:endParaRPr lang="en-US" sz="12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31E0F7B1-A1A2-845B-9CE1-3BEBB7DD0CEF}"/>
              </a:ext>
            </a:extLst>
          </p:cNvPr>
          <p:cNvSpPr/>
          <p:nvPr/>
        </p:nvSpPr>
        <p:spPr bwMode="auto">
          <a:xfrm>
            <a:off x="4127602" y="3521009"/>
            <a:ext cx="1481105" cy="528569"/>
          </a:xfrm>
          <a:prstGeom prst="rightArrow">
            <a:avLst>
              <a:gd name="adj1" fmla="val 62678"/>
              <a:gd name="adj2" fmla="val 84775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git push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2D23ED-F9AB-DCA5-0706-D01A6F4EEEBE}"/>
              </a:ext>
            </a:extLst>
          </p:cNvPr>
          <p:cNvSpPr/>
          <p:nvPr/>
        </p:nvSpPr>
        <p:spPr bwMode="auto">
          <a:xfrm>
            <a:off x="5670283" y="1731489"/>
            <a:ext cx="1343228" cy="8992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branched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042076D6-F66D-78AA-CB7B-2CD5A1B53038}"/>
              </a:ext>
            </a:extLst>
          </p:cNvPr>
          <p:cNvSpPr/>
          <p:nvPr/>
        </p:nvSpPr>
        <p:spPr bwMode="auto">
          <a:xfrm>
            <a:off x="5973163" y="2683230"/>
            <a:ext cx="737468" cy="643605"/>
          </a:xfrm>
          <a:prstGeom prst="upArrow">
            <a:avLst>
              <a:gd name="adj1" fmla="val 77388"/>
              <a:gd name="adj2" fmla="val 44825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Update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from GIT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A835A39-F449-CE92-7829-1CD940557538}"/>
              </a:ext>
            </a:extLst>
          </p:cNvPr>
          <p:cNvCxnSpPr>
            <a:cxnSpLocks/>
          </p:cNvCxnSpPr>
          <p:nvPr/>
        </p:nvCxnSpPr>
        <p:spPr>
          <a:xfrm>
            <a:off x="2469724" y="2288717"/>
            <a:ext cx="400050" cy="1062470"/>
          </a:xfrm>
          <a:prstGeom prst="straightConnector1">
            <a:avLst/>
          </a:prstGeom>
          <a:ln w="76200">
            <a:solidFill>
              <a:srgbClr val="C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C911DCF-62BD-3791-1A0C-190A9AC9FC0F}"/>
              </a:ext>
            </a:extLst>
          </p:cNvPr>
          <p:cNvCxnSpPr>
            <a:cxnSpLocks/>
          </p:cNvCxnSpPr>
          <p:nvPr/>
        </p:nvCxnSpPr>
        <p:spPr>
          <a:xfrm flipH="1">
            <a:off x="3595850" y="2486144"/>
            <a:ext cx="389659" cy="865043"/>
          </a:xfrm>
          <a:prstGeom prst="straightConnector1">
            <a:avLst/>
          </a:prstGeom>
          <a:ln w="76200">
            <a:solidFill>
              <a:srgbClr val="C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C773F35-DAAB-8846-8876-8FEA34091E33}"/>
              </a:ext>
            </a:extLst>
          </p:cNvPr>
          <p:cNvGrpSpPr/>
          <p:nvPr/>
        </p:nvGrpSpPr>
        <p:grpSpPr>
          <a:xfrm>
            <a:off x="1839336" y="1726778"/>
            <a:ext cx="1337692" cy="908691"/>
            <a:chOff x="6687092" y="5040219"/>
            <a:chExt cx="1337692" cy="90869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AA05B39-D3C1-00CC-79FA-EAC29B81B4F0}"/>
                </a:ext>
              </a:extLst>
            </p:cNvPr>
            <p:cNvSpPr/>
            <p:nvPr/>
          </p:nvSpPr>
          <p:spPr bwMode="auto">
            <a:xfrm>
              <a:off x="6687092" y="5040219"/>
              <a:ext cx="1337692" cy="9086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Visual Studio Code</a:t>
              </a:r>
            </a:p>
          </p:txBody>
        </p:sp>
        <p:pic>
          <p:nvPicPr>
            <p:cNvPr id="9" name="Picture 8" descr="VS Code icon">
              <a:extLst>
                <a:ext uri="{FF2B5EF4-FFF2-40B4-BE49-F238E27FC236}">
                  <a16:creationId xmlns:a16="http://schemas.microsoft.com/office/drawing/2014/main" id="{678C5DCF-84C4-88AF-1382-8C06BD11D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80499" y="5323487"/>
              <a:ext cx="512753" cy="512753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0578ADB-7FB4-1A18-A6AB-003B41DFD930}"/>
              </a:ext>
            </a:extLst>
          </p:cNvPr>
          <p:cNvGrpSpPr/>
          <p:nvPr/>
        </p:nvGrpSpPr>
        <p:grpSpPr>
          <a:xfrm>
            <a:off x="3439205" y="1726778"/>
            <a:ext cx="1337692" cy="908691"/>
            <a:chOff x="8583549" y="5040219"/>
            <a:chExt cx="1337692" cy="90869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1993B70-6124-B31E-D5A5-2234E0F9FA7A}"/>
                </a:ext>
              </a:extLst>
            </p:cNvPr>
            <p:cNvSpPr/>
            <p:nvPr/>
          </p:nvSpPr>
          <p:spPr bwMode="auto">
            <a:xfrm>
              <a:off x="8583549" y="5040219"/>
              <a:ext cx="1337692" cy="9086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Power BI Desktop</a:t>
              </a:r>
            </a:p>
          </p:txBody>
        </p:sp>
        <p:pic>
          <p:nvPicPr>
            <p:cNvPr id="10" name="Picture 9" descr="Power-BI.png">
              <a:extLst>
                <a:ext uri="{FF2B5EF4-FFF2-40B4-BE49-F238E27FC236}">
                  <a16:creationId xmlns:a16="http://schemas.microsoft.com/office/drawing/2014/main" id="{5D591FD8-7EA8-2EAE-064F-88190967BC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82241" y="5298115"/>
              <a:ext cx="422625" cy="5634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1818928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E360A7-87C0-15D3-E013-E3AA91BE20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3"/>
          <a:stretch>
            <a:fillRect/>
          </a:stretch>
        </p:blipFill>
        <p:spPr>
          <a:xfrm>
            <a:off x="1206110" y="649801"/>
            <a:ext cx="8759614" cy="37750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9497540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B000CA16-DD7F-3FFC-6CE8-27CCD2E52A0F}"/>
              </a:ext>
            </a:extLst>
          </p:cNvPr>
          <p:cNvGrpSpPr/>
          <p:nvPr/>
        </p:nvGrpSpPr>
        <p:grpSpPr>
          <a:xfrm>
            <a:off x="1446963" y="981175"/>
            <a:ext cx="6903218" cy="3531190"/>
            <a:chOff x="1446963" y="783953"/>
            <a:chExt cx="6390751" cy="453485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CDE0593-E92A-B4AF-067E-88990EC25C23}"/>
                </a:ext>
              </a:extLst>
            </p:cNvPr>
            <p:cNvSpPr/>
            <p:nvPr/>
          </p:nvSpPr>
          <p:spPr bwMode="auto">
            <a:xfrm>
              <a:off x="1446963" y="1317204"/>
              <a:ext cx="6390751" cy="400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B3B96C0-05B9-467B-0AE5-F84ED0A49675}"/>
                </a:ext>
              </a:extLst>
            </p:cNvPr>
            <p:cNvSpPr/>
            <p:nvPr/>
          </p:nvSpPr>
          <p:spPr bwMode="auto">
            <a:xfrm>
              <a:off x="1446963" y="783953"/>
              <a:ext cx="6390751" cy="53325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00EFEF8-50CB-18EA-9929-4AE399C06E90}"/>
              </a:ext>
            </a:extLst>
          </p:cNvPr>
          <p:cNvGrpSpPr/>
          <p:nvPr/>
        </p:nvGrpSpPr>
        <p:grpSpPr>
          <a:xfrm>
            <a:off x="1563619" y="1540713"/>
            <a:ext cx="4300599" cy="2810223"/>
            <a:chOff x="1734441" y="1741680"/>
            <a:chExt cx="4300599" cy="368336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2E05B73-3815-B0BE-9A65-3E8720EBF8DD}"/>
                </a:ext>
              </a:extLst>
            </p:cNvPr>
            <p:cNvGrpSpPr/>
            <p:nvPr/>
          </p:nvGrpSpPr>
          <p:grpSpPr>
            <a:xfrm>
              <a:off x="1734441" y="1741680"/>
              <a:ext cx="2349433" cy="3683367"/>
              <a:chOff x="1734441" y="1741680"/>
              <a:chExt cx="2349433" cy="3683367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1E8789E-C083-1E95-B1F8-2B3A91218B73}"/>
                  </a:ext>
                </a:extLst>
              </p:cNvPr>
              <p:cNvSpPr/>
              <p:nvPr/>
            </p:nvSpPr>
            <p:spPr bwMode="auto">
              <a:xfrm>
                <a:off x="1734443" y="2515196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Pipeline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341B282-8C89-52C8-7FD4-871B7B8F640D}"/>
                  </a:ext>
                </a:extLst>
              </p:cNvPr>
              <p:cNvSpPr/>
              <p:nvPr/>
            </p:nvSpPr>
            <p:spPr bwMode="auto">
              <a:xfrm>
                <a:off x="1734443" y="1741680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Notebook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22DC64C-305C-F2CF-9ECE-638CE90AF008}"/>
                  </a:ext>
                </a:extLst>
              </p:cNvPr>
              <p:cNvSpPr/>
              <p:nvPr/>
            </p:nvSpPr>
            <p:spPr bwMode="auto">
              <a:xfrm>
                <a:off x="1734443" y="3288712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Copyjob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5FC9D02-A88E-2BE4-6643-058D6FBAC13E}"/>
                  </a:ext>
                </a:extLst>
              </p:cNvPr>
              <p:cNvSpPr/>
              <p:nvPr/>
            </p:nvSpPr>
            <p:spPr bwMode="auto">
              <a:xfrm>
                <a:off x="1734442" y="4062228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Dataflow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84DCB22-DFF6-0664-8481-CB833696C445}"/>
                  </a:ext>
                </a:extLst>
              </p:cNvPr>
              <p:cNvSpPr/>
              <p:nvPr/>
            </p:nvSpPr>
            <p:spPr bwMode="auto">
              <a:xfrm>
                <a:off x="1734441" y="4835743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Lakehouse Shortcut</a:t>
                </a:r>
              </a:p>
            </p:txBody>
          </p:sp>
        </p:grp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ADED1FF-0783-31E6-3C4C-A433E4FB1F30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4083874" y="2036332"/>
              <a:ext cx="1951166" cy="90267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C40E68-C70C-C089-3408-C58644FF9697}"/>
                </a:ext>
              </a:extLst>
            </p:cNvPr>
            <p:cNvCxnSpPr>
              <a:cxnSpLocks/>
            </p:cNvCxnSpPr>
            <p:nvPr/>
          </p:nvCxnSpPr>
          <p:spPr>
            <a:xfrm>
              <a:off x="4083872" y="3615894"/>
              <a:ext cx="1734124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D2B30A7-045F-9314-CFE5-AF0CE9E851C3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>
              <a:off x="4083874" y="2809848"/>
              <a:ext cx="1814508" cy="4075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70E49DD-D107-BCAE-1242-9B9C232D9085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 flipV="1">
              <a:off x="4083873" y="3960451"/>
              <a:ext cx="1765607" cy="39642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F4B33AA-4001-FD2B-17AA-3F8C59CE14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8066" y="4276562"/>
              <a:ext cx="1900702" cy="85383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6AE63BF-BD04-8C63-D239-D13099D85110}"/>
              </a:ext>
            </a:extLst>
          </p:cNvPr>
          <p:cNvGrpSpPr/>
          <p:nvPr/>
        </p:nvGrpSpPr>
        <p:grpSpPr>
          <a:xfrm>
            <a:off x="6077397" y="2490399"/>
            <a:ext cx="1919206" cy="1045579"/>
            <a:chOff x="2480209" y="3989407"/>
            <a:chExt cx="2202323" cy="117311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F849CE5-FB11-3825-5F47-373265281DDE}"/>
                </a:ext>
              </a:extLst>
            </p:cNvPr>
            <p:cNvSpPr/>
            <p:nvPr/>
          </p:nvSpPr>
          <p:spPr bwMode="auto">
            <a:xfrm>
              <a:off x="2480209" y="4267200"/>
              <a:ext cx="2202323" cy="8953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var1 - string - 'foo'</a:t>
              </a:r>
              <a:endParaRPr lang="en-US" sz="900" dirty="0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var2 - string - 'bar'</a:t>
              </a:r>
              <a:endParaRPr lang="en-US" sz="900" dirty="0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var3 - integer - 42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41F01C4-3B54-FBE4-1E80-1583D6C74469}"/>
                </a:ext>
              </a:extLst>
            </p:cNvPr>
            <p:cNvSpPr/>
            <p:nvPr/>
          </p:nvSpPr>
          <p:spPr bwMode="auto">
            <a:xfrm>
              <a:off x="2480209" y="3989407"/>
              <a:ext cx="2202323" cy="2777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Variable Library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3001775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421CA-FF99-E3D1-CE60-0086F2D7A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901B015-973F-06CE-FD81-00149E6E17F4}"/>
              </a:ext>
            </a:extLst>
          </p:cNvPr>
          <p:cNvSpPr/>
          <p:nvPr/>
        </p:nvSpPr>
        <p:spPr bwMode="auto">
          <a:xfrm>
            <a:off x="1520534" y="1931276"/>
            <a:ext cx="7333768" cy="27500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F9AF17D-1D9B-436B-5614-B0D9C658D335}"/>
              </a:ext>
            </a:extLst>
          </p:cNvPr>
          <p:cNvSpPr/>
          <p:nvPr/>
        </p:nvSpPr>
        <p:spPr bwMode="auto">
          <a:xfrm rot="5400000">
            <a:off x="7544354" y="3376453"/>
            <a:ext cx="528689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44DA0A-CAB9-EDA1-F4A0-51C0BA509F9C}"/>
              </a:ext>
            </a:extLst>
          </p:cNvPr>
          <p:cNvSpPr/>
          <p:nvPr/>
        </p:nvSpPr>
        <p:spPr bwMode="auto">
          <a:xfrm>
            <a:off x="1763495" y="2095884"/>
            <a:ext cx="1632212" cy="124366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8D3E5D-8480-2E3B-57B6-0E47E533F981}"/>
              </a:ext>
            </a:extLst>
          </p:cNvPr>
          <p:cNvSpPr/>
          <p:nvPr/>
        </p:nvSpPr>
        <p:spPr bwMode="auto">
          <a:xfrm>
            <a:off x="4374699" y="2113590"/>
            <a:ext cx="1625443" cy="12259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EA7539D-2D62-62A9-0A25-2046C96F48EE}"/>
              </a:ext>
            </a:extLst>
          </p:cNvPr>
          <p:cNvSpPr/>
          <p:nvPr/>
        </p:nvSpPr>
        <p:spPr bwMode="auto">
          <a:xfrm>
            <a:off x="3463005" y="2489290"/>
            <a:ext cx="879837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2DFEE4-419D-F5DF-51D6-AD80EF95AEC2}"/>
              </a:ext>
            </a:extLst>
          </p:cNvPr>
          <p:cNvSpPr/>
          <p:nvPr/>
        </p:nvSpPr>
        <p:spPr bwMode="auto">
          <a:xfrm>
            <a:off x="6995979" y="2113590"/>
            <a:ext cx="1625443" cy="1225958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5749CE5-BE50-45C7-AB51-976A6A8BE75C}"/>
              </a:ext>
            </a:extLst>
          </p:cNvPr>
          <p:cNvSpPr/>
          <p:nvPr/>
        </p:nvSpPr>
        <p:spPr bwMode="auto">
          <a:xfrm>
            <a:off x="6084285" y="2489290"/>
            <a:ext cx="879837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Graphic 10" descr="Database with solid fill">
            <a:extLst>
              <a:ext uri="{FF2B5EF4-FFF2-40B4-BE49-F238E27FC236}">
                <a16:creationId xmlns:a16="http://schemas.microsoft.com/office/drawing/2014/main" id="{1EB11C1E-650E-D561-CC26-EA7B7C473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22399" y="3916017"/>
            <a:ext cx="914400" cy="587721"/>
          </a:xfrm>
          <a:prstGeom prst="rect">
            <a:avLst/>
          </a:prstGeom>
        </p:spPr>
      </p:pic>
      <p:pic>
        <p:nvPicPr>
          <p:cNvPr id="13" name="Graphic 12" descr="Database outline">
            <a:extLst>
              <a:ext uri="{FF2B5EF4-FFF2-40B4-BE49-F238E27FC236}">
                <a16:creationId xmlns:a16="http://schemas.microsoft.com/office/drawing/2014/main" id="{0274E0E5-2194-0DB1-EA46-B717AFE840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4644" y="3806169"/>
            <a:ext cx="1185548" cy="708026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6BF15019-DA71-DB66-A01E-86779A610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0359" y="3793467"/>
            <a:ext cx="1625443" cy="806383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2ADC86ED-0D20-0559-3154-EF9A107C860E}"/>
              </a:ext>
            </a:extLst>
          </p:cNvPr>
          <p:cNvSpPr/>
          <p:nvPr/>
        </p:nvSpPr>
        <p:spPr bwMode="auto">
          <a:xfrm rot="5400000">
            <a:off x="2291365" y="3438927"/>
            <a:ext cx="576468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E0BD12D-627A-E3BA-E877-45EEBC3DDBC7}"/>
              </a:ext>
            </a:extLst>
          </p:cNvPr>
          <p:cNvSpPr/>
          <p:nvPr/>
        </p:nvSpPr>
        <p:spPr bwMode="auto">
          <a:xfrm rot="5400000">
            <a:off x="4936453" y="3389834"/>
            <a:ext cx="501930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554338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CF8D9D-4981-2158-E260-5A58588EE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93" y="1901602"/>
            <a:ext cx="10307488" cy="31913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36226808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90B4B1-4927-ED10-E291-459DB7E07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054241"/>
              </p:ext>
            </p:extLst>
          </p:nvPr>
        </p:nvGraphicFramePr>
        <p:xfrm>
          <a:off x="938002" y="769646"/>
          <a:ext cx="6211793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18698">
                  <a:extLst>
                    <a:ext uri="{9D8B030D-6E8A-4147-A177-3AD203B41FA5}">
                      <a16:colId xmlns:a16="http://schemas.microsoft.com/office/drawing/2014/main" val="2828518658"/>
                    </a:ext>
                  </a:extLst>
                </a:gridCol>
                <a:gridCol w="943951">
                  <a:extLst>
                    <a:ext uri="{9D8B030D-6E8A-4147-A177-3AD203B41FA5}">
                      <a16:colId xmlns:a16="http://schemas.microsoft.com/office/drawing/2014/main" val="374367942"/>
                    </a:ext>
                  </a:extLst>
                </a:gridCol>
                <a:gridCol w="3449144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Variable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Default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database_server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devcamp.database.windows.net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</a:rPr>
                        <a:t>database_name</a:t>
                      </a:r>
                      <a:endParaRPr lang="en-US" sz="1400" b="1" kern="1200" noProof="1">
                        <a:solidFill>
                          <a:schemeClr val="dk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product-sales-dev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545251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BBBEE-745B-2785-F381-4F9608C8E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B327FB1-9162-9A00-B432-7F75D4063645}"/>
              </a:ext>
            </a:extLst>
          </p:cNvPr>
          <p:cNvSpPr/>
          <p:nvPr/>
        </p:nvSpPr>
        <p:spPr bwMode="auto">
          <a:xfrm>
            <a:off x="523888" y="904352"/>
            <a:ext cx="9001949" cy="2291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Variable Library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A29033-571B-BAB1-DC72-DCFD70AED744}"/>
              </a:ext>
            </a:extLst>
          </p:cNvPr>
          <p:cNvSpPr/>
          <p:nvPr/>
        </p:nvSpPr>
        <p:spPr bwMode="auto">
          <a:xfrm>
            <a:off x="5351867" y="1316334"/>
            <a:ext cx="3949001" cy="16479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i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Value Sets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CEA7F7-02CF-5F56-A6BD-596240631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94252"/>
              </p:ext>
            </p:extLst>
          </p:nvPr>
        </p:nvGraphicFramePr>
        <p:xfrm>
          <a:off x="5698762" y="1487447"/>
          <a:ext cx="1532101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2101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D42D2D-8C4F-B36D-3B19-2EA999389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603789"/>
              </p:ext>
            </p:extLst>
          </p:nvPr>
        </p:nvGraphicFramePr>
        <p:xfrm>
          <a:off x="7589527" y="1497931"/>
          <a:ext cx="1532101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2101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F63ACF-DA37-0B04-2BA8-F496FBF0E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008420"/>
              </p:ext>
            </p:extLst>
          </p:nvPr>
        </p:nvGraphicFramePr>
        <p:xfrm>
          <a:off x="730675" y="1487447"/>
          <a:ext cx="4379433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13920">
                  <a:extLst>
                    <a:ext uri="{9D8B030D-6E8A-4147-A177-3AD203B41FA5}">
                      <a16:colId xmlns:a16="http://schemas.microsoft.com/office/drawing/2014/main" val="2828518658"/>
                    </a:ext>
                  </a:extLst>
                </a:gridCol>
                <a:gridCol w="964096">
                  <a:extLst>
                    <a:ext uri="{9D8B030D-6E8A-4147-A177-3AD203B41FA5}">
                      <a16:colId xmlns:a16="http://schemas.microsoft.com/office/drawing/2014/main" val="374367942"/>
                    </a:ext>
                  </a:extLst>
                </a:gridCol>
                <a:gridCol w="1401417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Variable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Default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database_server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</a:rPr>
                        <a:t>database_name</a:t>
                      </a:r>
                      <a:endParaRPr lang="en-US" sz="1400" b="1" kern="1200" noProof="1">
                        <a:solidFill>
                          <a:schemeClr val="dk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660620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8C2D-FE3A-4701-1749-9C9F063B1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F632949-FEEC-DEF6-1199-411E30FFD8E8}"/>
              </a:ext>
            </a:extLst>
          </p:cNvPr>
          <p:cNvGrpSpPr/>
          <p:nvPr/>
        </p:nvGrpSpPr>
        <p:grpSpPr>
          <a:xfrm>
            <a:off x="1351722" y="1182756"/>
            <a:ext cx="10183786" cy="1942281"/>
            <a:chOff x="1664104" y="1182756"/>
            <a:chExt cx="9871404" cy="194228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3B698D-3A46-0F39-E8C3-EE0ED46C7609}"/>
                </a:ext>
              </a:extLst>
            </p:cNvPr>
            <p:cNvGrpSpPr/>
            <p:nvPr/>
          </p:nvGrpSpPr>
          <p:grpSpPr>
            <a:xfrm>
              <a:off x="1664104" y="1182756"/>
              <a:ext cx="9871404" cy="1942281"/>
              <a:chOff x="1664104" y="773980"/>
              <a:chExt cx="6857927" cy="166707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BCB1775-D766-2154-B630-602CCBBBA5DB}"/>
                  </a:ext>
                </a:extLst>
              </p:cNvPr>
              <p:cNvSpPr/>
              <p:nvPr/>
            </p:nvSpPr>
            <p:spPr bwMode="auto">
              <a:xfrm>
                <a:off x="1664104" y="773980"/>
                <a:ext cx="1632212" cy="16670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 workspace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BAD41E3-23BF-CCC2-826E-F7CEB57CF786}"/>
                  </a:ext>
                </a:extLst>
              </p:cNvPr>
              <p:cNvSpPr/>
              <p:nvPr/>
            </p:nvSpPr>
            <p:spPr bwMode="auto">
              <a:xfrm>
                <a:off x="4275308" y="797714"/>
                <a:ext cx="1625443" cy="16433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workspace</a:t>
                </a:r>
              </a:p>
            </p:txBody>
          </p:sp>
          <p:sp>
            <p:nvSpPr>
              <p:cNvPr id="4" name="Arrow: Right 3">
                <a:extLst>
                  <a:ext uri="{FF2B5EF4-FFF2-40B4-BE49-F238E27FC236}">
                    <a16:creationId xmlns:a16="http://schemas.microsoft.com/office/drawing/2014/main" id="{C557B895-DB1B-211E-1427-12E77D99C9CF}"/>
                  </a:ext>
                </a:extLst>
              </p:cNvPr>
              <p:cNvSpPr/>
              <p:nvPr/>
            </p:nvSpPr>
            <p:spPr bwMode="auto">
              <a:xfrm>
                <a:off x="3363614" y="1577301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BC67C6E-8CEA-495E-7ABE-6E35CD889B70}"/>
                  </a:ext>
                </a:extLst>
              </p:cNvPr>
              <p:cNvSpPr/>
              <p:nvPr/>
            </p:nvSpPr>
            <p:spPr bwMode="auto">
              <a:xfrm>
                <a:off x="6896588" y="797714"/>
                <a:ext cx="1625443" cy="16433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workspace</a:t>
                </a:r>
              </a:p>
            </p:txBody>
          </p:sp>
          <p:sp>
            <p:nvSpPr>
              <p:cNvPr id="6" name="Arrow: Right 5">
                <a:extLst>
                  <a:ext uri="{FF2B5EF4-FFF2-40B4-BE49-F238E27FC236}">
                    <a16:creationId xmlns:a16="http://schemas.microsoft.com/office/drawing/2014/main" id="{83E12C0A-64CB-6237-4D45-E6B2951781F4}"/>
                  </a:ext>
                </a:extLst>
              </p:cNvPr>
              <p:cNvSpPr/>
              <p:nvPr/>
            </p:nvSpPr>
            <p:spPr bwMode="auto">
              <a:xfrm>
                <a:off x="5984894" y="1577301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B9C09FA-DD35-2EAC-8E59-0E5A70EC18C9}"/>
                </a:ext>
              </a:extLst>
            </p:cNvPr>
            <p:cNvGrpSpPr/>
            <p:nvPr/>
          </p:nvGrpSpPr>
          <p:grpSpPr>
            <a:xfrm>
              <a:off x="1841151" y="1723984"/>
              <a:ext cx="1995335" cy="1045579"/>
              <a:chOff x="2480209" y="3989407"/>
              <a:chExt cx="2202323" cy="1173115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1514387-BC0A-085C-D194-378514904C10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default value set (active)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F45B4D6-940B-3F86-C4C4-B0D9CACA6B70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D5282BC-0D57-27BE-8B49-455E616E7092}"/>
                </a:ext>
              </a:extLst>
            </p:cNvPr>
            <p:cNvGrpSpPr/>
            <p:nvPr/>
          </p:nvGrpSpPr>
          <p:grpSpPr>
            <a:xfrm>
              <a:off x="5607010" y="1723984"/>
              <a:ext cx="1995335" cy="1045579"/>
              <a:chOff x="2480209" y="3989407"/>
              <a:chExt cx="2202323" cy="117311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C7F5946-ADF8-8E8F-2285-71821DD4422D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default value set</a:t>
                </a:r>
                <a:endParaRPr lang="en-US" sz="900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 (active)</a:t>
                </a:r>
                <a:endParaRPr lang="en-US" sz="900" dirty="0">
                  <a:solidFill>
                    <a:srgbClr val="8A0000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25FED2-207E-64A8-A6BE-9F7432DEA38C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CFF671F-371E-8446-56C0-81DBC5EF039C}"/>
                </a:ext>
              </a:extLst>
            </p:cNvPr>
            <p:cNvGrpSpPr/>
            <p:nvPr/>
          </p:nvGrpSpPr>
          <p:grpSpPr>
            <a:xfrm>
              <a:off x="9367996" y="1723984"/>
              <a:ext cx="1995335" cy="1045579"/>
              <a:chOff x="2480209" y="3989407"/>
              <a:chExt cx="2202323" cy="117311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0ACAFCD-D270-E16C-F9E8-B01D0DFD0947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default value set</a:t>
                </a:r>
                <a:endParaRPr lang="en-US" sz="900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 (active)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CC425CB-05F8-A582-EA5F-D50237A5B1F7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2355693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24C53AC-84B0-43CF-E373-F2E7FFC9CF3E}"/>
              </a:ext>
            </a:extLst>
          </p:cNvPr>
          <p:cNvSpPr/>
          <p:nvPr/>
        </p:nvSpPr>
        <p:spPr bwMode="auto">
          <a:xfrm>
            <a:off x="897076" y="1078434"/>
            <a:ext cx="3969470" cy="103907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82296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Fabric Solution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FA8F121-49B8-7EDB-521B-435EC6A3B551}"/>
              </a:ext>
            </a:extLst>
          </p:cNvPr>
          <p:cNvGrpSpPr/>
          <p:nvPr/>
        </p:nvGrpSpPr>
        <p:grpSpPr>
          <a:xfrm>
            <a:off x="3326066" y="1355423"/>
            <a:ext cx="655911" cy="654509"/>
            <a:chOff x="6295914" y="1428878"/>
            <a:chExt cx="1693119" cy="182535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7231FBD-030F-AEFF-DBB7-361376186B2D}"/>
                </a:ext>
              </a:extLst>
            </p:cNvPr>
            <p:cNvSpPr/>
            <p:nvPr/>
          </p:nvSpPr>
          <p:spPr bwMode="auto">
            <a:xfrm>
              <a:off x="6295914" y="1428878"/>
              <a:ext cx="1693119" cy="182535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Semantic Model</a:t>
              </a:r>
            </a:p>
          </p:txBody>
        </p:sp>
        <p:pic>
          <p:nvPicPr>
            <p:cNvPr id="15" name="Picture 14" descr="A white square with purple dots&#10;&#10;Description automatically generated">
              <a:extLst>
                <a:ext uri="{FF2B5EF4-FFF2-40B4-BE49-F238E27FC236}">
                  <a16:creationId xmlns:a16="http://schemas.microsoft.com/office/drawing/2014/main" id="{6B41BEDF-C5B7-E371-C150-6F03E7DAA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6779" y="1536648"/>
              <a:ext cx="1311387" cy="130089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29B994-E364-1FBC-4BEC-B464A0229BAC}"/>
              </a:ext>
            </a:extLst>
          </p:cNvPr>
          <p:cNvGrpSpPr/>
          <p:nvPr/>
        </p:nvGrpSpPr>
        <p:grpSpPr>
          <a:xfrm>
            <a:off x="4089715" y="1355423"/>
            <a:ext cx="657835" cy="654509"/>
            <a:chOff x="6503915" y="831583"/>
            <a:chExt cx="1229935" cy="132599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C0E4FA9-9874-0421-00A7-094E40E45F4A}"/>
                </a:ext>
              </a:extLst>
            </p:cNvPr>
            <p:cNvSpPr/>
            <p:nvPr/>
          </p:nvSpPr>
          <p:spPr bwMode="auto">
            <a:xfrm>
              <a:off x="6503915" y="831583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Report</a:t>
              </a:r>
            </a:p>
          </p:txBody>
        </p:sp>
        <p:pic>
          <p:nvPicPr>
            <p:cNvPr id="18" name="Picture 17" descr="A white square with a graph&#10;&#10;Description automatically generated">
              <a:extLst>
                <a:ext uri="{FF2B5EF4-FFF2-40B4-BE49-F238E27FC236}">
                  <a16:creationId xmlns:a16="http://schemas.microsoft.com/office/drawing/2014/main" id="{1A32AF3E-612A-DB91-644A-24DB597D0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2565" y="904155"/>
              <a:ext cx="952633" cy="948822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5A92DD1-3300-EDFB-AFC6-9495E4C269EF}"/>
              </a:ext>
            </a:extLst>
          </p:cNvPr>
          <p:cNvGrpSpPr/>
          <p:nvPr/>
        </p:nvGrpSpPr>
        <p:grpSpPr>
          <a:xfrm>
            <a:off x="2558642" y="1353538"/>
            <a:ext cx="659688" cy="658278"/>
            <a:chOff x="1943154" y="2871362"/>
            <a:chExt cx="1229935" cy="132599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F3EFBF-FC88-E9E9-D520-FAA3C58CD650}"/>
                </a:ext>
              </a:extLst>
            </p:cNvPr>
            <p:cNvSpPr/>
            <p:nvPr/>
          </p:nvSpPr>
          <p:spPr bwMode="auto">
            <a:xfrm>
              <a:off x="1943154" y="2871362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Notebook</a:t>
              </a:r>
              <a:endParaRPr lang="en-US" sz="1100" b="1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1" name="Picture 20" descr="A white book with a green symbol&#10;&#10;Description automatically generated">
              <a:extLst>
                <a:ext uri="{FF2B5EF4-FFF2-40B4-BE49-F238E27FC236}">
                  <a16:creationId xmlns:a16="http://schemas.microsoft.com/office/drawing/2014/main" id="{AB9A7A44-E49B-8A50-9FA3-D22D9703F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6583" y="3033143"/>
              <a:ext cx="838189" cy="834835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77EC404-EBA5-2E5E-1CEE-0B19E6008845}"/>
              </a:ext>
            </a:extLst>
          </p:cNvPr>
          <p:cNvGrpSpPr/>
          <p:nvPr/>
        </p:nvGrpSpPr>
        <p:grpSpPr>
          <a:xfrm>
            <a:off x="1794995" y="1355423"/>
            <a:ext cx="655911" cy="654509"/>
            <a:chOff x="540799" y="2865453"/>
            <a:chExt cx="1229935" cy="132599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0ACF54E-DF94-8A04-BCCD-0ACB270425F3}"/>
                </a:ext>
              </a:extLst>
            </p:cNvPr>
            <p:cNvSpPr/>
            <p:nvPr/>
          </p:nvSpPr>
          <p:spPr bwMode="auto">
            <a:xfrm>
              <a:off x="540799" y="2865453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Lakehouse</a:t>
              </a:r>
            </a:p>
          </p:txBody>
        </p:sp>
        <p:pic>
          <p:nvPicPr>
            <p:cNvPr id="24" name="Picture 23" descr="A blue and white sign with waves&#10;&#10;Description automatically generated">
              <a:extLst>
                <a:ext uri="{FF2B5EF4-FFF2-40B4-BE49-F238E27FC236}">
                  <a16:creationId xmlns:a16="http://schemas.microsoft.com/office/drawing/2014/main" id="{669F21DF-6B63-E20B-E993-410F040F2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453" y="2962982"/>
              <a:ext cx="908459" cy="904825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BFF103F-7CAD-3170-F550-79B97989D138}"/>
              </a:ext>
            </a:extLst>
          </p:cNvPr>
          <p:cNvGrpSpPr/>
          <p:nvPr/>
        </p:nvGrpSpPr>
        <p:grpSpPr>
          <a:xfrm>
            <a:off x="1029424" y="1355423"/>
            <a:ext cx="657835" cy="654509"/>
            <a:chOff x="4850599" y="1353539"/>
            <a:chExt cx="657835" cy="65450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C54E8B4-09E1-FD08-8D18-7B240CA91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8026" t="13870" r="5038" b="6019"/>
            <a:stretch>
              <a:fillRect/>
            </a:stretch>
          </p:blipFill>
          <p:spPr>
            <a:xfrm>
              <a:off x="4959479" y="1414647"/>
              <a:ext cx="440073" cy="43228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823282D-B074-5213-F6AE-13DB249FC0E3}"/>
                </a:ext>
              </a:extLst>
            </p:cNvPr>
            <p:cNvSpPr/>
            <p:nvPr/>
          </p:nvSpPr>
          <p:spPr bwMode="auto">
            <a:xfrm>
              <a:off x="4850599" y="1353539"/>
              <a:ext cx="657835" cy="654509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Variable Library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4921670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EBB6EF5B-557D-2023-6AFD-A7517A01D008}"/>
              </a:ext>
            </a:extLst>
          </p:cNvPr>
          <p:cNvGrpSpPr/>
          <p:nvPr/>
        </p:nvGrpSpPr>
        <p:grpSpPr>
          <a:xfrm>
            <a:off x="1579297" y="1222316"/>
            <a:ext cx="3270369" cy="1673284"/>
            <a:chOff x="5389353" y="1249679"/>
            <a:chExt cx="3541287" cy="1811899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263C11A-349E-3159-0EAF-BAC4C7F2AB5E}"/>
                </a:ext>
              </a:extLst>
            </p:cNvPr>
            <p:cNvGrpSpPr/>
            <p:nvPr/>
          </p:nvGrpSpPr>
          <p:grpSpPr>
            <a:xfrm>
              <a:off x="5389353" y="1249679"/>
              <a:ext cx="3541287" cy="1811899"/>
              <a:chOff x="1446963" y="783951"/>
              <a:chExt cx="6390751" cy="4419287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18EFFD3-0105-CD44-3BFC-DBAD5B2BE883}"/>
                  </a:ext>
                </a:extLst>
              </p:cNvPr>
              <p:cNvSpPr/>
              <p:nvPr/>
            </p:nvSpPr>
            <p:spPr bwMode="auto">
              <a:xfrm>
                <a:off x="1446963" y="1389338"/>
                <a:ext cx="6390751" cy="38139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2DB75A4-117A-8569-07E4-4CABADC47C6B}"/>
                  </a:ext>
                </a:extLst>
              </p:cNvPr>
              <p:cNvSpPr/>
              <p:nvPr/>
            </p:nvSpPr>
            <p:spPr bwMode="auto">
              <a:xfrm>
                <a:off x="1446963" y="783951"/>
                <a:ext cx="6390751" cy="6053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bg1"/>
                    </a:solidFill>
                    <a:latin typeface="+mj-lt"/>
                    <a:ea typeface="Segoe UI" pitchFamily="34" charset="0"/>
                    <a:cs typeface="Segoe UI" pitchFamily="34" charset="0"/>
                  </a:rPr>
                  <a:t>dev workspace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5484916-AB11-A0CF-0D32-1BA8A4BB7062}"/>
                </a:ext>
              </a:extLst>
            </p:cNvPr>
            <p:cNvGrpSpPr/>
            <p:nvPr/>
          </p:nvGrpSpPr>
          <p:grpSpPr>
            <a:xfrm>
              <a:off x="5524534" y="2266374"/>
              <a:ext cx="655911" cy="654509"/>
              <a:chOff x="540799" y="2865453"/>
              <a:chExt cx="1229935" cy="1325994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BBA2384-5AA3-FF13-5403-2A35A19C5EE1}"/>
                  </a:ext>
                </a:extLst>
              </p:cNvPr>
              <p:cNvSpPr/>
              <p:nvPr/>
            </p:nvSpPr>
            <p:spPr bwMode="auto">
              <a:xfrm>
                <a:off x="540799" y="2865453"/>
                <a:ext cx="1229935" cy="1325994"/>
              </a:xfrm>
              <a:prstGeom prst="rect">
                <a:avLst/>
              </a:prstGeom>
              <a:solidFill>
                <a:schemeClr val="bg1">
                  <a:alpha val="45000"/>
                </a:schemeClr>
              </a:solidFill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Lakehouse</a:t>
                </a:r>
              </a:p>
            </p:txBody>
          </p:sp>
          <p:pic>
            <p:nvPicPr>
              <p:cNvPr id="12" name="Picture 11" descr="A blue and white sign with waves&#10;&#10;Description automatically generated">
                <a:extLst>
                  <a:ext uri="{FF2B5EF4-FFF2-40B4-BE49-F238E27FC236}">
                    <a16:creationId xmlns:a16="http://schemas.microsoft.com/office/drawing/2014/main" id="{42CD4664-AD15-BB35-3A51-47ECB05534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453" y="2962982"/>
                <a:ext cx="908459" cy="904825"/>
              </a:xfrm>
              <a:prstGeom prst="rect">
                <a:avLst/>
              </a:prstGeom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428D6BC-66CA-B6AA-A305-FE155CCB6535}"/>
                </a:ext>
              </a:extLst>
            </p:cNvPr>
            <p:cNvGrpSpPr/>
            <p:nvPr/>
          </p:nvGrpSpPr>
          <p:grpSpPr>
            <a:xfrm>
              <a:off x="8122371" y="2305755"/>
              <a:ext cx="659688" cy="658278"/>
              <a:chOff x="2677038" y="4875290"/>
              <a:chExt cx="659688" cy="658278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6CC0942-F384-6F7F-ED18-A99FEA2BB1CC}"/>
                  </a:ext>
                </a:extLst>
              </p:cNvPr>
              <p:cNvSpPr/>
              <p:nvPr/>
            </p:nvSpPr>
            <p:spPr bwMode="auto">
              <a:xfrm>
                <a:off x="2677038" y="4875290"/>
                <a:ext cx="659688" cy="658278"/>
              </a:xfrm>
              <a:prstGeom prst="rect">
                <a:avLst/>
              </a:prstGeom>
              <a:solidFill>
                <a:schemeClr val="bg1">
                  <a:alpha val="45000"/>
                </a:schemeClr>
              </a:solidFill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Pipeline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6" name="Picture 5" descr="A green and white button&#10;&#10;AI-generated content may be incorrect.">
                <a:extLst>
                  <a:ext uri="{FF2B5EF4-FFF2-40B4-BE49-F238E27FC236}">
                    <a16:creationId xmlns:a16="http://schemas.microsoft.com/office/drawing/2014/main" id="{7EFB90B0-298D-9AA1-C6A3-5BB865DAD5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71511" y="4966847"/>
                <a:ext cx="442784" cy="399677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E1D6437-8264-CF08-9EA9-66F6F45B129F}"/>
                </a:ext>
              </a:extLst>
            </p:cNvPr>
            <p:cNvGrpSpPr/>
            <p:nvPr/>
          </p:nvGrpSpPr>
          <p:grpSpPr>
            <a:xfrm>
              <a:off x="6865269" y="1608096"/>
              <a:ext cx="659688" cy="658278"/>
              <a:chOff x="1943154" y="2871362"/>
              <a:chExt cx="1229935" cy="1325994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BCAAE14-88A5-AC0E-CF9C-72159B5945F0}"/>
                  </a:ext>
                </a:extLst>
              </p:cNvPr>
              <p:cNvSpPr/>
              <p:nvPr/>
            </p:nvSpPr>
            <p:spPr bwMode="auto">
              <a:xfrm>
                <a:off x="1943154" y="2871362"/>
                <a:ext cx="1229935" cy="1325994"/>
              </a:xfrm>
              <a:prstGeom prst="rect">
                <a:avLst/>
              </a:prstGeom>
              <a:solidFill>
                <a:schemeClr val="bg1">
                  <a:alpha val="45000"/>
                </a:schemeClr>
              </a:solidFill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Notebook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9" name="Picture 8" descr="A white book with a green symbol&#10;&#10;Description automatically generated">
                <a:extLst>
                  <a:ext uri="{FF2B5EF4-FFF2-40B4-BE49-F238E27FC236}">
                    <a16:creationId xmlns:a16="http://schemas.microsoft.com/office/drawing/2014/main" id="{F1191FD2-1170-96A6-0404-65F3778C16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6583" y="3033143"/>
                <a:ext cx="838189" cy="834835"/>
              </a:xfrm>
              <a:prstGeom prst="rect">
                <a:avLst/>
              </a:prstGeom>
            </p:spPr>
          </p:pic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7440647-B516-5D06-442D-19EE48DA52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54957" y="2706014"/>
              <a:ext cx="1810863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: Curved 22">
              <a:extLst>
                <a:ext uri="{FF2B5EF4-FFF2-40B4-BE49-F238E27FC236}">
                  <a16:creationId xmlns:a16="http://schemas.microsoft.com/office/drawing/2014/main" id="{0998B59D-E08F-AEB7-DD24-44E554B5C2C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524958" y="1946979"/>
              <a:ext cx="556262" cy="56851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C0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Curved 32">
              <a:extLst>
                <a:ext uri="{FF2B5EF4-FFF2-40B4-BE49-F238E27FC236}">
                  <a16:creationId xmlns:a16="http://schemas.microsoft.com/office/drawing/2014/main" id="{9692384E-EF39-11C9-6F46-38956643C77F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6254958" y="1967299"/>
              <a:ext cx="556262" cy="56851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68740875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353D5-5C12-14FE-B8A3-6C352D2D4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C7265C4-A393-AC64-248D-530579392925}"/>
              </a:ext>
            </a:extLst>
          </p:cNvPr>
          <p:cNvSpPr/>
          <p:nvPr/>
        </p:nvSpPr>
        <p:spPr bwMode="auto">
          <a:xfrm>
            <a:off x="1477105" y="1139469"/>
            <a:ext cx="8388256" cy="35950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9DFC15D-DD84-AA39-1541-C86EE81E6A0D}"/>
              </a:ext>
            </a:extLst>
          </p:cNvPr>
          <p:cNvGrpSpPr/>
          <p:nvPr/>
        </p:nvGrpSpPr>
        <p:grpSpPr>
          <a:xfrm>
            <a:off x="1579297" y="1222316"/>
            <a:ext cx="3270369" cy="1717041"/>
            <a:chOff x="5389353" y="1249679"/>
            <a:chExt cx="3541287" cy="185928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3648B16-92A4-55E7-3DF4-74EC061FE821}"/>
                </a:ext>
              </a:extLst>
            </p:cNvPr>
            <p:cNvGrpSpPr/>
            <p:nvPr/>
          </p:nvGrpSpPr>
          <p:grpSpPr>
            <a:xfrm>
              <a:off x="5389353" y="1249679"/>
              <a:ext cx="3541287" cy="1859281"/>
              <a:chOff x="1446963" y="783951"/>
              <a:chExt cx="6390751" cy="4534853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C56671C-D348-3C5A-F2A7-BFED0CB752C3}"/>
                  </a:ext>
                </a:extLst>
              </p:cNvPr>
              <p:cNvSpPr/>
              <p:nvPr/>
            </p:nvSpPr>
            <p:spPr bwMode="auto">
              <a:xfrm>
                <a:off x="1446963" y="1389337"/>
                <a:ext cx="6390751" cy="392946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0F62A0F-E48E-D378-5B17-7ACCAF9726E7}"/>
                  </a:ext>
                </a:extLst>
              </p:cNvPr>
              <p:cNvSpPr/>
              <p:nvPr/>
            </p:nvSpPr>
            <p:spPr bwMode="auto">
              <a:xfrm>
                <a:off x="1446963" y="783951"/>
                <a:ext cx="6390751" cy="6053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bg1"/>
                    </a:solidFill>
                    <a:latin typeface="+mj-lt"/>
                    <a:ea typeface="Segoe UI" pitchFamily="34" charset="0"/>
                    <a:cs typeface="Segoe UI" pitchFamily="34" charset="0"/>
                  </a:rPr>
                  <a:t>dev workspace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D21CC34-61C1-65FF-94F1-B21E2AE347DC}"/>
                </a:ext>
              </a:extLst>
            </p:cNvPr>
            <p:cNvGrpSpPr/>
            <p:nvPr/>
          </p:nvGrpSpPr>
          <p:grpSpPr>
            <a:xfrm>
              <a:off x="5524534" y="2266374"/>
              <a:ext cx="655911" cy="654509"/>
              <a:chOff x="540799" y="2865453"/>
              <a:chExt cx="1229935" cy="1325994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342D62E-2EEF-D359-3A83-7B2DA6BE127B}"/>
                  </a:ext>
                </a:extLst>
              </p:cNvPr>
              <p:cNvSpPr/>
              <p:nvPr/>
            </p:nvSpPr>
            <p:spPr bwMode="auto">
              <a:xfrm>
                <a:off x="540799" y="2865453"/>
                <a:ext cx="1229935" cy="1325994"/>
              </a:xfrm>
              <a:prstGeom prst="rect">
                <a:avLst/>
              </a:prstGeom>
              <a:solidFill>
                <a:schemeClr val="bg1">
                  <a:alpha val="45000"/>
                </a:schemeClr>
              </a:solidFill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Lakehouse</a:t>
                </a:r>
              </a:p>
            </p:txBody>
          </p:sp>
          <p:pic>
            <p:nvPicPr>
              <p:cNvPr id="12" name="Picture 11" descr="A blue and white sign with waves&#10;&#10;Description automatically generated">
                <a:extLst>
                  <a:ext uri="{FF2B5EF4-FFF2-40B4-BE49-F238E27FC236}">
                    <a16:creationId xmlns:a16="http://schemas.microsoft.com/office/drawing/2014/main" id="{9CF8D613-0309-62A2-6CB6-568F06D691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453" y="2962982"/>
                <a:ext cx="908459" cy="904825"/>
              </a:xfrm>
              <a:prstGeom prst="rect">
                <a:avLst/>
              </a:prstGeom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9F7793B-0533-C118-1B8A-B9925A64DE1F}"/>
                </a:ext>
              </a:extLst>
            </p:cNvPr>
            <p:cNvGrpSpPr/>
            <p:nvPr/>
          </p:nvGrpSpPr>
          <p:grpSpPr>
            <a:xfrm>
              <a:off x="8122371" y="2305755"/>
              <a:ext cx="659688" cy="658278"/>
              <a:chOff x="2677038" y="4875290"/>
              <a:chExt cx="659688" cy="658278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723F3AB-581D-6EBC-1839-C8994A366312}"/>
                  </a:ext>
                </a:extLst>
              </p:cNvPr>
              <p:cNvSpPr/>
              <p:nvPr/>
            </p:nvSpPr>
            <p:spPr bwMode="auto">
              <a:xfrm>
                <a:off x="2677038" y="4875290"/>
                <a:ext cx="659688" cy="658278"/>
              </a:xfrm>
              <a:prstGeom prst="rect">
                <a:avLst/>
              </a:prstGeom>
              <a:solidFill>
                <a:schemeClr val="bg1">
                  <a:alpha val="45000"/>
                </a:schemeClr>
              </a:solidFill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Pipeline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6" name="Picture 5" descr="A green and white button&#10;&#10;AI-generated content may be incorrect.">
                <a:extLst>
                  <a:ext uri="{FF2B5EF4-FFF2-40B4-BE49-F238E27FC236}">
                    <a16:creationId xmlns:a16="http://schemas.microsoft.com/office/drawing/2014/main" id="{02FAC87A-EED8-EC73-A8BA-A102E9B36F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71511" y="4966847"/>
                <a:ext cx="442784" cy="399677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08ECD60-DDC4-B35C-778D-06249727E26A}"/>
                </a:ext>
              </a:extLst>
            </p:cNvPr>
            <p:cNvGrpSpPr/>
            <p:nvPr/>
          </p:nvGrpSpPr>
          <p:grpSpPr>
            <a:xfrm>
              <a:off x="6865269" y="1608096"/>
              <a:ext cx="659688" cy="658278"/>
              <a:chOff x="1943154" y="2871362"/>
              <a:chExt cx="1229935" cy="1325994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1F8866A-A66C-D109-0B86-82235D0B10E2}"/>
                  </a:ext>
                </a:extLst>
              </p:cNvPr>
              <p:cNvSpPr/>
              <p:nvPr/>
            </p:nvSpPr>
            <p:spPr bwMode="auto">
              <a:xfrm>
                <a:off x="1943154" y="2871362"/>
                <a:ext cx="1229935" cy="1325994"/>
              </a:xfrm>
              <a:prstGeom prst="rect">
                <a:avLst/>
              </a:prstGeom>
              <a:solidFill>
                <a:schemeClr val="bg1">
                  <a:alpha val="45000"/>
                </a:schemeClr>
              </a:solidFill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Notebook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9" name="Picture 8" descr="A white book with a green symbol&#10;&#10;Description automatically generated">
                <a:extLst>
                  <a:ext uri="{FF2B5EF4-FFF2-40B4-BE49-F238E27FC236}">
                    <a16:creationId xmlns:a16="http://schemas.microsoft.com/office/drawing/2014/main" id="{9288A15A-01E7-9998-6865-E963F32510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6583" y="3033143"/>
                <a:ext cx="838189" cy="834835"/>
              </a:xfrm>
              <a:prstGeom prst="rect">
                <a:avLst/>
              </a:prstGeom>
            </p:spPr>
          </p:pic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0CA7CBB-2BF2-1751-22A4-FE78B1095B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54957" y="2706014"/>
              <a:ext cx="1810863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: Curved 22">
              <a:extLst>
                <a:ext uri="{FF2B5EF4-FFF2-40B4-BE49-F238E27FC236}">
                  <a16:creationId xmlns:a16="http://schemas.microsoft.com/office/drawing/2014/main" id="{B0F31AC5-44E3-0268-D4B8-5886DCE864E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524958" y="1946979"/>
              <a:ext cx="556262" cy="56851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C0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Curved 32">
              <a:extLst>
                <a:ext uri="{FF2B5EF4-FFF2-40B4-BE49-F238E27FC236}">
                  <a16:creationId xmlns:a16="http://schemas.microsoft.com/office/drawing/2014/main" id="{05F7BE83-0574-8160-416F-557F04B5D0DF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6254958" y="1967299"/>
              <a:ext cx="556262" cy="56851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2F5F337D-84F1-52E6-8126-8589642CD780}"/>
              </a:ext>
            </a:extLst>
          </p:cNvPr>
          <p:cNvSpPr/>
          <p:nvPr/>
        </p:nvSpPr>
        <p:spPr bwMode="auto">
          <a:xfrm>
            <a:off x="4909891" y="4044510"/>
            <a:ext cx="1419789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Create Branch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A31C714-C7FB-104F-467A-4BE889219470}"/>
              </a:ext>
            </a:extLst>
          </p:cNvPr>
          <p:cNvSpPr/>
          <p:nvPr/>
        </p:nvSpPr>
        <p:spPr bwMode="auto">
          <a:xfrm>
            <a:off x="6402479" y="3958510"/>
            <a:ext cx="3270368" cy="62094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7AB6541-F5E9-F7EC-5ED7-E3527D386D67}"/>
              </a:ext>
            </a:extLst>
          </p:cNvPr>
          <p:cNvSpPr/>
          <p:nvPr/>
        </p:nvSpPr>
        <p:spPr bwMode="auto">
          <a:xfrm>
            <a:off x="1591871" y="3995203"/>
            <a:ext cx="3245220" cy="62718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3C3AC7E7-8BE1-D972-3F3C-426DFF4C7D35}"/>
              </a:ext>
            </a:extLst>
          </p:cNvPr>
          <p:cNvSpPr/>
          <p:nvPr/>
        </p:nvSpPr>
        <p:spPr bwMode="auto">
          <a:xfrm>
            <a:off x="2742080" y="3000317"/>
            <a:ext cx="944802" cy="981637"/>
          </a:xfrm>
          <a:prstGeom prst="downArrow">
            <a:avLst>
              <a:gd name="adj1" fmla="val 76301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Commit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to GIT</a:t>
            </a:r>
          </a:p>
        </p:txBody>
      </p:sp>
      <p:sp>
        <p:nvSpPr>
          <p:cNvPr id="52" name="Arrow: Up 51">
            <a:extLst>
              <a:ext uri="{FF2B5EF4-FFF2-40B4-BE49-F238E27FC236}">
                <a16:creationId xmlns:a16="http://schemas.microsoft.com/office/drawing/2014/main" id="{5D6130B0-6534-7284-E60B-04C691FDDFA5}"/>
              </a:ext>
            </a:extLst>
          </p:cNvPr>
          <p:cNvSpPr/>
          <p:nvPr/>
        </p:nvSpPr>
        <p:spPr bwMode="auto">
          <a:xfrm>
            <a:off x="7565262" y="3013526"/>
            <a:ext cx="944802" cy="907467"/>
          </a:xfrm>
          <a:prstGeom prst="upArrow">
            <a:avLst>
              <a:gd name="adj1" fmla="val 77388"/>
              <a:gd name="adj2" fmla="val 44825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Update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from GIT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B641573-75F2-AFD8-6A0B-DEC1D93BDA16}"/>
              </a:ext>
            </a:extLst>
          </p:cNvPr>
          <p:cNvGrpSpPr/>
          <p:nvPr/>
        </p:nvGrpSpPr>
        <p:grpSpPr>
          <a:xfrm>
            <a:off x="6402479" y="1222316"/>
            <a:ext cx="3270369" cy="1717041"/>
            <a:chOff x="5389353" y="1249679"/>
            <a:chExt cx="3541287" cy="1859281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382BEFB-EE9B-3C13-21DA-9FCD9741B3A2}"/>
                </a:ext>
              </a:extLst>
            </p:cNvPr>
            <p:cNvGrpSpPr/>
            <p:nvPr/>
          </p:nvGrpSpPr>
          <p:grpSpPr>
            <a:xfrm>
              <a:off x="5389353" y="1249679"/>
              <a:ext cx="3541287" cy="1859281"/>
              <a:chOff x="1446963" y="783951"/>
              <a:chExt cx="6390751" cy="4534853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974B960-492C-525C-2C81-2E327397EE3B}"/>
                  </a:ext>
                </a:extLst>
              </p:cNvPr>
              <p:cNvSpPr/>
              <p:nvPr/>
            </p:nvSpPr>
            <p:spPr bwMode="auto">
              <a:xfrm>
                <a:off x="1446963" y="1389337"/>
                <a:ext cx="6390751" cy="392946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665A705E-EB28-1645-4E12-74E1720149DB}"/>
                  </a:ext>
                </a:extLst>
              </p:cNvPr>
              <p:cNvSpPr/>
              <p:nvPr/>
            </p:nvSpPr>
            <p:spPr bwMode="auto">
              <a:xfrm>
                <a:off x="1446963" y="783951"/>
                <a:ext cx="6390751" cy="6053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bg1"/>
                    </a:solidFill>
                    <a:latin typeface="+mj-lt"/>
                    <a:ea typeface="Segoe UI" pitchFamily="34" charset="0"/>
                    <a:cs typeface="Segoe UI" pitchFamily="34" charset="0"/>
                  </a:rPr>
                  <a:t>feature workspace</a:t>
                </a: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4F78261-8382-BE0E-CCC7-33F0BA2A0FA8}"/>
                </a:ext>
              </a:extLst>
            </p:cNvPr>
            <p:cNvGrpSpPr/>
            <p:nvPr/>
          </p:nvGrpSpPr>
          <p:grpSpPr>
            <a:xfrm>
              <a:off x="5524534" y="2266374"/>
              <a:ext cx="655911" cy="654509"/>
              <a:chOff x="540799" y="2865453"/>
              <a:chExt cx="1229935" cy="1325994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29F4E9F2-5E64-6EEF-5748-E16E739EBFE4}"/>
                  </a:ext>
                </a:extLst>
              </p:cNvPr>
              <p:cNvSpPr/>
              <p:nvPr/>
            </p:nvSpPr>
            <p:spPr bwMode="auto">
              <a:xfrm>
                <a:off x="540799" y="2865453"/>
                <a:ext cx="1229935" cy="1325994"/>
              </a:xfrm>
              <a:prstGeom prst="rect">
                <a:avLst/>
              </a:prstGeom>
              <a:solidFill>
                <a:schemeClr val="bg1">
                  <a:alpha val="45000"/>
                </a:schemeClr>
              </a:solidFill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Lakehouse</a:t>
                </a:r>
              </a:p>
            </p:txBody>
          </p:sp>
          <p:pic>
            <p:nvPicPr>
              <p:cNvPr id="66" name="Picture 65" descr="A blue and white sign with waves&#10;&#10;Description automatically generated">
                <a:extLst>
                  <a:ext uri="{FF2B5EF4-FFF2-40B4-BE49-F238E27FC236}">
                    <a16:creationId xmlns:a16="http://schemas.microsoft.com/office/drawing/2014/main" id="{3B419FD0-A031-354B-2D41-5E16512874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453" y="2962982"/>
                <a:ext cx="908459" cy="904825"/>
              </a:xfrm>
              <a:prstGeom prst="rect">
                <a:avLst/>
              </a:prstGeom>
            </p:spPr>
          </p:pic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AB9E97C-7CB4-3C7B-408F-1A7CF48C5AF8}"/>
                </a:ext>
              </a:extLst>
            </p:cNvPr>
            <p:cNvGrpSpPr/>
            <p:nvPr/>
          </p:nvGrpSpPr>
          <p:grpSpPr>
            <a:xfrm>
              <a:off x="8122371" y="2305755"/>
              <a:ext cx="659688" cy="658278"/>
              <a:chOff x="2677038" y="4875290"/>
              <a:chExt cx="659688" cy="658278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541BBF4E-4E87-1E60-F032-B7A4760A6720}"/>
                  </a:ext>
                </a:extLst>
              </p:cNvPr>
              <p:cNvSpPr/>
              <p:nvPr/>
            </p:nvSpPr>
            <p:spPr bwMode="auto">
              <a:xfrm>
                <a:off x="2677038" y="4875290"/>
                <a:ext cx="659688" cy="658278"/>
              </a:xfrm>
              <a:prstGeom prst="rect">
                <a:avLst/>
              </a:prstGeom>
              <a:solidFill>
                <a:schemeClr val="bg1">
                  <a:alpha val="45000"/>
                </a:schemeClr>
              </a:solidFill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Pipeline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64" name="Picture 63" descr="A green and white button&#10;&#10;AI-generated content may be incorrect.">
                <a:extLst>
                  <a:ext uri="{FF2B5EF4-FFF2-40B4-BE49-F238E27FC236}">
                    <a16:creationId xmlns:a16="http://schemas.microsoft.com/office/drawing/2014/main" id="{ACA3F6B5-3D92-0742-0A26-95102791DF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71511" y="4966847"/>
                <a:ext cx="442784" cy="399677"/>
              </a:xfrm>
              <a:prstGeom prst="rect">
                <a:avLst/>
              </a:prstGeom>
            </p:spPr>
          </p:pic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531CF1C-C1B7-BB96-74B0-0CA2AED81BEB}"/>
                </a:ext>
              </a:extLst>
            </p:cNvPr>
            <p:cNvGrpSpPr/>
            <p:nvPr/>
          </p:nvGrpSpPr>
          <p:grpSpPr>
            <a:xfrm>
              <a:off x="6865269" y="1608096"/>
              <a:ext cx="659688" cy="658278"/>
              <a:chOff x="1943154" y="2871362"/>
              <a:chExt cx="1229935" cy="1325994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6048A1A3-8ED5-0CE6-7C8C-97BC38A60A7B}"/>
                  </a:ext>
                </a:extLst>
              </p:cNvPr>
              <p:cNvSpPr/>
              <p:nvPr/>
            </p:nvSpPr>
            <p:spPr bwMode="auto">
              <a:xfrm>
                <a:off x="1943154" y="2871362"/>
                <a:ext cx="1229935" cy="1325994"/>
              </a:xfrm>
              <a:prstGeom prst="rect">
                <a:avLst/>
              </a:prstGeom>
              <a:solidFill>
                <a:schemeClr val="bg1">
                  <a:alpha val="45000"/>
                </a:schemeClr>
              </a:solidFill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Notebook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62" name="Picture 61" descr="A white book with a green symbol&#10;&#10;Description automatically generated">
                <a:extLst>
                  <a:ext uri="{FF2B5EF4-FFF2-40B4-BE49-F238E27FC236}">
                    <a16:creationId xmlns:a16="http://schemas.microsoft.com/office/drawing/2014/main" id="{47A59C54-0AC7-FE29-86BA-9E336AA29C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6583" y="3033143"/>
                <a:ext cx="838189" cy="834835"/>
              </a:xfrm>
              <a:prstGeom prst="rect">
                <a:avLst/>
              </a:prstGeom>
            </p:spPr>
          </p:pic>
        </p:grp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78700E0-2A33-E040-6B97-4A206BCDA5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54957" y="2706014"/>
              <a:ext cx="1810863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: Curved 58">
              <a:extLst>
                <a:ext uri="{FF2B5EF4-FFF2-40B4-BE49-F238E27FC236}">
                  <a16:creationId xmlns:a16="http://schemas.microsoft.com/office/drawing/2014/main" id="{84BC8937-43C4-2D2D-634A-6E9CAAE2CBF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524958" y="1946979"/>
              <a:ext cx="556262" cy="56851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C0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Curved 59">
              <a:extLst>
                <a:ext uri="{FF2B5EF4-FFF2-40B4-BE49-F238E27FC236}">
                  <a16:creationId xmlns:a16="http://schemas.microsoft.com/office/drawing/2014/main" id="{88BABD8D-2E56-359C-1472-19BD09F10151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6254958" y="1967299"/>
              <a:ext cx="556262" cy="56851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05091348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E42FD6-2E77-96C8-9E00-9558CDB4E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553" y="509531"/>
            <a:ext cx="7778207" cy="22465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8745845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F13B54-D851-4DF9-3613-F3BAB9E4E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733" y="1258575"/>
            <a:ext cx="2962688" cy="22386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71795737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D85509-5D2A-57FF-03A8-D7A1110E2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428" y="775237"/>
            <a:ext cx="4001058" cy="14003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46D4D5-8583-3C79-9A65-1E953C744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117" y="3273900"/>
            <a:ext cx="8068801" cy="22958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26397614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8E32F5-E4B4-872A-0ED2-BD860DACAA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29088"/>
          <a:stretch>
            <a:fillRect/>
          </a:stretch>
        </p:blipFill>
        <p:spPr>
          <a:xfrm>
            <a:off x="2094204" y="1633683"/>
            <a:ext cx="4915586" cy="17495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6498256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080BB8-3CFB-B1DB-E05C-BA0F10783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62" y="403412"/>
            <a:ext cx="3897583" cy="59210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16797157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DB6E530-A653-DBDB-F8B4-EC82B216A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284" y="877528"/>
            <a:ext cx="9421906" cy="52394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4151043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03E1A49-4F88-73FD-E183-80FA8F345C86}"/>
              </a:ext>
            </a:extLst>
          </p:cNvPr>
          <p:cNvSpPr/>
          <p:nvPr/>
        </p:nvSpPr>
        <p:spPr bwMode="auto">
          <a:xfrm>
            <a:off x="573741" y="1452283"/>
            <a:ext cx="10049435" cy="19811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7B11CD-8461-F939-3EA7-1F96F8460DB3}"/>
              </a:ext>
            </a:extLst>
          </p:cNvPr>
          <p:cNvSpPr/>
          <p:nvPr/>
        </p:nvSpPr>
        <p:spPr bwMode="auto">
          <a:xfrm>
            <a:off x="771143" y="2542428"/>
            <a:ext cx="9735671" cy="69924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 REST APIs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E0CB5-88C2-12A6-9319-BA18F4BC73E5}"/>
              </a:ext>
            </a:extLst>
          </p:cNvPr>
          <p:cNvSpPr/>
          <p:nvPr/>
        </p:nvSpPr>
        <p:spPr bwMode="auto">
          <a:xfrm>
            <a:off x="771143" y="1635922"/>
            <a:ext cx="1810871" cy="69924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Terraform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E50489-39F1-BB99-A6C2-5ECBEB640F59}"/>
              </a:ext>
            </a:extLst>
          </p:cNvPr>
          <p:cNvSpPr/>
          <p:nvPr/>
        </p:nvSpPr>
        <p:spPr bwMode="auto">
          <a:xfrm>
            <a:off x="2752343" y="1635922"/>
            <a:ext cx="1810871" cy="69924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 CLI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7316A7-FC76-37FA-C31F-B2D5D2A41FA5}"/>
              </a:ext>
            </a:extLst>
          </p:cNvPr>
          <p:cNvSpPr/>
          <p:nvPr/>
        </p:nvSpPr>
        <p:spPr bwMode="auto">
          <a:xfrm>
            <a:off x="4706649" y="1635920"/>
            <a:ext cx="1810871" cy="69924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fabric-cicd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707ABE-3FD8-72DE-FF76-950B1020B531}"/>
              </a:ext>
            </a:extLst>
          </p:cNvPr>
          <p:cNvSpPr/>
          <p:nvPr/>
        </p:nvSpPr>
        <p:spPr bwMode="auto">
          <a:xfrm>
            <a:off x="8642155" y="1635922"/>
            <a:ext cx="1810871" cy="69924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Python SDK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B5EFF7-8952-8BC7-6830-DD035DB6E45B}"/>
              </a:ext>
            </a:extLst>
          </p:cNvPr>
          <p:cNvSpPr/>
          <p:nvPr/>
        </p:nvSpPr>
        <p:spPr bwMode="auto">
          <a:xfrm>
            <a:off x="6660955" y="1635921"/>
            <a:ext cx="1810871" cy="69924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.NET SDK</a:t>
            </a:r>
          </a:p>
        </p:txBody>
      </p:sp>
    </p:spTree>
    <p:extLst>
      <p:ext uri="{BB962C8B-B14F-4D97-AF65-F5344CB8AC3E}">
        <p14:creationId xmlns:p14="http://schemas.microsoft.com/office/powerpoint/2010/main" val="1223850847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97BDA-A624-B94F-35AA-CE3914C95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BC394F-0FAB-8798-DA4A-7B4E007AED18}"/>
              </a:ext>
            </a:extLst>
          </p:cNvPr>
          <p:cNvSpPr/>
          <p:nvPr/>
        </p:nvSpPr>
        <p:spPr bwMode="auto">
          <a:xfrm>
            <a:off x="1275345" y="638804"/>
            <a:ext cx="7986164" cy="1050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2DB102E-C946-A642-1F02-3AE48A1E1859}"/>
              </a:ext>
            </a:extLst>
          </p:cNvPr>
          <p:cNvSpPr/>
          <p:nvPr/>
        </p:nvSpPr>
        <p:spPr bwMode="auto">
          <a:xfrm>
            <a:off x="2855423" y="882149"/>
            <a:ext cx="1708445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Create Branch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371ADE-41C4-E256-0553-2570DC8B185C}"/>
              </a:ext>
            </a:extLst>
          </p:cNvPr>
          <p:cNvSpPr/>
          <p:nvPr/>
        </p:nvSpPr>
        <p:spPr bwMode="auto">
          <a:xfrm>
            <a:off x="4586109" y="740446"/>
            <a:ext cx="1343228" cy="8119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95F946-3F1D-701C-1439-0C6CCBEEA15F}"/>
              </a:ext>
            </a:extLst>
          </p:cNvPr>
          <p:cNvSpPr/>
          <p:nvPr/>
        </p:nvSpPr>
        <p:spPr bwMode="auto">
          <a:xfrm>
            <a:off x="1407998" y="740449"/>
            <a:ext cx="1343228" cy="8119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9048771-B599-5D89-4D88-244DAD5F93FD}"/>
              </a:ext>
            </a:extLst>
          </p:cNvPr>
          <p:cNvSpPr/>
          <p:nvPr/>
        </p:nvSpPr>
        <p:spPr bwMode="auto">
          <a:xfrm>
            <a:off x="6002037" y="873179"/>
            <a:ext cx="1708445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Update from GIT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713FDD-73A1-0061-1F3E-ED687457327E}"/>
              </a:ext>
            </a:extLst>
          </p:cNvPr>
          <p:cNvSpPr/>
          <p:nvPr/>
        </p:nvSpPr>
        <p:spPr bwMode="auto">
          <a:xfrm>
            <a:off x="7783281" y="743543"/>
            <a:ext cx="1343228" cy="8119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</p:spTree>
    <p:extLst>
      <p:ext uri="{BB962C8B-B14F-4D97-AF65-F5344CB8AC3E}">
        <p14:creationId xmlns:p14="http://schemas.microsoft.com/office/powerpoint/2010/main" val="764490707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9811C-600E-7031-53D5-8A025AE90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415775C-62FF-6AE6-4234-819090D7AAE9}"/>
              </a:ext>
            </a:extLst>
          </p:cNvPr>
          <p:cNvSpPr/>
          <p:nvPr/>
        </p:nvSpPr>
        <p:spPr bwMode="auto">
          <a:xfrm>
            <a:off x="1355460" y="849630"/>
            <a:ext cx="9384258" cy="9343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9129EE1-6B91-2CB3-7B1D-95D01A018AFD}"/>
              </a:ext>
            </a:extLst>
          </p:cNvPr>
          <p:cNvSpPr/>
          <p:nvPr/>
        </p:nvSpPr>
        <p:spPr bwMode="auto">
          <a:xfrm>
            <a:off x="2690117" y="1076798"/>
            <a:ext cx="1393609" cy="431177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Commit to GIT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3BA717-2C43-68C0-4023-86B2D99915A4}"/>
              </a:ext>
            </a:extLst>
          </p:cNvPr>
          <p:cNvSpPr/>
          <p:nvPr/>
        </p:nvSpPr>
        <p:spPr bwMode="auto">
          <a:xfrm>
            <a:off x="4122150" y="961205"/>
            <a:ext cx="1198226" cy="66236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93A881-CE3F-D1CA-F7B3-2CF3127E3D02}"/>
              </a:ext>
            </a:extLst>
          </p:cNvPr>
          <p:cNvSpPr/>
          <p:nvPr/>
        </p:nvSpPr>
        <p:spPr bwMode="auto">
          <a:xfrm>
            <a:off x="1453467" y="961205"/>
            <a:ext cx="1198226" cy="6623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81939891-4BDB-735D-0010-1D3F680655A8}"/>
              </a:ext>
            </a:extLst>
          </p:cNvPr>
          <p:cNvSpPr/>
          <p:nvPr/>
        </p:nvSpPr>
        <p:spPr bwMode="auto">
          <a:xfrm>
            <a:off x="5358800" y="1076798"/>
            <a:ext cx="1356709" cy="431177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Pull Request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637F13-E84B-43AD-DCDD-BBE15BBC2A43}"/>
              </a:ext>
            </a:extLst>
          </p:cNvPr>
          <p:cNvSpPr/>
          <p:nvPr/>
        </p:nvSpPr>
        <p:spPr bwMode="auto">
          <a:xfrm>
            <a:off x="6753933" y="961205"/>
            <a:ext cx="1198226" cy="66236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F8DD27C2-B90A-BD11-0E57-7542BD7968E5}"/>
              </a:ext>
            </a:extLst>
          </p:cNvPr>
          <p:cNvSpPr/>
          <p:nvPr/>
        </p:nvSpPr>
        <p:spPr bwMode="auto">
          <a:xfrm>
            <a:off x="7990583" y="1076798"/>
            <a:ext cx="1393609" cy="431177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Update from GIT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1E4A48-4AFE-14C4-C949-99E29A33E27D}"/>
              </a:ext>
            </a:extLst>
          </p:cNvPr>
          <p:cNvSpPr/>
          <p:nvPr/>
        </p:nvSpPr>
        <p:spPr bwMode="auto">
          <a:xfrm>
            <a:off x="9422615" y="961205"/>
            <a:ext cx="1198226" cy="6623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</p:spTree>
    <p:extLst>
      <p:ext uri="{BB962C8B-B14F-4D97-AF65-F5344CB8AC3E}">
        <p14:creationId xmlns:p14="http://schemas.microsoft.com/office/powerpoint/2010/main" val="3416705326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E2E86-1D04-C845-5544-2808F3F8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419FAB-0E38-1D7B-8C82-A8EB0E005EC5}"/>
              </a:ext>
            </a:extLst>
          </p:cNvPr>
          <p:cNvSpPr/>
          <p:nvPr/>
        </p:nvSpPr>
        <p:spPr bwMode="auto">
          <a:xfrm>
            <a:off x="764906" y="4319856"/>
            <a:ext cx="3395586" cy="35844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 REST APIs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5CE493-0585-0B6A-CB84-CE41EE906223}"/>
              </a:ext>
            </a:extLst>
          </p:cNvPr>
          <p:cNvSpPr/>
          <p:nvPr/>
        </p:nvSpPr>
        <p:spPr bwMode="auto">
          <a:xfrm>
            <a:off x="764905" y="3409487"/>
            <a:ext cx="6880195" cy="415943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Terraform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8CF931-A0D5-6849-23DB-E3D7C2E8CF3B}"/>
              </a:ext>
            </a:extLst>
          </p:cNvPr>
          <p:cNvSpPr/>
          <p:nvPr/>
        </p:nvSpPr>
        <p:spPr bwMode="auto">
          <a:xfrm>
            <a:off x="4246343" y="4319856"/>
            <a:ext cx="3395586" cy="358443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Azure REST APIs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BDBFCF-B6BA-D625-39ED-E5F611938D81}"/>
              </a:ext>
            </a:extLst>
          </p:cNvPr>
          <p:cNvSpPr/>
          <p:nvPr/>
        </p:nvSpPr>
        <p:spPr bwMode="auto">
          <a:xfrm>
            <a:off x="764905" y="536082"/>
            <a:ext cx="6880196" cy="27979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Your Terraform Configuration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B240C6-4013-EF18-B4C3-D5EA86066FBB}"/>
              </a:ext>
            </a:extLst>
          </p:cNvPr>
          <p:cNvSpPr/>
          <p:nvPr/>
        </p:nvSpPr>
        <p:spPr bwMode="auto">
          <a:xfrm>
            <a:off x="764906" y="3910663"/>
            <a:ext cx="3395586" cy="358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Terraform provider for Fabric (</a:t>
            </a:r>
            <a:r>
              <a:rPr lang="en-US" sz="12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fabric</a:t>
            </a:r>
            <a:r>
              <a:rPr lang="en-US" sz="12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0AA33E-2912-B080-8E06-71A78ED57FA3}"/>
              </a:ext>
            </a:extLst>
          </p:cNvPr>
          <p:cNvSpPr/>
          <p:nvPr/>
        </p:nvSpPr>
        <p:spPr bwMode="auto">
          <a:xfrm>
            <a:off x="4246343" y="3910663"/>
            <a:ext cx="3395586" cy="358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Terraform provider for Azure (</a:t>
            </a:r>
            <a:r>
              <a:rPr lang="en-US" sz="12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azurerm</a:t>
            </a:r>
            <a:r>
              <a:rPr lang="en-US" sz="12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F78CDA-D30A-ABC6-7922-7233D3D78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343" y="968663"/>
            <a:ext cx="3312904" cy="21159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A8E126-B68C-92CE-F0BF-02F91147B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909" y="983837"/>
            <a:ext cx="2955580" cy="21493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352CAE7D-05DC-2F01-1058-3C241147301A}"/>
              </a:ext>
            </a:extLst>
          </p:cNvPr>
          <p:cNvSpPr/>
          <p:nvPr/>
        </p:nvSpPr>
        <p:spPr bwMode="auto">
          <a:xfrm>
            <a:off x="2245441" y="3133188"/>
            <a:ext cx="517197" cy="591138"/>
          </a:xfrm>
          <a:prstGeom prst="downArrow">
            <a:avLst/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DCCC5DDF-FD7F-802B-5DF8-F8DD216EDF01}"/>
              </a:ext>
            </a:extLst>
          </p:cNvPr>
          <p:cNvSpPr/>
          <p:nvPr/>
        </p:nvSpPr>
        <p:spPr bwMode="auto">
          <a:xfrm>
            <a:off x="5644197" y="3159516"/>
            <a:ext cx="517197" cy="564811"/>
          </a:xfrm>
          <a:prstGeom prst="downArrow">
            <a:avLst/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445950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B6052C-0D73-1343-DC00-C286871B4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91" y="809698"/>
            <a:ext cx="2591162" cy="16099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79575120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FAF46E-76D6-0971-2D0D-37D203FEF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405" y="927840"/>
            <a:ext cx="6344535" cy="27721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79688367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C43256B-DB78-579F-47C7-2C46B0F0C9AA}"/>
              </a:ext>
            </a:extLst>
          </p:cNvPr>
          <p:cNvGrpSpPr/>
          <p:nvPr/>
        </p:nvGrpSpPr>
        <p:grpSpPr>
          <a:xfrm>
            <a:off x="1006232" y="1025207"/>
            <a:ext cx="9025274" cy="4828745"/>
            <a:chOff x="1006232" y="1025208"/>
            <a:chExt cx="6308967" cy="28593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EFCFE45-6789-C5A4-DB49-C737ABDDF6E2}"/>
                </a:ext>
              </a:extLst>
            </p:cNvPr>
            <p:cNvSpPr/>
            <p:nvPr/>
          </p:nvSpPr>
          <p:spPr bwMode="auto">
            <a:xfrm>
              <a:off x="1006232" y="1025208"/>
              <a:ext cx="6308967" cy="28593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04130F3-26B8-CE71-0599-A1CDC1842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3394" y="1134732"/>
              <a:ext cx="1992863" cy="188637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F771B3C-4E3E-4BBF-5BDE-D2425E9A4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83771" y="1134732"/>
              <a:ext cx="3930898" cy="26524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</p:pic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85F38182-AECE-1D75-5C44-16000E704A7F}"/>
                </a:ext>
              </a:extLst>
            </p:cNvPr>
            <p:cNvSpPr/>
            <p:nvPr/>
          </p:nvSpPr>
          <p:spPr bwMode="auto">
            <a:xfrm>
              <a:off x="2829367" y="2395142"/>
              <a:ext cx="633676" cy="245849"/>
            </a:xfrm>
            <a:prstGeom prst="rightArrow">
              <a:avLst/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7965543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606FE-4E5B-8171-CEC6-FC35AA66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61012B-6D84-61D7-101B-85C4C1471366}"/>
              </a:ext>
            </a:extLst>
          </p:cNvPr>
          <p:cNvSpPr/>
          <p:nvPr/>
        </p:nvSpPr>
        <p:spPr bwMode="auto">
          <a:xfrm>
            <a:off x="595008" y="551868"/>
            <a:ext cx="2314451" cy="207007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environment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7FCE9F-032B-C2B9-052A-CFDD62735807}"/>
              </a:ext>
            </a:extLst>
          </p:cNvPr>
          <p:cNvSpPr/>
          <p:nvPr/>
        </p:nvSpPr>
        <p:spPr bwMode="auto">
          <a:xfrm>
            <a:off x="729110" y="1289146"/>
            <a:ext cx="2046246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capacity (F4)</a:t>
            </a:r>
            <a:endParaRPr lang="en-US" sz="9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27E124-AFB9-8381-4D1A-967356346BEB}"/>
              </a:ext>
            </a:extLst>
          </p:cNvPr>
          <p:cNvSpPr/>
          <p:nvPr/>
        </p:nvSpPr>
        <p:spPr bwMode="auto">
          <a:xfrm>
            <a:off x="729110" y="1718237"/>
            <a:ext cx="2046247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Azure Storage Account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used to store dev data files</a:t>
            </a:r>
            <a:endParaRPr lang="en-US" sz="6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836032-2882-ADA8-E75D-FAB8A6CD8319}"/>
              </a:ext>
            </a:extLst>
          </p:cNvPr>
          <p:cNvSpPr/>
          <p:nvPr/>
        </p:nvSpPr>
        <p:spPr bwMode="auto">
          <a:xfrm>
            <a:off x="729110" y="860054"/>
            <a:ext cx="2046246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9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8A8962-AB6B-865F-02FA-62956E91344D}"/>
              </a:ext>
            </a:extLst>
          </p:cNvPr>
          <p:cNvSpPr/>
          <p:nvPr/>
        </p:nvSpPr>
        <p:spPr bwMode="auto">
          <a:xfrm>
            <a:off x="729110" y="2147330"/>
            <a:ext cx="2046246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Connection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to dev storage account</a:t>
            </a:r>
            <a:endParaRPr lang="en-US" sz="5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386455-D837-F606-B72D-DFA87A67A2E3}"/>
              </a:ext>
            </a:extLst>
          </p:cNvPr>
          <p:cNvSpPr/>
          <p:nvPr/>
        </p:nvSpPr>
        <p:spPr bwMode="auto">
          <a:xfrm>
            <a:off x="3043562" y="551868"/>
            <a:ext cx="2314451" cy="207007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 environment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5BC68D-EC62-4AC1-FAC7-2307D4963C37}"/>
              </a:ext>
            </a:extLst>
          </p:cNvPr>
          <p:cNvSpPr/>
          <p:nvPr/>
        </p:nvSpPr>
        <p:spPr bwMode="auto">
          <a:xfrm>
            <a:off x="3177664" y="1289146"/>
            <a:ext cx="2046246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capacity (F16)</a:t>
            </a:r>
            <a:endParaRPr lang="en-US" sz="9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47BC48-FC74-6DF0-43E8-636B6728F4AC}"/>
              </a:ext>
            </a:extLst>
          </p:cNvPr>
          <p:cNvSpPr/>
          <p:nvPr/>
        </p:nvSpPr>
        <p:spPr bwMode="auto">
          <a:xfrm>
            <a:off x="3177664" y="1718237"/>
            <a:ext cx="2046247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Azure Storage Account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used to store test data files</a:t>
            </a:r>
            <a:endParaRPr lang="en-US" sz="6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709B47-2E1D-5902-754F-2DBECFA4398B}"/>
              </a:ext>
            </a:extLst>
          </p:cNvPr>
          <p:cNvSpPr/>
          <p:nvPr/>
        </p:nvSpPr>
        <p:spPr bwMode="auto">
          <a:xfrm>
            <a:off x="3177664" y="860054"/>
            <a:ext cx="2046246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9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2E9923-346F-F5C3-7E6C-B29BBB08F59F}"/>
              </a:ext>
            </a:extLst>
          </p:cNvPr>
          <p:cNvSpPr/>
          <p:nvPr/>
        </p:nvSpPr>
        <p:spPr bwMode="auto">
          <a:xfrm>
            <a:off x="3177664" y="2147330"/>
            <a:ext cx="2046246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Connection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to test storage account</a:t>
            </a:r>
            <a:endParaRPr lang="en-US" sz="5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02A481-7AEE-C272-ABC1-27C9F0B3648D}"/>
              </a:ext>
            </a:extLst>
          </p:cNvPr>
          <p:cNvSpPr/>
          <p:nvPr/>
        </p:nvSpPr>
        <p:spPr bwMode="auto">
          <a:xfrm>
            <a:off x="5475879" y="551868"/>
            <a:ext cx="2314451" cy="20700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environment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CDE74E-6B65-CD78-8A64-7246179EF447}"/>
              </a:ext>
            </a:extLst>
          </p:cNvPr>
          <p:cNvSpPr/>
          <p:nvPr/>
        </p:nvSpPr>
        <p:spPr bwMode="auto">
          <a:xfrm>
            <a:off x="5609981" y="1289146"/>
            <a:ext cx="2046246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capacity (F64)</a:t>
            </a:r>
            <a:endParaRPr lang="en-US" sz="9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D39DA6-16AD-F12D-CD81-EB8A742E868B}"/>
              </a:ext>
            </a:extLst>
          </p:cNvPr>
          <p:cNvSpPr/>
          <p:nvPr/>
        </p:nvSpPr>
        <p:spPr bwMode="auto">
          <a:xfrm>
            <a:off x="5609981" y="1718237"/>
            <a:ext cx="2046247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Azure Storage Account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used to store prod data files</a:t>
            </a:r>
            <a:endParaRPr lang="en-US" sz="6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6E59A3F-15B0-7E3D-A595-97CF2638D82A}"/>
              </a:ext>
            </a:extLst>
          </p:cNvPr>
          <p:cNvSpPr/>
          <p:nvPr/>
        </p:nvSpPr>
        <p:spPr bwMode="auto">
          <a:xfrm>
            <a:off x="5609981" y="860054"/>
            <a:ext cx="2046246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9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80F377-0412-EF79-FE71-872C4C87785E}"/>
              </a:ext>
            </a:extLst>
          </p:cNvPr>
          <p:cNvSpPr/>
          <p:nvPr/>
        </p:nvSpPr>
        <p:spPr bwMode="auto">
          <a:xfrm>
            <a:off x="5609981" y="2147330"/>
            <a:ext cx="2046246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Connection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to prod storage account</a:t>
            </a:r>
            <a:endParaRPr lang="en-US" sz="5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694079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BF3C2E3-16EB-72A2-1476-9ACB827F998D}"/>
              </a:ext>
            </a:extLst>
          </p:cNvPr>
          <p:cNvGrpSpPr/>
          <p:nvPr/>
        </p:nvGrpSpPr>
        <p:grpSpPr>
          <a:xfrm>
            <a:off x="973656" y="712134"/>
            <a:ext cx="6527293" cy="2437909"/>
            <a:chOff x="998219" y="2878366"/>
            <a:chExt cx="7734302" cy="28887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0C060B8-7875-3A2D-DC77-6967E6E56932}"/>
                </a:ext>
              </a:extLst>
            </p:cNvPr>
            <p:cNvSpPr/>
            <p:nvPr/>
          </p:nvSpPr>
          <p:spPr bwMode="auto">
            <a:xfrm>
              <a:off x="998219" y="2878366"/>
              <a:ext cx="4869065" cy="288872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Development Process (CI)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E8957BC-E5B1-C3D6-BBB1-8DA6219E3A64}"/>
                </a:ext>
              </a:extLst>
            </p:cNvPr>
            <p:cNvSpPr/>
            <p:nvPr/>
          </p:nvSpPr>
          <p:spPr bwMode="auto">
            <a:xfrm>
              <a:off x="6030031" y="2878366"/>
              <a:ext cx="2702490" cy="2888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Release Process (CD)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90C601-734B-5917-D0F2-E5F263A7346F}"/>
                </a:ext>
              </a:extLst>
            </p:cNvPr>
            <p:cNvGrpSpPr/>
            <p:nvPr/>
          </p:nvGrpSpPr>
          <p:grpSpPr>
            <a:xfrm>
              <a:off x="1138108" y="4282427"/>
              <a:ext cx="3113579" cy="975768"/>
              <a:chOff x="1854618" y="1506117"/>
              <a:chExt cx="3443987" cy="139270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B9CA6C8-709F-8932-EEF5-41EC2AE308BA}"/>
                  </a:ext>
                </a:extLst>
              </p:cNvPr>
              <p:cNvGrpSpPr/>
              <p:nvPr/>
            </p:nvGrpSpPr>
            <p:grpSpPr>
              <a:xfrm>
                <a:off x="1854618" y="1506117"/>
                <a:ext cx="3443987" cy="614039"/>
                <a:chOff x="1194579" y="1506117"/>
                <a:chExt cx="4104026" cy="695707"/>
              </a:xfrm>
            </p:grpSpPr>
            <p:sp>
              <p:nvSpPr>
                <p:cNvPr id="19" name="Arrow: Right 18">
                  <a:extLst>
                    <a:ext uri="{FF2B5EF4-FFF2-40B4-BE49-F238E27FC236}">
                      <a16:creationId xmlns:a16="http://schemas.microsoft.com/office/drawing/2014/main" id="{E62D6ACE-54A5-62EF-50FA-5E61073CDABA}"/>
                    </a:ext>
                  </a:extLst>
                </p:cNvPr>
                <p:cNvSpPr/>
                <p:nvPr/>
              </p:nvSpPr>
              <p:spPr bwMode="auto">
                <a:xfrm>
                  <a:off x="4796382" y="1681008"/>
                  <a:ext cx="502223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5235AC51-0E6C-11BA-7345-E0472F3839D3}"/>
                    </a:ext>
                  </a:extLst>
                </p:cNvPr>
                <p:cNvSpPr/>
                <p:nvPr/>
              </p:nvSpPr>
              <p:spPr bwMode="auto">
                <a:xfrm>
                  <a:off x="3504794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CC107B61-370E-68F5-C398-D2B6B2D93664}"/>
                    </a:ext>
                  </a:extLst>
                </p:cNvPr>
                <p:cNvSpPr/>
                <p:nvPr/>
              </p:nvSpPr>
              <p:spPr bwMode="auto">
                <a:xfrm>
                  <a:off x="1194579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22" name="Arrow: Left-Right 21">
                  <a:extLst>
                    <a:ext uri="{FF2B5EF4-FFF2-40B4-BE49-F238E27FC236}">
                      <a16:creationId xmlns:a16="http://schemas.microsoft.com/office/drawing/2014/main" id="{D0351745-356A-3550-3680-66E8E61FC2D8}"/>
                    </a:ext>
                  </a:extLst>
                </p:cNvPr>
                <p:cNvSpPr/>
                <p:nvPr/>
              </p:nvSpPr>
              <p:spPr bwMode="auto">
                <a:xfrm flipH="1">
                  <a:off x="2536213" y="1681008"/>
                  <a:ext cx="925970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49765A5-4371-AE7B-EF1A-C929161416B1}"/>
                  </a:ext>
                </a:extLst>
              </p:cNvPr>
              <p:cNvGrpSpPr/>
              <p:nvPr/>
            </p:nvGrpSpPr>
            <p:grpSpPr>
              <a:xfrm>
                <a:off x="1879901" y="2284778"/>
                <a:ext cx="3418704" cy="614039"/>
                <a:chOff x="1224707" y="1506117"/>
                <a:chExt cx="4073898" cy="695707"/>
              </a:xfrm>
            </p:grpSpPr>
            <p:sp>
              <p:nvSpPr>
                <p:cNvPr id="15" name="Arrow: Right 14">
                  <a:extLst>
                    <a:ext uri="{FF2B5EF4-FFF2-40B4-BE49-F238E27FC236}">
                      <a16:creationId xmlns:a16="http://schemas.microsoft.com/office/drawing/2014/main" id="{A96BB543-E456-9951-1952-0BAB398BE4AD}"/>
                    </a:ext>
                  </a:extLst>
                </p:cNvPr>
                <p:cNvSpPr/>
                <p:nvPr/>
              </p:nvSpPr>
              <p:spPr bwMode="auto">
                <a:xfrm>
                  <a:off x="4796382" y="1681008"/>
                  <a:ext cx="502223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5D218C03-09D0-726C-F6E0-97656D006BED}"/>
                    </a:ext>
                  </a:extLst>
                </p:cNvPr>
                <p:cNvSpPr/>
                <p:nvPr/>
              </p:nvSpPr>
              <p:spPr bwMode="auto">
                <a:xfrm>
                  <a:off x="3517172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921655E9-F651-A0A1-FAFA-6F3C424EF903}"/>
                    </a:ext>
                  </a:extLst>
                </p:cNvPr>
                <p:cNvSpPr/>
                <p:nvPr/>
              </p:nvSpPr>
              <p:spPr bwMode="auto">
                <a:xfrm>
                  <a:off x="1224707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18" name="Arrow: Left-Right 17">
                  <a:extLst>
                    <a:ext uri="{FF2B5EF4-FFF2-40B4-BE49-F238E27FC236}">
                      <a16:creationId xmlns:a16="http://schemas.microsoft.com/office/drawing/2014/main" id="{560E0A22-5591-D5FB-75ED-FAB37C1753E3}"/>
                    </a:ext>
                  </a:extLst>
                </p:cNvPr>
                <p:cNvSpPr/>
                <p:nvPr/>
              </p:nvSpPr>
              <p:spPr bwMode="auto">
                <a:xfrm flipH="1">
                  <a:off x="2536212" y="1681008"/>
                  <a:ext cx="920226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B39E56F-EEFF-10B9-EE3E-18CA219A316A}"/>
                </a:ext>
              </a:extLst>
            </p:cNvPr>
            <p:cNvGrpSpPr/>
            <p:nvPr/>
          </p:nvGrpSpPr>
          <p:grpSpPr>
            <a:xfrm>
              <a:off x="4386498" y="3042990"/>
              <a:ext cx="1140078" cy="2247676"/>
              <a:chOff x="5239777" y="695739"/>
              <a:chExt cx="1261062" cy="2601961"/>
            </a:xfrm>
            <a:solidFill>
              <a:schemeClr val="accent4"/>
            </a:solidFill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40E14FB-83D5-33B3-FC53-A6B9DAB0BDE6}"/>
                  </a:ext>
                </a:extLst>
              </p:cNvPr>
              <p:cNvSpPr/>
              <p:nvPr/>
            </p:nvSpPr>
            <p:spPr bwMode="auto">
              <a:xfrm>
                <a:off x="5239777" y="2022754"/>
                <a:ext cx="1261062" cy="1274946"/>
              </a:xfrm>
              <a:prstGeom prst="rect">
                <a:avLst/>
              </a:pr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integration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9AE5D25-898D-B931-8F02-24B053C9163F}"/>
                  </a:ext>
                </a:extLst>
              </p:cNvPr>
              <p:cNvSpPr/>
              <p:nvPr/>
            </p:nvSpPr>
            <p:spPr bwMode="auto">
              <a:xfrm>
                <a:off x="5239777" y="695739"/>
                <a:ext cx="1261062" cy="8538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12" name="Arrow: Right 11">
                <a:extLst>
                  <a:ext uri="{FF2B5EF4-FFF2-40B4-BE49-F238E27FC236}">
                    <a16:creationId xmlns:a16="http://schemas.microsoft.com/office/drawing/2014/main" id="{C364B072-63A4-9D0E-18A5-2D9315106A1F}"/>
                  </a:ext>
                </a:extLst>
              </p:cNvPr>
              <p:cNvSpPr/>
              <p:nvPr/>
            </p:nvSpPr>
            <p:spPr bwMode="auto">
              <a:xfrm rot="16200000">
                <a:off x="5666768" y="1663964"/>
                <a:ext cx="407079" cy="282097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DF5720-7663-47B0-2F53-0D66B9B89079}"/>
                </a:ext>
              </a:extLst>
            </p:cNvPr>
            <p:cNvSpPr/>
            <p:nvPr/>
          </p:nvSpPr>
          <p:spPr bwMode="auto">
            <a:xfrm>
              <a:off x="7296447" y="3313589"/>
              <a:ext cx="1140078" cy="737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73CEBA1B-474E-F3B3-573C-2CCD3AF060EF}"/>
                </a:ext>
              </a:extLst>
            </p:cNvPr>
            <p:cNvSpPr/>
            <p:nvPr/>
          </p:nvSpPr>
          <p:spPr bwMode="auto">
            <a:xfrm>
              <a:off x="6149302" y="3780544"/>
              <a:ext cx="1027873" cy="92721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?</a:t>
              </a:r>
              <a:endParaRPr lang="en-US" sz="3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69C40AA-26AA-4321-EDB1-9EBE307C4BD5}"/>
                </a:ext>
              </a:extLst>
            </p:cNvPr>
            <p:cNvSpPr/>
            <p:nvPr/>
          </p:nvSpPr>
          <p:spPr bwMode="auto">
            <a:xfrm>
              <a:off x="7296447" y="4371215"/>
              <a:ext cx="1140078" cy="737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1322366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E18CB-5510-9995-46E5-9CAE01B4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A8740D2-F051-D967-20A0-F49481439CFD}"/>
              </a:ext>
            </a:extLst>
          </p:cNvPr>
          <p:cNvSpPr/>
          <p:nvPr/>
        </p:nvSpPr>
        <p:spPr bwMode="auto">
          <a:xfrm>
            <a:off x="302953" y="238998"/>
            <a:ext cx="7560888" cy="32684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EDB799-4EDC-6DA7-6DC6-63624D4C63B5}"/>
              </a:ext>
            </a:extLst>
          </p:cNvPr>
          <p:cNvSpPr/>
          <p:nvPr/>
        </p:nvSpPr>
        <p:spPr bwMode="auto">
          <a:xfrm>
            <a:off x="401494" y="764984"/>
            <a:ext cx="7334961" cy="11356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FCE019-1553-9442-81F3-76DDBE8CABC0}"/>
              </a:ext>
            </a:extLst>
          </p:cNvPr>
          <p:cNvSpPr/>
          <p:nvPr/>
        </p:nvSpPr>
        <p:spPr bwMode="auto">
          <a:xfrm>
            <a:off x="401494" y="351423"/>
            <a:ext cx="7334961" cy="402111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Deployment Pipeline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7363E60-D1DA-817E-3604-E073F0D14679}"/>
              </a:ext>
            </a:extLst>
          </p:cNvPr>
          <p:cNvSpPr/>
          <p:nvPr/>
        </p:nvSpPr>
        <p:spPr bwMode="auto">
          <a:xfrm>
            <a:off x="2218741" y="1059869"/>
            <a:ext cx="970624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Deploy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34F188-4935-E961-0E90-6ECEA88FA0F7}"/>
              </a:ext>
            </a:extLst>
          </p:cNvPr>
          <p:cNvSpPr/>
          <p:nvPr/>
        </p:nvSpPr>
        <p:spPr bwMode="auto">
          <a:xfrm>
            <a:off x="565725" y="2647841"/>
            <a:ext cx="1634694" cy="7479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B5F77E-BA4B-9C00-FCFA-9E63C98B134F}"/>
              </a:ext>
            </a:extLst>
          </p:cNvPr>
          <p:cNvSpPr/>
          <p:nvPr/>
        </p:nvSpPr>
        <p:spPr bwMode="auto">
          <a:xfrm>
            <a:off x="565725" y="950191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EDF43A-17A1-AD45-A408-EC37B49A34DB}"/>
              </a:ext>
            </a:extLst>
          </p:cNvPr>
          <p:cNvSpPr/>
          <p:nvPr/>
        </p:nvSpPr>
        <p:spPr bwMode="auto">
          <a:xfrm>
            <a:off x="3212600" y="950191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987B42C-D5C3-94B5-7A63-32067C41F033}"/>
              </a:ext>
            </a:extLst>
          </p:cNvPr>
          <p:cNvSpPr/>
          <p:nvPr/>
        </p:nvSpPr>
        <p:spPr bwMode="auto">
          <a:xfrm>
            <a:off x="5859475" y="941087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BA859621-4BBB-2D8A-D94D-AA4F3EDD56EE}"/>
              </a:ext>
            </a:extLst>
          </p:cNvPr>
          <p:cNvSpPr/>
          <p:nvPr/>
        </p:nvSpPr>
        <p:spPr bwMode="auto">
          <a:xfrm>
            <a:off x="4870529" y="1059869"/>
            <a:ext cx="970624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Deploy</a:t>
            </a:r>
          </a:p>
        </p:txBody>
      </p:sp>
      <p:sp>
        <p:nvSpPr>
          <p:cNvPr id="2" name="Arrow: Up-Down 1">
            <a:extLst>
              <a:ext uri="{FF2B5EF4-FFF2-40B4-BE49-F238E27FC236}">
                <a16:creationId xmlns:a16="http://schemas.microsoft.com/office/drawing/2014/main" id="{CB9EA47A-8CCC-5979-E2BB-5A0BF89A9739}"/>
              </a:ext>
            </a:extLst>
          </p:cNvPr>
          <p:cNvSpPr/>
          <p:nvPr/>
        </p:nvSpPr>
        <p:spPr bwMode="auto">
          <a:xfrm>
            <a:off x="1102649" y="1698117"/>
            <a:ext cx="560846" cy="950490"/>
          </a:xfrm>
          <a:prstGeom prst="upDownArrow">
            <a:avLst>
              <a:gd name="adj1" fmla="val 67960"/>
              <a:gd name="adj2" fmla="val 55238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GIT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</a:t>
            </a:r>
          </a:p>
        </p:txBody>
      </p:sp>
    </p:spTree>
    <p:extLst>
      <p:ext uri="{BB962C8B-B14F-4D97-AF65-F5344CB8AC3E}">
        <p14:creationId xmlns:p14="http://schemas.microsoft.com/office/powerpoint/2010/main" val="4035362271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4B017B2-8C5C-F312-8BCF-4038DB14AEF2}"/>
              </a:ext>
            </a:extLst>
          </p:cNvPr>
          <p:cNvSpPr/>
          <p:nvPr/>
        </p:nvSpPr>
        <p:spPr bwMode="auto">
          <a:xfrm>
            <a:off x="2508484" y="2268071"/>
            <a:ext cx="7603706" cy="24294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5D014D91-ED3A-1AB4-4797-E1572D72F754}"/>
              </a:ext>
            </a:extLst>
          </p:cNvPr>
          <p:cNvSpPr/>
          <p:nvPr/>
        </p:nvSpPr>
        <p:spPr bwMode="auto">
          <a:xfrm>
            <a:off x="4239220" y="3925587"/>
            <a:ext cx="1211321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Pull Request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7467B2-5BAF-E591-79BF-CCEA40C52123}"/>
              </a:ext>
            </a:extLst>
          </p:cNvPr>
          <p:cNvSpPr/>
          <p:nvPr/>
        </p:nvSpPr>
        <p:spPr bwMode="auto">
          <a:xfrm>
            <a:off x="2587682" y="3815909"/>
            <a:ext cx="1634694" cy="7479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9EFDCDA2-95FD-F09F-867A-2338D9CBE4F0}"/>
              </a:ext>
            </a:extLst>
          </p:cNvPr>
          <p:cNvSpPr/>
          <p:nvPr/>
        </p:nvSpPr>
        <p:spPr bwMode="auto">
          <a:xfrm>
            <a:off x="3045881" y="3178615"/>
            <a:ext cx="718296" cy="637294"/>
          </a:xfrm>
          <a:prstGeom prst="upArrow">
            <a:avLst>
              <a:gd name="adj1" fmla="val 77388"/>
              <a:gd name="adj2" fmla="val 44825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Update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from GIT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6EB9C3-EC3C-EE66-E4E2-E27EA7DE3F67}"/>
              </a:ext>
            </a:extLst>
          </p:cNvPr>
          <p:cNvSpPr/>
          <p:nvPr/>
        </p:nvSpPr>
        <p:spPr bwMode="auto">
          <a:xfrm>
            <a:off x="2587682" y="2391777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7D6C4EA-7ADB-E420-BAB2-DAE5010422AF}"/>
              </a:ext>
            </a:extLst>
          </p:cNvPr>
          <p:cNvSpPr/>
          <p:nvPr/>
        </p:nvSpPr>
        <p:spPr bwMode="auto">
          <a:xfrm>
            <a:off x="7118923" y="3925587"/>
            <a:ext cx="1211321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Pull Request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A350F9-A690-3153-17E4-9E97D9AC5536}"/>
              </a:ext>
            </a:extLst>
          </p:cNvPr>
          <p:cNvSpPr/>
          <p:nvPr/>
        </p:nvSpPr>
        <p:spPr bwMode="auto">
          <a:xfrm>
            <a:off x="5467385" y="3815909"/>
            <a:ext cx="1634694" cy="74792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54C74829-F391-7C28-0A03-467B4FCD0C33}"/>
              </a:ext>
            </a:extLst>
          </p:cNvPr>
          <p:cNvSpPr/>
          <p:nvPr/>
        </p:nvSpPr>
        <p:spPr bwMode="auto">
          <a:xfrm>
            <a:off x="5925584" y="3178615"/>
            <a:ext cx="718296" cy="637294"/>
          </a:xfrm>
          <a:prstGeom prst="upArrow">
            <a:avLst>
              <a:gd name="adj1" fmla="val 77388"/>
              <a:gd name="adj2" fmla="val 44825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Update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from GIT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5CE572-35D0-4771-1BC1-2D49FFC07A27}"/>
              </a:ext>
            </a:extLst>
          </p:cNvPr>
          <p:cNvSpPr/>
          <p:nvPr/>
        </p:nvSpPr>
        <p:spPr bwMode="auto">
          <a:xfrm>
            <a:off x="5467385" y="2391777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C72239-59A4-EC26-B4D3-B2446FB1A5D3}"/>
              </a:ext>
            </a:extLst>
          </p:cNvPr>
          <p:cNvSpPr/>
          <p:nvPr/>
        </p:nvSpPr>
        <p:spPr bwMode="auto">
          <a:xfrm>
            <a:off x="8347088" y="3815909"/>
            <a:ext cx="1634694" cy="7479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27" name="Arrow: Up 26">
            <a:extLst>
              <a:ext uri="{FF2B5EF4-FFF2-40B4-BE49-F238E27FC236}">
                <a16:creationId xmlns:a16="http://schemas.microsoft.com/office/drawing/2014/main" id="{84EBFD1F-A53B-C8FF-E78F-AFC8CEB9216A}"/>
              </a:ext>
            </a:extLst>
          </p:cNvPr>
          <p:cNvSpPr/>
          <p:nvPr/>
        </p:nvSpPr>
        <p:spPr bwMode="auto">
          <a:xfrm>
            <a:off x="8805287" y="3178615"/>
            <a:ext cx="718296" cy="637294"/>
          </a:xfrm>
          <a:prstGeom prst="upArrow">
            <a:avLst>
              <a:gd name="adj1" fmla="val 77388"/>
              <a:gd name="adj2" fmla="val 44825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Update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from GIT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24CE80-49AA-EF8E-DEC7-396B209773F8}"/>
              </a:ext>
            </a:extLst>
          </p:cNvPr>
          <p:cNvSpPr/>
          <p:nvPr/>
        </p:nvSpPr>
        <p:spPr bwMode="auto">
          <a:xfrm>
            <a:off x="8347088" y="2391777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</p:spTree>
    <p:extLst>
      <p:ext uri="{BB962C8B-B14F-4D97-AF65-F5344CB8AC3E}">
        <p14:creationId xmlns:p14="http://schemas.microsoft.com/office/powerpoint/2010/main" val="3255497976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42EC8-C543-B01B-255A-8274FCD1E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B3CE59-91FB-FD1E-5254-1F02B3829DB1}"/>
              </a:ext>
            </a:extLst>
          </p:cNvPr>
          <p:cNvSpPr/>
          <p:nvPr/>
        </p:nvSpPr>
        <p:spPr bwMode="auto">
          <a:xfrm>
            <a:off x="2698376" y="2481404"/>
            <a:ext cx="6171304" cy="12632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716621-77CA-1DAA-EF81-07D7C1ABA7AB}"/>
              </a:ext>
            </a:extLst>
          </p:cNvPr>
          <p:cNvSpPr/>
          <p:nvPr/>
        </p:nvSpPr>
        <p:spPr bwMode="auto">
          <a:xfrm>
            <a:off x="2841812" y="2591375"/>
            <a:ext cx="1951490" cy="1043333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custom code for 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release process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547F79-CF55-3D8C-A6B1-2E81F1B66ED9}"/>
              </a:ext>
            </a:extLst>
          </p:cNvPr>
          <p:cNvSpPr/>
          <p:nvPr/>
        </p:nvSpPr>
        <p:spPr bwMode="auto">
          <a:xfrm>
            <a:off x="7475325" y="2591375"/>
            <a:ext cx="1261061" cy="104333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8F8A8BF-6BD4-B004-BED9-AEA6A1A60FC8}"/>
              </a:ext>
            </a:extLst>
          </p:cNvPr>
          <p:cNvGrpSpPr/>
          <p:nvPr/>
        </p:nvGrpSpPr>
        <p:grpSpPr>
          <a:xfrm>
            <a:off x="4912660" y="2722880"/>
            <a:ext cx="2493980" cy="804862"/>
            <a:chOff x="4862504" y="2833855"/>
            <a:chExt cx="2033199" cy="663407"/>
          </a:xfrm>
        </p:grpSpPr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D8CB168B-B7ED-3D89-588F-7132701DE342}"/>
                </a:ext>
              </a:extLst>
            </p:cNvPr>
            <p:cNvSpPr/>
            <p:nvPr/>
          </p:nvSpPr>
          <p:spPr bwMode="auto">
            <a:xfrm>
              <a:off x="4862504" y="2833855"/>
              <a:ext cx="2021254" cy="279187"/>
            </a:xfrm>
            <a:prstGeom prst="rightArrow">
              <a:avLst>
                <a:gd name="adj1" fmla="val 73858"/>
                <a:gd name="adj2" fmla="val 77367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3152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1. Call Update from GIT</a:t>
              </a:r>
            </a:p>
          </p:txBody>
        </p:sp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510EFE0B-5866-86CE-1CFB-519ED5BD9E1D}"/>
                </a:ext>
              </a:extLst>
            </p:cNvPr>
            <p:cNvSpPr/>
            <p:nvPr/>
          </p:nvSpPr>
          <p:spPr bwMode="auto">
            <a:xfrm>
              <a:off x="4874449" y="3218075"/>
              <a:ext cx="2021254" cy="279187"/>
            </a:xfrm>
            <a:prstGeom prst="rightArrow">
              <a:avLst>
                <a:gd name="adj1" fmla="val 73858"/>
                <a:gd name="adj2" fmla="val 76355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3152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2. Run post-sync operations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8239690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E951C4-C2FF-92FC-22F4-14F6824C4C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90" t="38099" r="29504" b="22737"/>
          <a:stretch>
            <a:fillRect/>
          </a:stretch>
        </p:blipFill>
        <p:spPr>
          <a:xfrm>
            <a:off x="1066801" y="744070"/>
            <a:ext cx="5486400" cy="18915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605428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67157F-85EA-D044-9F14-F5E15FBA436A}"/>
              </a:ext>
            </a:extLst>
          </p:cNvPr>
          <p:cNvSpPr/>
          <p:nvPr/>
        </p:nvSpPr>
        <p:spPr bwMode="auto">
          <a:xfrm>
            <a:off x="2442536" y="2178991"/>
            <a:ext cx="7727831" cy="296217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DB50EC9-9740-659C-8957-32E4B8FF471F}"/>
              </a:ext>
            </a:extLst>
          </p:cNvPr>
          <p:cNvSpPr/>
          <p:nvPr/>
        </p:nvSpPr>
        <p:spPr bwMode="auto">
          <a:xfrm>
            <a:off x="4239220" y="4374177"/>
            <a:ext cx="1211321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Pull Request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BB4928-6E5F-9869-95A2-154A0655D81F}"/>
              </a:ext>
            </a:extLst>
          </p:cNvPr>
          <p:cNvSpPr/>
          <p:nvPr/>
        </p:nvSpPr>
        <p:spPr bwMode="auto">
          <a:xfrm>
            <a:off x="2587682" y="4264499"/>
            <a:ext cx="1634694" cy="7479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3676B4-C9FF-B640-DB37-76FB8A829E7F}"/>
              </a:ext>
            </a:extLst>
          </p:cNvPr>
          <p:cNvSpPr/>
          <p:nvPr/>
        </p:nvSpPr>
        <p:spPr bwMode="auto">
          <a:xfrm>
            <a:off x="2587682" y="2320057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6778C45-FF03-5684-AD2D-604348DE87E5}"/>
              </a:ext>
            </a:extLst>
          </p:cNvPr>
          <p:cNvSpPr/>
          <p:nvPr/>
        </p:nvSpPr>
        <p:spPr bwMode="auto">
          <a:xfrm>
            <a:off x="7118923" y="4374177"/>
            <a:ext cx="1211321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Pull Request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78F321-4BDB-B5EA-A7D6-84E821FD29E2}"/>
              </a:ext>
            </a:extLst>
          </p:cNvPr>
          <p:cNvSpPr/>
          <p:nvPr/>
        </p:nvSpPr>
        <p:spPr bwMode="auto">
          <a:xfrm>
            <a:off x="5467385" y="4264499"/>
            <a:ext cx="1634694" cy="74792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B86D77D-E4C0-D488-EB09-FC0145D2F073}"/>
              </a:ext>
            </a:extLst>
          </p:cNvPr>
          <p:cNvSpPr/>
          <p:nvPr/>
        </p:nvSpPr>
        <p:spPr bwMode="auto">
          <a:xfrm rot="16200000">
            <a:off x="2833045" y="3406667"/>
            <a:ext cx="1143971" cy="519149"/>
          </a:xfrm>
          <a:prstGeom prst="rightArrow">
            <a:avLst>
              <a:gd name="adj1" fmla="val 64970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Update 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from GIT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4C30F2-F8D3-B3B0-1279-638178BFEBE7}"/>
              </a:ext>
            </a:extLst>
          </p:cNvPr>
          <p:cNvSpPr/>
          <p:nvPr/>
        </p:nvSpPr>
        <p:spPr bwMode="auto">
          <a:xfrm>
            <a:off x="5467385" y="2320057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F2AC5E-5AC5-ECB0-D777-E6120EB31082}"/>
              </a:ext>
            </a:extLst>
          </p:cNvPr>
          <p:cNvSpPr/>
          <p:nvPr/>
        </p:nvSpPr>
        <p:spPr bwMode="auto">
          <a:xfrm>
            <a:off x="8347088" y="4264499"/>
            <a:ext cx="1634694" cy="7479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2EFC81-6367-7FA8-FB05-55309FACE575}"/>
              </a:ext>
            </a:extLst>
          </p:cNvPr>
          <p:cNvSpPr/>
          <p:nvPr/>
        </p:nvSpPr>
        <p:spPr bwMode="auto">
          <a:xfrm>
            <a:off x="8347088" y="2320057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D8FE3656-152A-10A8-D2F8-E00979F27A9D}"/>
              </a:ext>
            </a:extLst>
          </p:cNvPr>
          <p:cNvSpPr/>
          <p:nvPr/>
        </p:nvSpPr>
        <p:spPr bwMode="auto">
          <a:xfrm rot="16200000">
            <a:off x="5712747" y="3406668"/>
            <a:ext cx="1143969" cy="519149"/>
          </a:xfrm>
          <a:prstGeom prst="rightArrow">
            <a:avLst>
              <a:gd name="adj1" fmla="val 64970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fabric-cicd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54BB3283-0BC0-585B-62AB-352C4A028A92}"/>
              </a:ext>
            </a:extLst>
          </p:cNvPr>
          <p:cNvSpPr/>
          <p:nvPr/>
        </p:nvSpPr>
        <p:spPr bwMode="auto">
          <a:xfrm rot="16200000">
            <a:off x="8592450" y="3406668"/>
            <a:ext cx="1143969" cy="519149"/>
          </a:xfrm>
          <a:prstGeom prst="rightArrow">
            <a:avLst>
              <a:gd name="adj1" fmla="val 64970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fabric-cicd</a:t>
            </a:r>
          </a:p>
        </p:txBody>
      </p:sp>
    </p:spTree>
    <p:extLst>
      <p:ext uri="{BB962C8B-B14F-4D97-AF65-F5344CB8AC3E}">
        <p14:creationId xmlns:p14="http://schemas.microsoft.com/office/powerpoint/2010/main" val="3243106548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22E68-172C-3322-CEFA-1E24E5604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6B727A-614B-F18A-8B71-66DB6506732B}"/>
              </a:ext>
            </a:extLst>
          </p:cNvPr>
          <p:cNvSpPr/>
          <p:nvPr/>
        </p:nvSpPr>
        <p:spPr bwMode="auto">
          <a:xfrm>
            <a:off x="2489069" y="2172579"/>
            <a:ext cx="4799237" cy="36365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F699C7-CEDD-07FE-3CB9-8742279D93A6}"/>
              </a:ext>
            </a:extLst>
          </p:cNvPr>
          <p:cNvSpPr/>
          <p:nvPr/>
        </p:nvSpPr>
        <p:spPr bwMode="auto">
          <a:xfrm>
            <a:off x="2587682" y="3868455"/>
            <a:ext cx="1634694" cy="178157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F78946-78EE-2B0A-CDC4-832F17F6BC90}"/>
              </a:ext>
            </a:extLst>
          </p:cNvPr>
          <p:cNvSpPr/>
          <p:nvPr/>
        </p:nvSpPr>
        <p:spPr bwMode="auto">
          <a:xfrm>
            <a:off x="2587682" y="2320057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F89351-B777-D565-0982-D57B2ADE37D7}"/>
              </a:ext>
            </a:extLst>
          </p:cNvPr>
          <p:cNvSpPr/>
          <p:nvPr/>
        </p:nvSpPr>
        <p:spPr bwMode="auto">
          <a:xfrm>
            <a:off x="5489104" y="3956271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5808A5-D3FA-D8E7-84F2-4942CF4F1240}"/>
              </a:ext>
            </a:extLst>
          </p:cNvPr>
          <p:cNvSpPr/>
          <p:nvPr/>
        </p:nvSpPr>
        <p:spPr bwMode="auto">
          <a:xfrm>
            <a:off x="5489104" y="4902107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1752F503-7C1E-B75F-C6DC-B9A5E3C61823}"/>
              </a:ext>
            </a:extLst>
          </p:cNvPr>
          <p:cNvSpPr/>
          <p:nvPr/>
        </p:nvSpPr>
        <p:spPr bwMode="auto">
          <a:xfrm>
            <a:off x="4276399" y="4070660"/>
            <a:ext cx="1143969" cy="519149"/>
          </a:xfrm>
          <a:prstGeom prst="rightArrow">
            <a:avLst>
              <a:gd name="adj1" fmla="val 64970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fabric-cicd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78F3F7B8-982F-EF9D-49AE-446868456CD6}"/>
              </a:ext>
            </a:extLst>
          </p:cNvPr>
          <p:cNvSpPr/>
          <p:nvPr/>
        </p:nvSpPr>
        <p:spPr bwMode="auto">
          <a:xfrm>
            <a:off x="4283755" y="5012425"/>
            <a:ext cx="1143969" cy="519149"/>
          </a:xfrm>
          <a:prstGeom prst="rightArrow">
            <a:avLst>
              <a:gd name="adj1" fmla="val 64970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fabric-cicd</a:t>
            </a:r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2D26066D-ABB0-BEC7-92D2-02FB2AF37D08}"/>
              </a:ext>
            </a:extLst>
          </p:cNvPr>
          <p:cNvSpPr/>
          <p:nvPr/>
        </p:nvSpPr>
        <p:spPr bwMode="auto">
          <a:xfrm>
            <a:off x="3045881" y="3067983"/>
            <a:ext cx="718296" cy="747926"/>
          </a:xfrm>
          <a:prstGeom prst="upArrow">
            <a:avLst>
              <a:gd name="adj1" fmla="val 77388"/>
              <a:gd name="adj2" fmla="val 44825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Update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from GIT</a:t>
            </a:r>
          </a:p>
        </p:txBody>
      </p:sp>
    </p:spTree>
    <p:extLst>
      <p:ext uri="{BB962C8B-B14F-4D97-AF65-F5344CB8AC3E}">
        <p14:creationId xmlns:p14="http://schemas.microsoft.com/office/powerpoint/2010/main" val="3679389188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8C79D-BF78-AC57-3E27-8FA378FD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21A243-9727-9F05-65D5-228F2C85169F}"/>
              </a:ext>
            </a:extLst>
          </p:cNvPr>
          <p:cNvSpPr/>
          <p:nvPr/>
        </p:nvSpPr>
        <p:spPr bwMode="auto">
          <a:xfrm>
            <a:off x="708135" y="465608"/>
            <a:ext cx="8120905" cy="22736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6CA6B813-D356-65B8-CB63-AC2BFC4D741E}"/>
              </a:ext>
            </a:extLst>
          </p:cNvPr>
          <p:cNvSpPr/>
          <p:nvPr/>
        </p:nvSpPr>
        <p:spPr bwMode="auto">
          <a:xfrm>
            <a:off x="4260604" y="632613"/>
            <a:ext cx="2038595" cy="1980230"/>
          </a:xfrm>
          <a:prstGeom prst="round2SameRect">
            <a:avLst>
              <a:gd name="adj1" fmla="val 8009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fabric-cicd </a:t>
            </a:r>
            <a:r>
              <a:rPr lang="en-US" sz="10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processing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0C0A-88F9-5B96-6542-E1E12CAAA8E7}"/>
              </a:ext>
            </a:extLst>
          </p:cNvPr>
          <p:cNvSpPr/>
          <p:nvPr/>
        </p:nvSpPr>
        <p:spPr bwMode="auto">
          <a:xfrm>
            <a:off x="6404073" y="599319"/>
            <a:ext cx="2259959" cy="2004747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target workspace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39AA3D-26A3-3237-9A9B-1ABE3EF5F6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84" r="39007" b="16195"/>
          <a:stretch>
            <a:fillRect/>
          </a:stretch>
        </p:blipFill>
        <p:spPr>
          <a:xfrm>
            <a:off x="6501093" y="941935"/>
            <a:ext cx="1996252" cy="15251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890D58-3EED-7469-67F4-88B905EA479E}"/>
              </a:ext>
            </a:extLst>
          </p:cNvPr>
          <p:cNvSpPr/>
          <p:nvPr/>
        </p:nvSpPr>
        <p:spPr bwMode="auto">
          <a:xfrm>
            <a:off x="807978" y="618120"/>
            <a:ext cx="3365767" cy="1989009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Folder with Item Definitions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566F4C-DA4B-08EF-C3E5-E8490785AE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18154"/>
          <a:stretch>
            <a:fillRect/>
          </a:stretch>
        </p:blipFill>
        <p:spPr>
          <a:xfrm>
            <a:off x="945276" y="962002"/>
            <a:ext cx="3091173" cy="1505059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6291F422-9C48-A878-D325-883A7785C9C5}"/>
              </a:ext>
            </a:extLst>
          </p:cNvPr>
          <p:cNvSpPr/>
          <p:nvPr/>
        </p:nvSpPr>
        <p:spPr bwMode="auto">
          <a:xfrm>
            <a:off x="4358220" y="997861"/>
            <a:ext cx="1839814" cy="214718"/>
          </a:xfrm>
          <a:prstGeom prst="rightArrow">
            <a:avLst>
              <a:gd name="adj1" fmla="val 73858"/>
              <a:gd name="adj2" fmla="val 77367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Create or Update Item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83B46A8-6969-267F-DCE3-8EA464EFDFE9}"/>
              </a:ext>
            </a:extLst>
          </p:cNvPr>
          <p:cNvSpPr/>
          <p:nvPr/>
        </p:nvSpPr>
        <p:spPr bwMode="auto">
          <a:xfrm>
            <a:off x="4358220" y="1311482"/>
            <a:ext cx="1839814" cy="214718"/>
          </a:xfrm>
          <a:prstGeom prst="rightArrow">
            <a:avLst>
              <a:gd name="adj1" fmla="val 73858"/>
              <a:gd name="adj2" fmla="val 77367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Create or Update Item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0A7F71E-E129-BCCD-923B-EA88E74719DB}"/>
              </a:ext>
            </a:extLst>
          </p:cNvPr>
          <p:cNvSpPr/>
          <p:nvPr/>
        </p:nvSpPr>
        <p:spPr bwMode="auto">
          <a:xfrm>
            <a:off x="4358220" y="1625103"/>
            <a:ext cx="1839814" cy="214718"/>
          </a:xfrm>
          <a:prstGeom prst="rightArrow">
            <a:avLst>
              <a:gd name="adj1" fmla="val 73858"/>
              <a:gd name="adj2" fmla="val 77367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Create or Update Item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BFE54A35-9C90-F51E-75F3-914880EC1ED8}"/>
              </a:ext>
            </a:extLst>
          </p:cNvPr>
          <p:cNvSpPr/>
          <p:nvPr/>
        </p:nvSpPr>
        <p:spPr bwMode="auto">
          <a:xfrm>
            <a:off x="4358220" y="1938724"/>
            <a:ext cx="1839814" cy="214718"/>
          </a:xfrm>
          <a:prstGeom prst="rightArrow">
            <a:avLst>
              <a:gd name="adj1" fmla="val 73858"/>
              <a:gd name="adj2" fmla="val 77367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Create or Update Item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8F56CC5-A4EC-B30F-F68A-AC29DD67FFB5}"/>
              </a:ext>
            </a:extLst>
          </p:cNvPr>
          <p:cNvSpPr/>
          <p:nvPr/>
        </p:nvSpPr>
        <p:spPr bwMode="auto">
          <a:xfrm>
            <a:off x="4358220" y="2252343"/>
            <a:ext cx="1839814" cy="214718"/>
          </a:xfrm>
          <a:prstGeom prst="rightArrow">
            <a:avLst>
              <a:gd name="adj1" fmla="val 73858"/>
              <a:gd name="adj2" fmla="val 77367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Create or Update Item</a:t>
            </a:r>
          </a:p>
        </p:txBody>
      </p:sp>
    </p:spTree>
    <p:extLst>
      <p:ext uri="{BB962C8B-B14F-4D97-AF65-F5344CB8AC3E}">
        <p14:creationId xmlns:p14="http://schemas.microsoft.com/office/powerpoint/2010/main" val="1783259338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BB35FD-6BDC-D8E1-F703-E285A7CB4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88" y="528917"/>
            <a:ext cx="4017718" cy="4078941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19086739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1C3717-9C7A-5880-8F76-2B0A6644F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40" y="524238"/>
            <a:ext cx="3257604" cy="3599528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19123483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AF2B7-C8B0-DFAD-E3E7-FD6F165F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16E27E78-6487-7F4D-4D6F-0495179D3B56}"/>
              </a:ext>
            </a:extLst>
          </p:cNvPr>
          <p:cNvSpPr/>
          <p:nvPr/>
        </p:nvSpPr>
        <p:spPr bwMode="auto">
          <a:xfrm>
            <a:off x="91440" y="193041"/>
            <a:ext cx="12141200" cy="516127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46304" rIns="0" bIns="13716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4E38898-253F-F8DC-6316-D4A8F3232BEB}"/>
              </a:ext>
            </a:extLst>
          </p:cNvPr>
          <p:cNvSpPr/>
          <p:nvPr/>
        </p:nvSpPr>
        <p:spPr bwMode="auto">
          <a:xfrm>
            <a:off x="2357120" y="396240"/>
            <a:ext cx="9656867" cy="4737853"/>
          </a:xfrm>
          <a:prstGeom prst="rect">
            <a:avLst/>
          </a:prstGeom>
          <a:solidFill>
            <a:srgbClr val="FFFFE7"/>
          </a:solidFill>
          <a:ln w="12700"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46304" rIns="0" bIns="13716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Fabric Solution Workspace</a:t>
            </a:r>
          </a:p>
        </p:txBody>
      </p:sp>
      <p:pic>
        <p:nvPicPr>
          <p:cNvPr id="47" name="Picture 46" descr="A blue and white sign with waves&#10;&#10;Description automatically generated">
            <a:extLst>
              <a:ext uri="{FF2B5EF4-FFF2-40B4-BE49-F238E27FC236}">
                <a16:creationId xmlns:a16="http://schemas.microsoft.com/office/drawing/2014/main" id="{AA580895-6123-5F34-DA3E-F5D9F18F83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112" y="2961504"/>
            <a:ext cx="45722" cy="4572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DEA9F1BA-6338-F15B-5C18-94D9CF2CE344}"/>
              </a:ext>
            </a:extLst>
          </p:cNvPr>
          <p:cNvSpPr/>
          <p:nvPr/>
        </p:nvSpPr>
        <p:spPr bwMode="auto">
          <a:xfrm>
            <a:off x="1803204" y="3437675"/>
            <a:ext cx="1862004" cy="431748"/>
          </a:xfrm>
          <a:prstGeom prst="rightArrow">
            <a:avLst>
              <a:gd name="adj1" fmla="val 68275"/>
              <a:gd name="adj2" fmla="val 77177"/>
            </a:avLst>
          </a:prstGeom>
          <a:solidFill>
            <a:srgbClr val="8A0000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ADLS Gen2</a:t>
            </a:r>
          </a:p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Shortcut</a:t>
            </a:r>
          </a:p>
        </p:txBody>
      </p:sp>
      <p:pic>
        <p:nvPicPr>
          <p:cNvPr id="8" name="Picture 7" descr="A white square with orange and black logo&#10;&#10;AI-generated content may be incorrect.">
            <a:extLst>
              <a:ext uri="{FF2B5EF4-FFF2-40B4-BE49-F238E27FC236}">
                <a16:creationId xmlns:a16="http://schemas.microsoft.com/office/drawing/2014/main" id="{2693E690-1ACC-779B-AA32-7709B1CEDA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556" y="3302457"/>
            <a:ext cx="662273" cy="662273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23D8B87F-C196-A804-7047-769A85C5D64E}"/>
              </a:ext>
            </a:extLst>
          </p:cNvPr>
          <p:cNvGrpSpPr/>
          <p:nvPr/>
        </p:nvGrpSpPr>
        <p:grpSpPr>
          <a:xfrm>
            <a:off x="3619133" y="2633801"/>
            <a:ext cx="1862004" cy="1964215"/>
            <a:chOff x="1246956" y="1805652"/>
            <a:chExt cx="1862004" cy="196421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2D3F1B5-A23E-C8A4-0EFC-CDCFFDF120DA}"/>
                </a:ext>
              </a:extLst>
            </p:cNvPr>
            <p:cNvSpPr/>
            <p:nvPr/>
          </p:nvSpPr>
          <p:spPr bwMode="auto">
            <a:xfrm>
              <a:off x="1246956" y="1805652"/>
              <a:ext cx="1862004" cy="19642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rPr>
                <a:t>Bronze Lakehouse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8074296-FF63-2431-7ED4-E58A4F6A5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9788" y="2144509"/>
              <a:ext cx="1617591" cy="156633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5B95F6C-7A51-BD63-851C-4FAC579D2FF1}"/>
              </a:ext>
            </a:extLst>
          </p:cNvPr>
          <p:cNvGrpSpPr/>
          <p:nvPr/>
        </p:nvGrpSpPr>
        <p:grpSpPr>
          <a:xfrm>
            <a:off x="6897299" y="2635597"/>
            <a:ext cx="1862004" cy="1964215"/>
            <a:chOff x="4355916" y="1764847"/>
            <a:chExt cx="1862004" cy="196421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F0D8E45-EAF5-E966-DDB9-A20F869F238A}"/>
                </a:ext>
              </a:extLst>
            </p:cNvPr>
            <p:cNvSpPr/>
            <p:nvPr/>
          </p:nvSpPr>
          <p:spPr bwMode="auto">
            <a:xfrm>
              <a:off x="4355916" y="1764847"/>
              <a:ext cx="1862004" cy="19642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rPr>
                <a:t>Silver Lakehouse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4D48F92B-0C7D-84D5-BE96-0F5A9767C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301"/>
            <a:stretch>
              <a:fillRect/>
            </a:stretch>
          </p:blipFill>
          <p:spPr>
            <a:xfrm>
              <a:off x="4500281" y="2114029"/>
              <a:ext cx="1628877" cy="154469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BC74934-A1F7-0439-F9C2-8BD955474EB7}"/>
              </a:ext>
            </a:extLst>
          </p:cNvPr>
          <p:cNvGrpSpPr/>
          <p:nvPr/>
        </p:nvGrpSpPr>
        <p:grpSpPr>
          <a:xfrm>
            <a:off x="9969000" y="2704143"/>
            <a:ext cx="1862004" cy="1964215"/>
            <a:chOff x="6484688" y="1764846"/>
            <a:chExt cx="1862004" cy="1964215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EB12F8A-762E-A253-B74B-2E25106281E4}"/>
                </a:ext>
              </a:extLst>
            </p:cNvPr>
            <p:cNvSpPr/>
            <p:nvPr/>
          </p:nvSpPr>
          <p:spPr bwMode="auto">
            <a:xfrm>
              <a:off x="6484688" y="1764846"/>
              <a:ext cx="1862004" cy="19642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rPr>
                <a:t>Gold Lakehouse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49E83AF2-6C4E-7EB6-F3AB-C7E4DA058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824"/>
            <a:stretch>
              <a:fillRect/>
            </a:stretch>
          </p:blipFill>
          <p:spPr>
            <a:xfrm>
              <a:off x="6676318" y="2114028"/>
              <a:ext cx="1478902" cy="154469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CEC0545-A922-BC7C-8D19-D77896A57BC0}"/>
              </a:ext>
            </a:extLst>
          </p:cNvPr>
          <p:cNvGrpSpPr/>
          <p:nvPr/>
        </p:nvGrpSpPr>
        <p:grpSpPr>
          <a:xfrm>
            <a:off x="5499478" y="3374623"/>
            <a:ext cx="1534040" cy="554259"/>
            <a:chOff x="5590918" y="5193263"/>
            <a:chExt cx="1534040" cy="554259"/>
          </a:xfrm>
        </p:grpSpPr>
        <p:sp>
          <p:nvSpPr>
            <p:cNvPr id="49" name="Arrow: Right 48">
              <a:extLst>
                <a:ext uri="{FF2B5EF4-FFF2-40B4-BE49-F238E27FC236}">
                  <a16:creationId xmlns:a16="http://schemas.microsoft.com/office/drawing/2014/main" id="{C7861E43-1E25-596B-023F-91C0AC69A040}"/>
                </a:ext>
              </a:extLst>
            </p:cNvPr>
            <p:cNvSpPr/>
            <p:nvPr/>
          </p:nvSpPr>
          <p:spPr bwMode="auto">
            <a:xfrm>
              <a:off x="5590918" y="5254519"/>
              <a:ext cx="1534040" cy="431748"/>
            </a:xfrm>
            <a:prstGeom prst="rightArrow">
              <a:avLst>
                <a:gd name="adj1" fmla="val 68275"/>
                <a:gd name="adj2" fmla="val 77177"/>
              </a:avLst>
            </a:prstGeom>
            <a:solidFill>
              <a:srgbClr val="8A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2960" tIns="146304" rIns="9144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chemeClr val="bg1"/>
                  </a:solidFill>
                  <a:ea typeface="Segoe UI" pitchFamily="34" charset="0"/>
                  <a:cs typeface="Segoe UI" pitchFamily="34" charset="0"/>
                </a:rPr>
                <a:t>Build</a:t>
              </a:r>
            </a:p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chemeClr val="bg1"/>
                  </a:solidFill>
                  <a:ea typeface="Segoe UI" pitchFamily="34" charset="0"/>
                  <a:cs typeface="Segoe UI" pitchFamily="34" charset="0"/>
                </a:rPr>
                <a:t>Silver</a:t>
              </a:r>
            </a:p>
          </p:txBody>
        </p:sp>
        <p:pic>
          <p:nvPicPr>
            <p:cNvPr id="78" name="Picture 77" descr="A blue and white sign with waves&#10;&#10;Description automatically generated">
              <a:extLst>
                <a:ext uri="{FF2B5EF4-FFF2-40B4-BE49-F238E27FC236}">
                  <a16:creationId xmlns:a16="http://schemas.microsoft.com/office/drawing/2014/main" id="{4D118B45-CEA8-48B3-EEFC-85395CC24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29" t="2386" r="12234" b="4895"/>
            <a:stretch>
              <a:fillRect/>
            </a:stretch>
          </p:blipFill>
          <p:spPr>
            <a:xfrm>
              <a:off x="5699737" y="5193263"/>
              <a:ext cx="567031" cy="554259"/>
            </a:xfrm>
            <a:prstGeom prst="rect">
              <a:avLst/>
            </a:prstGeom>
            <a:solidFill>
              <a:schemeClr val="bg1"/>
            </a:solidFill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D814C11-0944-F7E9-07FE-8B3B80F798F3}"/>
              </a:ext>
            </a:extLst>
          </p:cNvPr>
          <p:cNvGrpSpPr/>
          <p:nvPr/>
        </p:nvGrpSpPr>
        <p:grpSpPr>
          <a:xfrm>
            <a:off x="8781158" y="3384783"/>
            <a:ext cx="1534040" cy="554259"/>
            <a:chOff x="5590918" y="5193263"/>
            <a:chExt cx="1534040" cy="554259"/>
          </a:xfrm>
        </p:grpSpPr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13C917E7-FBB1-FA5A-5FEC-0CD8571058C5}"/>
                </a:ext>
              </a:extLst>
            </p:cNvPr>
            <p:cNvSpPr/>
            <p:nvPr/>
          </p:nvSpPr>
          <p:spPr bwMode="auto">
            <a:xfrm>
              <a:off x="5590918" y="5254519"/>
              <a:ext cx="1534040" cy="431748"/>
            </a:xfrm>
            <a:prstGeom prst="rightArrow">
              <a:avLst>
                <a:gd name="adj1" fmla="val 68275"/>
                <a:gd name="adj2" fmla="val 77177"/>
              </a:avLst>
            </a:prstGeom>
            <a:solidFill>
              <a:srgbClr val="8A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2960" tIns="146304" rIns="9144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chemeClr val="bg1"/>
                  </a:solidFill>
                  <a:ea typeface="Segoe UI" pitchFamily="34" charset="0"/>
                  <a:cs typeface="Segoe UI" pitchFamily="34" charset="0"/>
                </a:rPr>
                <a:t>Build</a:t>
              </a:r>
            </a:p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 err="1">
                  <a:solidFill>
                    <a:schemeClr val="bg1"/>
                  </a:solidFill>
                  <a:ea typeface="Segoe UI" pitchFamily="34" charset="0"/>
                  <a:cs typeface="Segoe UI" pitchFamily="34" charset="0"/>
                </a:rPr>
                <a:t>Gols</a:t>
              </a:r>
              <a:endParaRPr lang="en-US" sz="900" b="1" dirty="0">
                <a:solidFill>
                  <a:schemeClr val="bg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5" name="Picture 54" descr="A blue and white sign with waves&#10;&#10;Description automatically generated">
              <a:extLst>
                <a:ext uri="{FF2B5EF4-FFF2-40B4-BE49-F238E27FC236}">
                  <a16:creationId xmlns:a16="http://schemas.microsoft.com/office/drawing/2014/main" id="{55B77B4C-4B77-000B-12CA-CE7017878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29" t="2386" r="12234" b="4895"/>
            <a:stretch>
              <a:fillRect/>
            </a:stretch>
          </p:blipFill>
          <p:spPr>
            <a:xfrm>
              <a:off x="5699737" y="5193263"/>
              <a:ext cx="567031" cy="554259"/>
            </a:xfrm>
            <a:prstGeom prst="rect">
              <a:avLst/>
            </a:prstGeom>
            <a:solidFill>
              <a:schemeClr val="bg1"/>
            </a:solidFill>
          </p:spPr>
        </p:pic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F0331C6-496E-9E07-68D0-E5BC2BE82166}"/>
              </a:ext>
            </a:extLst>
          </p:cNvPr>
          <p:cNvSpPr/>
          <p:nvPr/>
        </p:nvSpPr>
        <p:spPr bwMode="auto">
          <a:xfrm>
            <a:off x="6000484" y="699969"/>
            <a:ext cx="3538187" cy="1314583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864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8A0000"/>
                </a:solidFill>
                <a:ea typeface="Segoe UI" pitchFamily="34" charset="0"/>
                <a:cs typeface="Segoe UI" pitchFamily="34" charset="0"/>
              </a:rPr>
              <a:t>Create Lakehouse Tables</a:t>
            </a:r>
          </a:p>
        </p:txBody>
      </p:sp>
      <p:pic>
        <p:nvPicPr>
          <p:cNvPr id="12" name="Picture 11" descr="A blue and white sign with waves&#10;&#10;Description automatically generated">
            <a:extLst>
              <a:ext uri="{FF2B5EF4-FFF2-40B4-BE49-F238E27FC236}">
                <a16:creationId xmlns:a16="http://schemas.microsoft.com/office/drawing/2014/main" id="{71FBA56E-A708-E20C-CB36-C3E9CB4960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0103" y="1358173"/>
            <a:ext cx="58194" cy="5513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4" name="Picture 13" descr="A blue and white sign with waves&#10;&#10;Description automatically generated">
            <a:extLst>
              <a:ext uri="{FF2B5EF4-FFF2-40B4-BE49-F238E27FC236}">
                <a16:creationId xmlns:a16="http://schemas.microsoft.com/office/drawing/2014/main" id="{C43FF1DE-987C-E335-7114-48D02E112167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672" y="1186660"/>
            <a:ext cx="58194" cy="17643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ED2DE7F-40AC-85AB-8AD5-D3E4D092BA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8787" y="1192263"/>
            <a:ext cx="3529884" cy="814458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40000"/>
                <a:lumOff val="60000"/>
              </a:schemeClr>
            </a:solidFill>
          </a:ln>
        </p:spPr>
      </p:pic>
      <p:pic>
        <p:nvPicPr>
          <p:cNvPr id="10" name="Picture 9" descr="A green and white button&#10;&#10;AI-generated content may be incorrect.">
            <a:extLst>
              <a:ext uri="{FF2B5EF4-FFF2-40B4-BE49-F238E27FC236}">
                <a16:creationId xmlns:a16="http://schemas.microsoft.com/office/drawing/2014/main" id="{EE44CFAA-B56C-7014-EE1D-608DA522DB9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484" y="679311"/>
            <a:ext cx="502581" cy="502581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C5FD487-A1C9-5712-8C43-CC4441F50920}"/>
              </a:ext>
            </a:extLst>
          </p:cNvPr>
          <p:cNvCxnSpPr>
            <a:cxnSpLocks/>
          </p:cNvCxnSpPr>
          <p:nvPr/>
        </p:nvCxnSpPr>
        <p:spPr>
          <a:xfrm flipH="1">
            <a:off x="6039072" y="1875515"/>
            <a:ext cx="697040" cy="1426942"/>
          </a:xfrm>
          <a:prstGeom prst="straightConnector1">
            <a:avLst/>
          </a:prstGeom>
          <a:ln w="57150">
            <a:solidFill>
              <a:schemeClr val="accent5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BCA4A3B-1402-025E-F2BB-CF2F0E45A034}"/>
              </a:ext>
            </a:extLst>
          </p:cNvPr>
          <p:cNvCxnSpPr>
            <a:cxnSpLocks/>
          </p:cNvCxnSpPr>
          <p:nvPr/>
        </p:nvCxnSpPr>
        <p:spPr>
          <a:xfrm>
            <a:off x="8688128" y="1845887"/>
            <a:ext cx="357285" cy="1456570"/>
          </a:xfrm>
          <a:prstGeom prst="straightConnector1">
            <a:avLst/>
          </a:prstGeom>
          <a:ln w="57150">
            <a:solidFill>
              <a:schemeClr val="accent5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608E892-D7FF-1E25-BB45-9E5E0CBEBA1D}"/>
              </a:ext>
            </a:extLst>
          </p:cNvPr>
          <p:cNvSpPr/>
          <p:nvPr/>
        </p:nvSpPr>
        <p:spPr bwMode="auto">
          <a:xfrm>
            <a:off x="264160" y="2633801"/>
            <a:ext cx="1557294" cy="1964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Azure Storage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Account</a:t>
            </a:r>
          </a:p>
        </p:txBody>
      </p:sp>
      <p:pic>
        <p:nvPicPr>
          <p:cNvPr id="5" name="Picture 4" descr="Azure Storage Accounts Icon - Free SVG ...">
            <a:extLst>
              <a:ext uri="{FF2B5EF4-FFF2-40B4-BE49-F238E27FC236}">
                <a16:creationId xmlns:a16="http://schemas.microsoft.com/office/drawing/2014/main" id="{9B84558D-2897-A98A-9FBC-1D3DFBAD88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73" y="3203346"/>
            <a:ext cx="1119609" cy="111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889793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89EB56-92F7-0CF1-0AF1-D766E1DF0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18" y="727545"/>
            <a:ext cx="9906000" cy="43123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7654333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78374-6D93-DE30-C294-CAB3A37D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1ECCAD9-6A29-E075-CA34-9A2388C8D4A2}"/>
              </a:ext>
            </a:extLst>
          </p:cNvPr>
          <p:cNvSpPr/>
          <p:nvPr/>
        </p:nvSpPr>
        <p:spPr bwMode="auto">
          <a:xfrm>
            <a:off x="1102660" y="217216"/>
            <a:ext cx="9739598" cy="27545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9E129A-F40B-78A4-043F-1056A6D0C222}"/>
              </a:ext>
            </a:extLst>
          </p:cNvPr>
          <p:cNvSpPr/>
          <p:nvPr/>
        </p:nvSpPr>
        <p:spPr bwMode="auto">
          <a:xfrm>
            <a:off x="8395478" y="359323"/>
            <a:ext cx="2306563" cy="24725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APIs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B6F30E5-16DC-279A-BDDC-0611B6C67311}"/>
              </a:ext>
            </a:extLst>
          </p:cNvPr>
          <p:cNvSpPr/>
          <p:nvPr/>
        </p:nvSpPr>
        <p:spPr bwMode="auto">
          <a:xfrm>
            <a:off x="5017089" y="487447"/>
            <a:ext cx="3338635" cy="493519"/>
          </a:xfrm>
          <a:prstGeom prst="rightArrow">
            <a:avLst>
              <a:gd name="adj1" fmla="val 65947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Create Item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4ABE7D-AAC0-AFB8-9310-162C1BFC9235}"/>
              </a:ext>
            </a:extLst>
          </p:cNvPr>
          <p:cNvSpPr/>
          <p:nvPr/>
        </p:nvSpPr>
        <p:spPr bwMode="auto">
          <a:xfrm>
            <a:off x="3756027" y="359323"/>
            <a:ext cx="1261062" cy="71377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Item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Definition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965275D0-E57E-F23F-150C-87A4131E1139}"/>
              </a:ext>
            </a:extLst>
          </p:cNvPr>
          <p:cNvSpPr/>
          <p:nvPr/>
        </p:nvSpPr>
        <p:spPr bwMode="auto">
          <a:xfrm>
            <a:off x="5017088" y="1333212"/>
            <a:ext cx="3338635" cy="493519"/>
          </a:xfrm>
          <a:prstGeom prst="rightArrow">
            <a:avLst>
              <a:gd name="adj1" fmla="val 65947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Update Item Definition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951EE0-647B-370E-0532-777F5D9ED590}"/>
              </a:ext>
            </a:extLst>
          </p:cNvPr>
          <p:cNvSpPr/>
          <p:nvPr/>
        </p:nvSpPr>
        <p:spPr bwMode="auto">
          <a:xfrm>
            <a:off x="3756027" y="1223087"/>
            <a:ext cx="1261062" cy="71377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Item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Definition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1A651E6-CB03-ACCC-5C30-1A32B01C2494}"/>
              </a:ext>
            </a:extLst>
          </p:cNvPr>
          <p:cNvSpPr/>
          <p:nvPr/>
        </p:nvSpPr>
        <p:spPr bwMode="auto">
          <a:xfrm flipH="1">
            <a:off x="3756026" y="2086847"/>
            <a:ext cx="4493451" cy="493519"/>
          </a:xfrm>
          <a:prstGeom prst="rightArrow">
            <a:avLst>
              <a:gd name="adj1" fmla="val 65947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Get Item Definition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1E8C06-1A67-530B-739A-5B8C2D07F5F2}"/>
              </a:ext>
            </a:extLst>
          </p:cNvPr>
          <p:cNvSpPr/>
          <p:nvPr/>
        </p:nvSpPr>
        <p:spPr bwMode="auto">
          <a:xfrm>
            <a:off x="6988414" y="1972632"/>
            <a:ext cx="1261062" cy="71377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Item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CFD038-1BA4-BB33-13D9-8532F83DF339}"/>
              </a:ext>
            </a:extLst>
          </p:cNvPr>
          <p:cNvSpPr/>
          <p:nvPr/>
        </p:nvSpPr>
        <p:spPr bwMode="auto">
          <a:xfrm>
            <a:off x="1303462" y="343712"/>
            <a:ext cx="2306563" cy="247251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Your Code</a:t>
            </a:r>
          </a:p>
        </p:txBody>
      </p:sp>
    </p:spTree>
    <p:extLst>
      <p:ext uri="{BB962C8B-B14F-4D97-AF65-F5344CB8AC3E}">
        <p14:creationId xmlns:p14="http://schemas.microsoft.com/office/powerpoint/2010/main" val="3515172411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0A39F7-7827-5AFA-87B2-FB27174B6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277" y="738953"/>
            <a:ext cx="5849864" cy="387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01302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02E37-D0FA-15AF-B10D-5675B5FF6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442" y="2125471"/>
            <a:ext cx="7811590" cy="27435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20201287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6C47B9-120E-E590-EA2C-10295298F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134" y="977153"/>
            <a:ext cx="8427978" cy="47423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4692953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9D9DD7-8D79-D6A9-33C5-AEA4946C6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612" y="480558"/>
            <a:ext cx="5208897" cy="48624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5849808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4F7D07-4F39-8FDC-D005-F7F4BEA9C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695" y="453255"/>
            <a:ext cx="4375848" cy="28081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FD4667-A9C6-C6C6-5B08-6DBFBB40FD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967"/>
          <a:stretch>
            <a:fillRect/>
          </a:stretch>
        </p:blipFill>
        <p:spPr>
          <a:xfrm>
            <a:off x="494131" y="428887"/>
            <a:ext cx="4514716" cy="283247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DD000D-2265-C42F-BAB9-7016DA6D5B2E}"/>
              </a:ext>
            </a:extLst>
          </p:cNvPr>
          <p:cNvCxnSpPr>
            <a:cxnSpLocks/>
          </p:cNvCxnSpPr>
          <p:nvPr/>
        </p:nvCxnSpPr>
        <p:spPr>
          <a:xfrm>
            <a:off x="3810000" y="1933481"/>
            <a:ext cx="1808480" cy="0"/>
          </a:xfrm>
          <a:prstGeom prst="straightConnector1">
            <a:avLst/>
          </a:prstGeom>
          <a:ln w="57150">
            <a:solidFill>
              <a:srgbClr val="C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241603"/>
      </p:ext>
    </p:extLst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F5E978-A4E6-A8F8-FEF3-4749240A4C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30"/>
          <a:stretch>
            <a:fillRect/>
          </a:stretch>
        </p:blipFill>
        <p:spPr>
          <a:xfrm>
            <a:off x="1250256" y="529811"/>
            <a:ext cx="6095095" cy="35849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21406356"/>
      </p:ext>
    </p:extLst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B54D17-3C13-F4C0-D651-DD2268B1B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495" y="1277627"/>
            <a:ext cx="5066010" cy="30343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6943527"/>
      </p:ext>
    </p:extLst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24B34F-21F6-EC3C-61E6-C469EC316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71" y="922416"/>
            <a:ext cx="10786969" cy="45130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75722299"/>
      </p:ext>
    </p:extLst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C462D9-C5C8-8FF8-5F05-F872D822B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58" y="1219368"/>
            <a:ext cx="7316718" cy="28408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07727211"/>
      </p:ext>
    </p:extLst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876E70-F058-D8F3-3A4A-90318E537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401" y="761999"/>
            <a:ext cx="4139857" cy="54705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2845727"/>
      </p:ext>
    </p:extLst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7136190-036D-E51B-F9BC-5A19F13E5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29" y="789222"/>
            <a:ext cx="11029016" cy="30222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6629105"/>
      </p:ext>
    </p:extLst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E4217C-0B25-DFE1-0E5B-655639AB6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231" y="1129969"/>
            <a:ext cx="9412013" cy="47345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0849097"/>
      </p:ext>
    </p:extLst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DEB22C-9335-A702-9548-875C164E7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9" y="989427"/>
            <a:ext cx="10983858" cy="34199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86910088"/>
      </p:ext>
    </p:extLst>
  </p:cSld>
  <p:clrMapOvr>
    <a:masterClrMapping/>
  </p:clrMapOvr>
  <p:transition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C06D11-EC22-0347-C4C8-0F29CADD3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255" y="1133175"/>
            <a:ext cx="8249801" cy="29531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3614765"/>
      </p:ext>
    </p:extLst>
  </p:cSld>
  <p:clrMapOvr>
    <a:masterClrMapping/>
  </p:clrMapOvr>
  <p:transition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E2BF71-C119-FB27-2C28-766CD764C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64" y="533930"/>
            <a:ext cx="9187735" cy="56630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87455031"/>
      </p:ext>
    </p:extLst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6C67E7-2B52-73C5-5AFD-176FAF53B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703" y="808355"/>
            <a:ext cx="2442876" cy="230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774511"/>
      </p:ext>
    </p:extLst>
  </p:cSld>
  <p:clrMapOvr>
    <a:masterClrMapping/>
  </p:clrMapOvr>
  <p:transition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DCC9FE-FDF8-87B1-D54D-34AF76D23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618" y="1246094"/>
            <a:ext cx="8873237" cy="40781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1633304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Fabric Theme">
  <a:themeElements>
    <a:clrScheme name="Custom 4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F2C80F"/>
      </a:accent1>
      <a:accent2>
        <a:srgbClr val="0045D6"/>
      </a:accent2>
      <a:accent3>
        <a:srgbClr val="008D7B"/>
      </a:accent3>
      <a:accent4>
        <a:srgbClr val="002166"/>
      </a:accent4>
      <a:accent5>
        <a:srgbClr val="002D89"/>
      </a:accent5>
      <a:accent6>
        <a:srgbClr val="1BFFE2"/>
      </a:accent6>
      <a:hlink>
        <a:srgbClr val="0078D4"/>
      </a:hlink>
      <a:folHlink>
        <a:srgbClr val="0078D4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8EF47BD7-F710-45A9-8AE8-D03654F6711E}" vid="{3CF6A8A8-DA63-4A8A-A544-BAFFF90A76CB}"/>
    </a:ext>
  </a:extLst>
</a:theme>
</file>

<file path=ppt/theme/theme2.xml><?xml version="1.0" encoding="utf-8"?>
<a:theme xmlns:a="http://schemas.openxmlformats.org/drawingml/2006/main" name="Theme1">
  <a:themeElements>
    <a:clrScheme name="Custom 10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008D7B"/>
      </a:accent1>
      <a:accent2>
        <a:srgbClr val="0045D6"/>
      </a:accent2>
      <a:accent3>
        <a:srgbClr val="FFFFCC"/>
      </a:accent3>
      <a:accent4>
        <a:srgbClr val="990099"/>
      </a:accent4>
      <a:accent5>
        <a:srgbClr val="900000"/>
      </a:accent5>
      <a:accent6>
        <a:srgbClr val="FFC000"/>
      </a:accent6>
      <a:hlink>
        <a:srgbClr val="C00000"/>
      </a:hlink>
      <a:folHlink>
        <a:srgbClr val="C00000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278F993C-81DB-4FF5-BCAA-CBB0E0CCC442}" vid="{58D1AD11-405F-4081-B6AE-91DD6BC4897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692671-1E95-4751-B591-81D3AFC057E8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3AD2D799A0384499DFA8618B2D06C3" ma:contentTypeVersion="19" ma:contentTypeDescription="Create a new document." ma:contentTypeScope="" ma:versionID="4ad8bb11041bccc4900be347311affd5">
  <xsd:schema xmlns:xsd="http://www.w3.org/2001/XMLSchema" xmlns:xs="http://www.w3.org/2001/XMLSchema" xmlns:p="http://schemas.microsoft.com/office/2006/metadata/properties" xmlns:ns1="http://schemas.microsoft.com/sharepoint/v3" xmlns:ns3="3c10a0e8-556e-4c2d-9121-1181542ea83c" xmlns:ns4="91f22b01-9196-48cc-8d58-ee179122dd75" targetNamespace="http://schemas.microsoft.com/office/2006/metadata/properties" ma:root="true" ma:fieldsID="55cc422832b79ebb748bec44d447ca3b" ns1:_="" ns3:_="" ns4:_="">
    <xsd:import namespace="http://schemas.microsoft.com/sharepoint/v3"/>
    <xsd:import namespace="3c10a0e8-556e-4c2d-9121-1181542ea83c"/>
    <xsd:import namespace="91f22b01-9196-48cc-8d58-ee179122dd7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CR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10a0e8-556e-4c2d-9121-1181542ea8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f22b01-9196-48cc-8d58-ee179122dd7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3c10a0e8-556e-4c2d-9121-1181542ea83c" xsi:nil="true"/>
  </documentManagement>
</p:properties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411704-DA91-4A2A-81D1-00044852D0BE}">
  <ds:schemaRefs>
    <ds:schemaRef ds:uri="3c10a0e8-556e-4c2d-9121-1181542ea83c"/>
    <ds:schemaRef ds:uri="91f22b01-9196-48cc-8d58-ee179122dd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sharepoint/v3"/>
    <ds:schemaRef ds:uri="http://www.w3.org/XML/1998/namespace"/>
    <ds:schemaRef ds:uri="http://schemas.microsoft.com/office/infopath/2007/PartnerControls"/>
    <ds:schemaRef ds:uri="91f22b01-9196-48cc-8d58-ee179122dd75"/>
    <ds:schemaRef ds:uri="3c10a0e8-556e-4c2d-9121-1181542ea83c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24876</TotalTime>
  <Words>784</Words>
  <Application>Microsoft Office PowerPoint</Application>
  <PresentationFormat>Custom</PresentationFormat>
  <Paragraphs>392</Paragraphs>
  <Slides>83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83</vt:i4>
      </vt:variant>
    </vt:vector>
  </HeadingPairs>
  <TitlesOfParts>
    <vt:vector size="91" baseType="lpstr">
      <vt:lpstr>Arial</vt:lpstr>
      <vt:lpstr>Lucida Console</vt:lpstr>
      <vt:lpstr>Segoe UI</vt:lpstr>
      <vt:lpstr>Segoe UI Light</vt:lpstr>
      <vt:lpstr>Segoe UI Semibold</vt:lpstr>
      <vt:lpstr>Wingdings</vt:lpstr>
      <vt:lpstr>Fabric Theme</vt:lpstr>
      <vt:lpstr>Theme1</vt:lpstr>
      <vt:lpstr> Best Practices with Fabric CI-CD Diagrams, Images and Screenshots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&lt;Speech title here&gt;</dc:subject>
  <dc:creator>Arvind Dutta;Ted.Pattison@microsoft.com</dc:creator>
  <cp:keywords/>
  <dc:description>Template: Ariel Butz; ZUM Communications
Formatting: 
Audience Type:</dc:description>
  <cp:lastModifiedBy>Ted Pattison</cp:lastModifiedBy>
  <cp:revision>81</cp:revision>
  <cp:lastPrinted>2025-03-29T10:59:42Z</cp:lastPrinted>
  <dcterms:created xsi:type="dcterms:W3CDTF">2018-09-21T01:16:59Z</dcterms:created>
  <dcterms:modified xsi:type="dcterms:W3CDTF">2026-05-25T19:21:45Z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0x010100B63AD2D799A0384499DFA8618B2D06C3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AuthorIds_UIVersion_47104">
    <vt:lpwstr>18</vt:lpwstr>
  </property>
  <property fmtid="{D5CDD505-2E9C-101B-9397-08002B2CF9AE}" pid="12" name="MSIP_Label_87867195-f2b8-4ac2-b0b6-6bb73cb33afc_Enabled">
    <vt:lpwstr>true</vt:lpwstr>
  </property>
  <property fmtid="{D5CDD505-2E9C-101B-9397-08002B2CF9AE}" pid="13" name="MSIP_Label_87867195-f2b8-4ac2-b0b6-6bb73cb33afc_SetDate">
    <vt:lpwstr>2021-11-16T15:21:41Z</vt:lpwstr>
  </property>
  <property fmtid="{D5CDD505-2E9C-101B-9397-08002B2CF9AE}" pid="14" name="MSIP_Label_87867195-f2b8-4ac2-b0b6-6bb73cb33afc_Method">
    <vt:lpwstr>Privileged</vt:lpwstr>
  </property>
  <property fmtid="{D5CDD505-2E9C-101B-9397-08002B2CF9AE}" pid="15" name="MSIP_Label_87867195-f2b8-4ac2-b0b6-6bb73cb33afc_Name">
    <vt:lpwstr>Not Restricted</vt:lpwstr>
  </property>
  <property fmtid="{D5CDD505-2E9C-101B-9397-08002B2CF9AE}" pid="16" name="MSIP_Label_87867195-f2b8-4ac2-b0b6-6bb73cb33afc_SiteId">
    <vt:lpwstr>72f988bf-86f1-41af-91ab-2d7cd011db47</vt:lpwstr>
  </property>
  <property fmtid="{D5CDD505-2E9C-101B-9397-08002B2CF9AE}" pid="17" name="MSIP_Label_87867195-f2b8-4ac2-b0b6-6bb73cb33afc_ActionId">
    <vt:lpwstr>9942a4e6-ac4e-4ace-9fe2-0b1ceecd1d50</vt:lpwstr>
  </property>
  <property fmtid="{D5CDD505-2E9C-101B-9397-08002B2CF9AE}" pid="18" name="MSIP_Label_87867195-f2b8-4ac2-b0b6-6bb73cb33afc_ContentBits">
    <vt:lpwstr>0</vt:lpwstr>
  </property>
</Properties>
</file>