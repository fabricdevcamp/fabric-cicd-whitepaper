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551" r:id="rId4"/>
    <p:sldMasterId id="2147484576" r:id="rId5"/>
  </p:sldMasterIdLst>
  <p:notesMasterIdLst>
    <p:notesMasterId r:id="rId63"/>
  </p:notesMasterIdLst>
  <p:handoutMasterIdLst>
    <p:handoutMasterId r:id="rId64"/>
  </p:handoutMasterIdLst>
  <p:sldIdLst>
    <p:sldId id="2147482125" r:id="rId6"/>
    <p:sldId id="2147482171" r:id="rId7"/>
    <p:sldId id="2147482176" r:id="rId8"/>
    <p:sldId id="2147482179" r:id="rId9"/>
    <p:sldId id="2147482175" r:id="rId10"/>
    <p:sldId id="2147482174" r:id="rId11"/>
    <p:sldId id="2147482180" r:id="rId12"/>
    <p:sldId id="2147482177" r:id="rId13"/>
    <p:sldId id="2147482178" r:id="rId14"/>
    <p:sldId id="2147482172" r:id="rId15"/>
    <p:sldId id="2147482170" r:id="rId16"/>
    <p:sldId id="2147482169" r:id="rId17"/>
    <p:sldId id="2147482168" r:id="rId18"/>
    <p:sldId id="2147482112" r:id="rId19"/>
    <p:sldId id="2147482167" r:id="rId20"/>
    <p:sldId id="2147482139" r:id="rId21"/>
    <p:sldId id="2147482165" r:id="rId22"/>
    <p:sldId id="2147482166" r:id="rId23"/>
    <p:sldId id="2147482162" r:id="rId24"/>
    <p:sldId id="2147482163" r:id="rId25"/>
    <p:sldId id="2147482164" r:id="rId26"/>
    <p:sldId id="2147482159" r:id="rId27"/>
    <p:sldId id="2147482137" r:id="rId28"/>
    <p:sldId id="2147482173" r:id="rId29"/>
    <p:sldId id="2147482100" r:id="rId30"/>
    <p:sldId id="2147482101" r:id="rId31"/>
    <p:sldId id="2147482102" r:id="rId32"/>
    <p:sldId id="2147482113" r:id="rId33"/>
    <p:sldId id="2147482114" r:id="rId34"/>
    <p:sldId id="2147482134" r:id="rId35"/>
    <p:sldId id="2147482136" r:id="rId36"/>
    <p:sldId id="2147482116" r:id="rId37"/>
    <p:sldId id="2147482132" r:id="rId38"/>
    <p:sldId id="2147482118" r:id="rId39"/>
    <p:sldId id="2147482124" r:id="rId40"/>
    <p:sldId id="2147482121" r:id="rId41"/>
    <p:sldId id="2147482122" r:id="rId42"/>
    <p:sldId id="2147482120" r:id="rId43"/>
    <p:sldId id="2147482119" r:id="rId44"/>
    <p:sldId id="2147482140" r:id="rId45"/>
    <p:sldId id="2147482141" r:id="rId46"/>
    <p:sldId id="2147482123" r:id="rId47"/>
    <p:sldId id="2147482146" r:id="rId48"/>
    <p:sldId id="2147482160" r:id="rId49"/>
    <p:sldId id="2147482147" r:id="rId50"/>
    <p:sldId id="2147482161" r:id="rId51"/>
    <p:sldId id="2147482148" r:id="rId52"/>
    <p:sldId id="2147482155" r:id="rId53"/>
    <p:sldId id="2147482152" r:id="rId54"/>
    <p:sldId id="2147482150" r:id="rId55"/>
    <p:sldId id="2147482153" r:id="rId56"/>
    <p:sldId id="2147482154" r:id="rId57"/>
    <p:sldId id="2147482156" r:id="rId58"/>
    <p:sldId id="2147482151" r:id="rId59"/>
    <p:sldId id="2147482149" r:id="rId60"/>
    <p:sldId id="2147482157" r:id="rId61"/>
    <p:sldId id="2147482158" r:id="rId62"/>
  </p:sldIdLst>
  <p:sldSz cx="12436475" cy="6994525"/>
  <p:notesSz cx="7010400" cy="92964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E73487-5996-4DE0-B97B-80AE53F81838}">
          <p14:sldIdLst>
            <p14:sldId id="2147482125"/>
            <p14:sldId id="2147482171"/>
            <p14:sldId id="2147482176"/>
            <p14:sldId id="2147482179"/>
            <p14:sldId id="2147482175"/>
            <p14:sldId id="2147482174"/>
            <p14:sldId id="2147482180"/>
            <p14:sldId id="2147482177"/>
            <p14:sldId id="2147482178"/>
            <p14:sldId id="2147482172"/>
            <p14:sldId id="2147482170"/>
            <p14:sldId id="2147482169"/>
            <p14:sldId id="2147482168"/>
            <p14:sldId id="2147482112"/>
            <p14:sldId id="2147482167"/>
            <p14:sldId id="2147482139"/>
            <p14:sldId id="2147482165"/>
            <p14:sldId id="2147482166"/>
            <p14:sldId id="2147482162"/>
            <p14:sldId id="2147482163"/>
            <p14:sldId id="2147482164"/>
            <p14:sldId id="2147482159"/>
            <p14:sldId id="2147482137"/>
            <p14:sldId id="2147482173"/>
            <p14:sldId id="2147482100"/>
            <p14:sldId id="2147482101"/>
            <p14:sldId id="2147482102"/>
            <p14:sldId id="2147482113"/>
            <p14:sldId id="2147482114"/>
            <p14:sldId id="2147482134"/>
            <p14:sldId id="2147482136"/>
            <p14:sldId id="2147482116"/>
            <p14:sldId id="2147482132"/>
            <p14:sldId id="2147482118"/>
            <p14:sldId id="2147482124"/>
            <p14:sldId id="2147482121"/>
            <p14:sldId id="2147482122"/>
            <p14:sldId id="2147482120"/>
            <p14:sldId id="2147482119"/>
            <p14:sldId id="2147482140"/>
            <p14:sldId id="2147482141"/>
            <p14:sldId id="2147482123"/>
            <p14:sldId id="2147482146"/>
            <p14:sldId id="2147482160"/>
            <p14:sldId id="2147482147"/>
            <p14:sldId id="2147482161"/>
            <p14:sldId id="2147482148"/>
            <p14:sldId id="2147482155"/>
            <p14:sldId id="2147482152"/>
            <p14:sldId id="2147482150"/>
            <p14:sldId id="2147482153"/>
            <p14:sldId id="2147482154"/>
            <p14:sldId id="2147482156"/>
            <p14:sldId id="2147482151"/>
            <p14:sldId id="2147482149"/>
            <p14:sldId id="2147482157"/>
            <p14:sldId id="21474821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0CFE33-38B5-93F4-CBDC-19387157439A}" name="Fretz Nuson" initials="FN" userId="S::frnuson@microsoft.com::4f89d152-8c61-4ebe-9979-f75548eb188f" providerId="AD"/>
  <p188:author id="{29F777B8-775D-FF4A-5EC6-49912B8B8FCB}" name="Nimrod Shalit" initials="NS" userId="S::nishalit@microsoft.com::13d05e46-027d-46c3-aabb-ccf1744354f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7" name="Jasper Hedegaard Bojsen" initials="JHB" lastIdx="2" clrIdx="7">
    <p:extLst>
      <p:ext uri="{19B8F6BF-5375-455C-9EA6-DF929625EA0E}">
        <p15:presenceInfo xmlns:p15="http://schemas.microsoft.com/office/powerpoint/2012/main" userId="S::jasperhb@microsoft.com::e917db92-6445-433e-ac97-2eab88ce737d" providerId="AD"/>
      </p:ext>
    </p:extLst>
  </p:cmAuthor>
  <p:cmAuthor id="1" name="Mary Feil-Jacobs" initials="MFJ" lastIdx="43" clrIdx="1"/>
  <p:cmAuthor id="8" name="Gordon Macdonald" initials="GM" lastIdx="10" clrIdx="8">
    <p:extLst>
      <p:ext uri="{19B8F6BF-5375-455C-9EA6-DF929625EA0E}">
        <p15:presenceInfo xmlns:p15="http://schemas.microsoft.com/office/powerpoint/2012/main" userId="419a06e8ae266e15" providerId="Windows Live"/>
      </p:ext>
    </p:extLst>
  </p:cmAuthor>
  <p:cmAuthor id="2" name="Monica Lueder" initials="ML" lastIdx="22" clrIdx="2"/>
  <p:cmAuthor id="3" name="Mary Feil-Jacobs" initials="MF" lastIdx="22" clrIdx="3"/>
  <p:cmAuthor id="4" name="Angela Powell" initials="AP" lastIdx="9" clrIdx="4">
    <p:extLst>
      <p:ext uri="{19B8F6BF-5375-455C-9EA6-DF929625EA0E}">
        <p15:presenceInfo xmlns:p15="http://schemas.microsoft.com/office/powerpoint/2012/main" userId="cf7d67635d593fc2" providerId="Windows Live"/>
      </p:ext>
    </p:extLst>
  </p:cmAuthor>
  <p:cmAuthor id="5" name="Andrew Cook" initials="AC" lastIdx="7" clrIdx="5">
    <p:extLst>
      <p:ext uri="{19B8F6BF-5375-455C-9EA6-DF929625EA0E}">
        <p15:presenceInfo xmlns:p15="http://schemas.microsoft.com/office/powerpoint/2012/main" userId="S-1-5-21-2127521184-1604012920-1887927527-2644137" providerId="AD"/>
      </p:ext>
    </p:extLst>
  </p:cmAuthor>
  <p:cmAuthor id="6" name="Olga Masek" initials="OM" lastIdx="13" clrIdx="6">
    <p:extLst>
      <p:ext uri="{19B8F6BF-5375-455C-9EA6-DF929625EA0E}">
        <p15:presenceInfo xmlns:p15="http://schemas.microsoft.com/office/powerpoint/2012/main" userId="S-1-5-21-2127521184-1604012920-1887927527-16609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E7"/>
    <a:srgbClr val="8A0000"/>
    <a:srgbClr val="B5FFF6"/>
    <a:srgbClr val="C4D7FF"/>
    <a:srgbClr val="FFB6B6"/>
    <a:srgbClr val="C00000"/>
    <a:srgbClr val="FFB9FF"/>
    <a:srgbClr val="FFFFFF"/>
    <a:srgbClr val="6C0000"/>
    <a:srgbClr val="89FFF1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987" autoAdjust="0"/>
    <p:restoredTop sz="94224" autoAdjust="0"/>
  </p:normalViewPr>
  <p:slideViewPr>
    <p:cSldViewPr snapToGrid="0">
      <p:cViewPr varScale="1">
        <p:scale>
          <a:sx n="85" d="100"/>
          <a:sy n="85" d="100"/>
        </p:scale>
        <p:origin x="4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handoutMaster" Target="handoutMasters/handoutMaster1.xml"/><Relationship Id="rId69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7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>
                <a:latin typeface="Segoe UI" pitchFamily="34" charset="0"/>
              </a:rPr>
              <a:t>Power BI Dev Camp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r>
              <a:rPr lang="en-US">
                <a:latin typeface="Segoe UI" pitchFamily="34" charset="0"/>
              </a:rPr>
              <a:t>8/27/2020</a:t>
            </a: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831580"/>
            <a:ext cx="6052312" cy="361897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marL="582359" indent="0" algn="l">
              <a:defRPr sz="1200"/>
            </a:lvl1pPr>
          </a:lstStyle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CE60099-03E7-4FA1-8A7F-E6E6CFB0F855}" type="datetime8">
              <a:rPr lang="en-US" smtClean="0"/>
              <a:t>5/21/2026 9:58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6040627" y="8829967"/>
            <a:ext cx="96815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112E7-2001-8DAA-B9A3-DC418380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6D5BD-A1E8-0FD4-86AA-ECB650A1C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5E660-C143-6798-91FC-5E29522B2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2F3DFED-BC5A-2EF8-9001-B078ABBD857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26E49-2D4A-5D67-0560-9A72F357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400C5-C7DE-BB67-8261-0D05B9A516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48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784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87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29362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114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487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69912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 sz="1400" b="1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8438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1868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1353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190500"/>
            <a:ext cx="11801475" cy="498598"/>
          </a:xfrm>
        </p:spPr>
        <p:txBody>
          <a:bodyPr/>
          <a:lstStyle>
            <a:lvl1pPr>
              <a:defRPr sz="3598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540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594" indent="-339594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+mn-lt"/>
              </a:defRPr>
            </a:lvl1pPr>
            <a:lvl2pPr marL="744252" indent="-34911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2pPr>
            <a:lvl3pPr marL="747426" indent="0">
              <a:lnSpc>
                <a:spcPts val="2400"/>
              </a:lnSpc>
              <a:buNone/>
              <a:defRPr sz="1800" b="1">
                <a:solidFill>
                  <a:srgbClr val="002060"/>
                </a:solidFill>
                <a:latin typeface="Lucida Console" panose="020B0609040504020204" pitchFamily="49" charset="0"/>
              </a:defRPr>
            </a:lvl3pPr>
            <a:lvl4pPr marL="518913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31505" indent="-412591">
              <a:buNone/>
              <a:defRPr sz="139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0616C0-C864-7BE9-C4CB-755BB3FB3DC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3651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829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D712B6-0157-8532-DCDC-4589B35076F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360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645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74675" indent="-63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None/>
              <a:defRPr sz="1600" b="1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E2A54D-A755-F900-5808-4CCC5C04D02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700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1BFE9-6D7B-E542-8545-679454897D67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5218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9624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172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70" r:id="rId2"/>
    <p:sldLayoutId id="2147484573" r:id="rId3"/>
    <p:sldLayoutId id="2147484572" r:id="rId4"/>
    <p:sldLayoutId id="2147484574" r:id="rId5"/>
    <p:sldLayoutId id="2147484575" r:id="rId6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pos="1349" userDrawn="1">
          <p15:clr>
            <a:srgbClr val="C35EA4"/>
          </p15:clr>
        </p15:guide>
        <p15:guide id="32" pos="1528" userDrawn="1">
          <p15:clr>
            <a:srgbClr val="C35EA4"/>
          </p15:clr>
        </p15:guide>
        <p15:guide id="33" pos="2621" userDrawn="1">
          <p15:clr>
            <a:srgbClr val="C35EA4"/>
          </p15:clr>
        </p15:guide>
        <p15:guide id="34" pos="2765" userDrawn="1">
          <p15:clr>
            <a:srgbClr val="C35EA4"/>
          </p15:clr>
        </p15:guide>
        <p15:guide id="35" pos="3854" userDrawn="1">
          <p15:clr>
            <a:srgbClr val="C35EA4"/>
          </p15:clr>
        </p15:guide>
        <p15:guide id="36" pos="4003" userDrawn="1">
          <p15:clr>
            <a:srgbClr val="C35EA4"/>
          </p15:clr>
        </p15:guide>
        <p15:guide id="37" pos="5083" userDrawn="1">
          <p15:clr>
            <a:srgbClr val="C35EA4"/>
          </p15:clr>
        </p15:guide>
        <p15:guide id="38" pos="5230" userDrawn="1">
          <p15:clr>
            <a:srgbClr val="C35EA4"/>
          </p15:clr>
        </p15:guide>
        <p15:guide id="39" pos="6323" userDrawn="1">
          <p15:clr>
            <a:srgbClr val="C35EA4"/>
          </p15:clr>
        </p15:guide>
        <p15:guide id="40" pos="6469" userDrawn="1">
          <p15:clr>
            <a:srgbClr val="C35EA4"/>
          </p15:clr>
        </p15:guide>
        <p15:guide id="41" pos="293" userDrawn="1">
          <p15:clr>
            <a:srgbClr val="F26B43"/>
          </p15:clr>
        </p15:guide>
        <p15:guide id="42" pos="7565" userDrawn="1">
          <p15:clr>
            <a:srgbClr val="F26B43"/>
          </p15:clr>
        </p15:guide>
        <p15:guide id="43" orient="horz" pos="751" userDrawn="1">
          <p15:clr>
            <a:srgbClr val="5ACBF0"/>
          </p15:clr>
        </p15:guide>
        <p15:guide id="44" orient="horz" pos="1387" userDrawn="1">
          <p15:clr>
            <a:srgbClr val="5ACBF0"/>
          </p15:clr>
        </p15:guide>
        <p15:guide id="45" orient="horz" pos="605" userDrawn="1">
          <p15:clr>
            <a:srgbClr val="5ACBF0"/>
          </p15:clr>
        </p15:guide>
        <p15:guide id="46" orient="horz" pos="1514" userDrawn="1">
          <p15:clr>
            <a:srgbClr val="5ACBF0"/>
          </p15:clr>
        </p15:guide>
        <p15:guide id="47" orient="horz" pos="2130" userDrawn="1">
          <p15:clr>
            <a:srgbClr val="5ACBF0"/>
          </p15:clr>
        </p15:guide>
        <p15:guide id="48" orient="horz" pos="2299" userDrawn="1">
          <p15:clr>
            <a:srgbClr val="5ACBF0"/>
          </p15:clr>
        </p15:guide>
        <p15:guide id="49" orient="horz" pos="283" userDrawn="1">
          <p15:clr>
            <a:srgbClr val="F26B43"/>
          </p15:clr>
        </p15:guide>
        <p15:guide id="50" orient="horz" pos="4120" userDrawn="1">
          <p15:clr>
            <a:srgbClr val="F26B43"/>
          </p15:clr>
        </p15:guide>
        <p15:guide id="51" orient="horz" pos="2891" userDrawn="1">
          <p15:clr>
            <a:srgbClr val="5ACBF0"/>
          </p15:clr>
        </p15:guide>
        <p15:guide id="52" orient="horz" pos="3019" userDrawn="1">
          <p15:clr>
            <a:srgbClr val="5ACBF0"/>
          </p15:clr>
        </p15:guide>
        <p15:guide id="53" orient="horz" pos="3643" userDrawn="1">
          <p15:clr>
            <a:srgbClr val="5ACBF0"/>
          </p15:clr>
        </p15:guide>
        <p15:guide id="54" orient="horz" pos="3763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F7DB54B-389F-024C-4D79-28A5DD9BCD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2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7" r:id="rId1"/>
    <p:sldLayoutId id="2147484578" r:id="rId2"/>
    <p:sldLayoutId id="2147484579" r:id="rId3"/>
    <p:sldLayoutId id="2147484580" r:id="rId4"/>
    <p:sldLayoutId id="2147484581" r:id="rId5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5" pos="1349" userDrawn="1">
          <p15:clr>
            <a:srgbClr val="C35EA4"/>
          </p15:clr>
        </p15:guide>
        <p15:guide id="56" pos="1528" userDrawn="1">
          <p15:clr>
            <a:srgbClr val="C35EA4"/>
          </p15:clr>
        </p15:guide>
        <p15:guide id="57" pos="2621" userDrawn="1">
          <p15:clr>
            <a:srgbClr val="C35EA4"/>
          </p15:clr>
        </p15:guide>
        <p15:guide id="58" pos="2765" userDrawn="1">
          <p15:clr>
            <a:srgbClr val="C35EA4"/>
          </p15:clr>
        </p15:guide>
        <p15:guide id="59" pos="3854" userDrawn="1">
          <p15:clr>
            <a:srgbClr val="C35EA4"/>
          </p15:clr>
        </p15:guide>
        <p15:guide id="60" pos="4003" userDrawn="1">
          <p15:clr>
            <a:srgbClr val="C35EA4"/>
          </p15:clr>
        </p15:guide>
        <p15:guide id="61" pos="5083" userDrawn="1">
          <p15:clr>
            <a:srgbClr val="C35EA4"/>
          </p15:clr>
        </p15:guide>
        <p15:guide id="62" pos="5230" userDrawn="1">
          <p15:clr>
            <a:srgbClr val="C35EA4"/>
          </p15:clr>
        </p15:guide>
        <p15:guide id="63" pos="6323" userDrawn="1">
          <p15:clr>
            <a:srgbClr val="C35EA4"/>
          </p15:clr>
        </p15:guide>
        <p15:guide id="64" pos="6469" userDrawn="1">
          <p15:clr>
            <a:srgbClr val="C35EA4"/>
          </p15:clr>
        </p15:guide>
        <p15:guide id="65" pos="293" userDrawn="1">
          <p15:clr>
            <a:srgbClr val="F26B43"/>
          </p15:clr>
        </p15:guide>
        <p15:guide id="66" pos="7565" userDrawn="1">
          <p15:clr>
            <a:srgbClr val="F26B43"/>
          </p15:clr>
        </p15:guide>
        <p15:guide id="67" orient="horz" pos="751" userDrawn="1">
          <p15:clr>
            <a:srgbClr val="5ACBF0"/>
          </p15:clr>
        </p15:guide>
        <p15:guide id="68" orient="horz" pos="1387" userDrawn="1">
          <p15:clr>
            <a:srgbClr val="5ACBF0"/>
          </p15:clr>
        </p15:guide>
        <p15:guide id="69" orient="horz" pos="605" userDrawn="1">
          <p15:clr>
            <a:srgbClr val="5ACBF0"/>
          </p15:clr>
        </p15:guide>
        <p15:guide id="70" orient="horz" pos="1514" userDrawn="1">
          <p15:clr>
            <a:srgbClr val="5ACBF0"/>
          </p15:clr>
        </p15:guide>
        <p15:guide id="71" orient="horz" pos="2130" userDrawn="1">
          <p15:clr>
            <a:srgbClr val="5ACBF0"/>
          </p15:clr>
        </p15:guide>
        <p15:guide id="72" orient="horz" pos="2299" userDrawn="1">
          <p15:clr>
            <a:srgbClr val="5ACBF0"/>
          </p15:clr>
        </p15:guide>
        <p15:guide id="73" orient="horz" pos="283" userDrawn="1">
          <p15:clr>
            <a:srgbClr val="F26B43"/>
          </p15:clr>
        </p15:guide>
        <p15:guide id="74" orient="horz" pos="4120" userDrawn="1">
          <p15:clr>
            <a:srgbClr val="F26B43"/>
          </p15:clr>
        </p15:guide>
        <p15:guide id="75" orient="horz" pos="2891" userDrawn="1">
          <p15:clr>
            <a:srgbClr val="5ACBF0"/>
          </p15:clr>
        </p15:guide>
        <p15:guide id="76" orient="horz" pos="3019" userDrawn="1">
          <p15:clr>
            <a:srgbClr val="5ACBF0"/>
          </p15:clr>
        </p15:guide>
        <p15:guide id="77" orient="horz" pos="3643" userDrawn="1">
          <p15:clr>
            <a:srgbClr val="5ACBF0"/>
          </p15:clr>
        </p15:guide>
        <p15:guide id="78" orient="horz" pos="37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26B8-78C9-AA17-D8CE-6BC402B7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85473AEA-D435-81A9-1DA2-C2C1A3DA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5" y="3421061"/>
            <a:ext cx="10330234" cy="861774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400" dirty="0"/>
              <a:t>Chapter 2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11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F072A0-44ED-4CF5-6CD6-7D3A1C0E4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525" y="3042186"/>
            <a:ext cx="4255708" cy="2969099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7E5D027-CAA7-3745-CFF1-906D87B657CA}"/>
              </a:ext>
            </a:extLst>
          </p:cNvPr>
          <p:cNvSpPr/>
          <p:nvPr/>
        </p:nvSpPr>
        <p:spPr bwMode="auto">
          <a:xfrm>
            <a:off x="1304597" y="2701399"/>
            <a:ext cx="4277086" cy="34078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solution workspace</a:t>
            </a:r>
          </a:p>
        </p:txBody>
      </p:sp>
    </p:spTree>
    <p:extLst>
      <p:ext uri="{BB962C8B-B14F-4D97-AF65-F5344CB8AC3E}">
        <p14:creationId xmlns:p14="http://schemas.microsoft.com/office/powerpoint/2010/main" val="248860526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5F03628-ADC1-FF87-9F9A-1A9D6B633CFC}"/>
              </a:ext>
            </a:extLst>
          </p:cNvPr>
          <p:cNvGrpSpPr/>
          <p:nvPr/>
        </p:nvGrpSpPr>
        <p:grpSpPr>
          <a:xfrm>
            <a:off x="287444" y="540325"/>
            <a:ext cx="10966848" cy="5913873"/>
            <a:chOff x="188832" y="751087"/>
            <a:chExt cx="10966848" cy="591387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C5031D-6562-A064-B538-8B2C2EE0FD7A}"/>
                </a:ext>
              </a:extLst>
            </p:cNvPr>
            <p:cNvSpPr/>
            <p:nvPr/>
          </p:nvSpPr>
          <p:spPr bwMode="auto">
            <a:xfrm>
              <a:off x="188832" y="1091874"/>
              <a:ext cx="10966848" cy="55730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0F0DA4C-589B-7794-494B-715773BC7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1392" y="1225909"/>
              <a:ext cx="5125165" cy="395342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DC26823-6D7B-6A33-A837-71925E1F0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772"/>
            <a:stretch>
              <a:fillRect/>
            </a:stretch>
          </p:blipFill>
          <p:spPr>
            <a:xfrm>
              <a:off x="5892800" y="1744068"/>
              <a:ext cx="5053094" cy="47631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7CFE5A8-81DE-1CD0-9FE0-D1A9D83BC5E7}"/>
                </a:ext>
              </a:extLst>
            </p:cNvPr>
            <p:cNvCxnSpPr>
              <a:cxnSpLocks/>
            </p:cNvCxnSpPr>
            <p:nvPr/>
          </p:nvCxnSpPr>
          <p:spPr>
            <a:xfrm>
              <a:off x="4368800" y="1971497"/>
              <a:ext cx="1432560" cy="0"/>
            </a:xfrm>
            <a:prstGeom prst="straightConnector1">
              <a:avLst/>
            </a:prstGeom>
            <a:ln w="76200">
              <a:solidFill>
                <a:schemeClr val="accent5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A9BC71-BEE3-7362-8C85-E49F48E89168}"/>
                </a:ext>
              </a:extLst>
            </p:cNvPr>
            <p:cNvSpPr/>
            <p:nvPr/>
          </p:nvSpPr>
          <p:spPr bwMode="auto">
            <a:xfrm>
              <a:off x="188832" y="751087"/>
              <a:ext cx="10966848" cy="34392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solution workspace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420172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304F1-DCE9-082B-4798-46EFB66DE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4004CB-49FD-026A-AF15-6EF2C9DF8122}"/>
              </a:ext>
            </a:extLst>
          </p:cNvPr>
          <p:cNvSpPr/>
          <p:nvPr/>
        </p:nvSpPr>
        <p:spPr bwMode="auto">
          <a:xfrm>
            <a:off x="461168" y="387423"/>
            <a:ext cx="11172031" cy="51904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A3BAF9-40E5-9A38-F7E2-0BF88B3707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7577"/>
          <a:stretch>
            <a:fillRect/>
          </a:stretch>
        </p:blipFill>
        <p:spPr>
          <a:xfrm>
            <a:off x="747632" y="992229"/>
            <a:ext cx="5125165" cy="491131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BA7569-3965-E9AF-9DD1-7DE8793F76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2" t="7965"/>
          <a:stretch>
            <a:fillRect/>
          </a:stretch>
        </p:blipFill>
        <p:spPr>
          <a:xfrm>
            <a:off x="6364764" y="951589"/>
            <a:ext cx="5053094" cy="43837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8922431-F7AF-B822-6046-562224AE7F8C}"/>
              </a:ext>
            </a:extLst>
          </p:cNvPr>
          <p:cNvSpPr/>
          <p:nvPr/>
        </p:nvSpPr>
        <p:spPr bwMode="auto">
          <a:xfrm>
            <a:off x="676511" y="607667"/>
            <a:ext cx="5145486" cy="343922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presentation workspace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982FEB-26F9-FB41-F171-0808CEC3094E}"/>
              </a:ext>
            </a:extLst>
          </p:cNvPr>
          <p:cNvSpPr/>
          <p:nvPr/>
        </p:nvSpPr>
        <p:spPr bwMode="auto">
          <a:xfrm>
            <a:off x="6344442" y="599810"/>
            <a:ext cx="5073415" cy="343922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staging workspace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E35A62-78C7-D1B4-29EB-5407BDB83C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474"/>
          <a:stretch>
            <a:fillRect/>
          </a:stretch>
        </p:blipFill>
        <p:spPr>
          <a:xfrm>
            <a:off x="747632" y="1483360"/>
            <a:ext cx="5125165" cy="302541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5FFF870-63D6-8984-6176-A39125C79AB2}"/>
              </a:ext>
            </a:extLst>
          </p:cNvPr>
          <p:cNvSpPr/>
          <p:nvPr/>
        </p:nvSpPr>
        <p:spPr bwMode="auto">
          <a:xfrm>
            <a:off x="676511" y="951589"/>
            <a:ext cx="5145486" cy="3557187"/>
          </a:xfrm>
          <a:prstGeom prst="rect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16658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AF2B7-C8B0-DFAD-E3E7-FD6F165F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16E27E78-6487-7F4D-4D6F-0495179D3B56}"/>
              </a:ext>
            </a:extLst>
          </p:cNvPr>
          <p:cNvSpPr/>
          <p:nvPr/>
        </p:nvSpPr>
        <p:spPr bwMode="auto">
          <a:xfrm>
            <a:off x="91440" y="193041"/>
            <a:ext cx="12141200" cy="516127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46304" rIns="0" bIns="13716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4E38898-253F-F8DC-6316-D4A8F3232BEB}"/>
              </a:ext>
            </a:extLst>
          </p:cNvPr>
          <p:cNvSpPr/>
          <p:nvPr/>
        </p:nvSpPr>
        <p:spPr bwMode="auto">
          <a:xfrm>
            <a:off x="2357120" y="396240"/>
            <a:ext cx="9656867" cy="4737853"/>
          </a:xfrm>
          <a:prstGeom prst="rect">
            <a:avLst/>
          </a:prstGeom>
          <a:solidFill>
            <a:srgbClr val="FFFFE7"/>
          </a:solidFill>
          <a:ln w="12700"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46304" rIns="0" bIns="13716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Fabric Solution Workspace</a:t>
            </a:r>
          </a:p>
        </p:txBody>
      </p:sp>
      <p:pic>
        <p:nvPicPr>
          <p:cNvPr id="47" name="Picture 46" descr="A blue and white sign with waves&#10;&#10;Description automatically generated">
            <a:extLst>
              <a:ext uri="{FF2B5EF4-FFF2-40B4-BE49-F238E27FC236}">
                <a16:creationId xmlns:a16="http://schemas.microsoft.com/office/drawing/2014/main" id="{AA580895-6123-5F34-DA3E-F5D9F18F83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112" y="2961504"/>
            <a:ext cx="45722" cy="4572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DEA9F1BA-6338-F15B-5C18-94D9CF2CE344}"/>
              </a:ext>
            </a:extLst>
          </p:cNvPr>
          <p:cNvSpPr/>
          <p:nvPr/>
        </p:nvSpPr>
        <p:spPr bwMode="auto">
          <a:xfrm>
            <a:off x="1803204" y="3437675"/>
            <a:ext cx="1862004" cy="431748"/>
          </a:xfrm>
          <a:prstGeom prst="rightArrow">
            <a:avLst>
              <a:gd name="adj1" fmla="val 68275"/>
              <a:gd name="adj2" fmla="val 77177"/>
            </a:avLst>
          </a:prstGeom>
          <a:solidFill>
            <a:srgbClr val="8A0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ADLS Gen2</a:t>
            </a:r>
          </a:p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Shortcut</a:t>
            </a:r>
          </a:p>
        </p:txBody>
      </p:sp>
      <p:pic>
        <p:nvPicPr>
          <p:cNvPr id="8" name="Picture 7" descr="A white square with orange and black logo&#10;&#10;AI-generated content may be incorrect.">
            <a:extLst>
              <a:ext uri="{FF2B5EF4-FFF2-40B4-BE49-F238E27FC236}">
                <a16:creationId xmlns:a16="http://schemas.microsoft.com/office/drawing/2014/main" id="{2693E690-1ACC-779B-AA32-7709B1CEDA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556" y="3302457"/>
            <a:ext cx="662273" cy="662273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23D8B87F-C196-A804-7047-769A85C5D64E}"/>
              </a:ext>
            </a:extLst>
          </p:cNvPr>
          <p:cNvGrpSpPr/>
          <p:nvPr/>
        </p:nvGrpSpPr>
        <p:grpSpPr>
          <a:xfrm>
            <a:off x="3619133" y="2633801"/>
            <a:ext cx="1862004" cy="1964215"/>
            <a:chOff x="1246956" y="1805652"/>
            <a:chExt cx="1862004" cy="196421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2D3F1B5-A23E-C8A4-0EFC-CDCFFDF120DA}"/>
                </a:ext>
              </a:extLst>
            </p:cNvPr>
            <p:cNvSpPr/>
            <p:nvPr/>
          </p:nvSpPr>
          <p:spPr bwMode="auto">
            <a:xfrm>
              <a:off x="1246956" y="1805652"/>
              <a:ext cx="1862004" cy="19642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rPr>
                <a:t>Bronze Lakehouse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8074296-FF63-2431-7ED4-E58A4F6A5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9788" y="2144509"/>
              <a:ext cx="1617591" cy="156633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5B95F6C-7A51-BD63-851C-4FAC579D2FF1}"/>
              </a:ext>
            </a:extLst>
          </p:cNvPr>
          <p:cNvGrpSpPr/>
          <p:nvPr/>
        </p:nvGrpSpPr>
        <p:grpSpPr>
          <a:xfrm>
            <a:off x="6897299" y="2635597"/>
            <a:ext cx="1862004" cy="1964215"/>
            <a:chOff x="4355916" y="1764847"/>
            <a:chExt cx="1862004" cy="196421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F0D8E45-EAF5-E966-DDB9-A20F869F238A}"/>
                </a:ext>
              </a:extLst>
            </p:cNvPr>
            <p:cNvSpPr/>
            <p:nvPr/>
          </p:nvSpPr>
          <p:spPr bwMode="auto">
            <a:xfrm>
              <a:off x="4355916" y="1764847"/>
              <a:ext cx="1862004" cy="19642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rPr>
                <a:t>Silver Lakehouse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4D48F92B-0C7D-84D5-BE96-0F5A9767C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301"/>
            <a:stretch>
              <a:fillRect/>
            </a:stretch>
          </p:blipFill>
          <p:spPr>
            <a:xfrm>
              <a:off x="4500281" y="2114029"/>
              <a:ext cx="1628877" cy="154469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BC74934-A1F7-0439-F9C2-8BD955474EB7}"/>
              </a:ext>
            </a:extLst>
          </p:cNvPr>
          <p:cNvGrpSpPr/>
          <p:nvPr/>
        </p:nvGrpSpPr>
        <p:grpSpPr>
          <a:xfrm>
            <a:off x="9969000" y="2704143"/>
            <a:ext cx="1862004" cy="1964215"/>
            <a:chOff x="6484688" y="1764846"/>
            <a:chExt cx="1862004" cy="1964215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EB12F8A-762E-A253-B74B-2E25106281E4}"/>
                </a:ext>
              </a:extLst>
            </p:cNvPr>
            <p:cNvSpPr/>
            <p:nvPr/>
          </p:nvSpPr>
          <p:spPr bwMode="auto">
            <a:xfrm>
              <a:off x="6484688" y="1764846"/>
              <a:ext cx="1862004" cy="19642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rPr>
                <a:t>Gold Lakehouse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49E83AF2-6C4E-7EB6-F3AB-C7E4DA058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824"/>
            <a:stretch>
              <a:fillRect/>
            </a:stretch>
          </p:blipFill>
          <p:spPr>
            <a:xfrm>
              <a:off x="6676318" y="2114028"/>
              <a:ext cx="1478902" cy="154469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CEC0545-A922-BC7C-8D19-D77896A57BC0}"/>
              </a:ext>
            </a:extLst>
          </p:cNvPr>
          <p:cNvGrpSpPr/>
          <p:nvPr/>
        </p:nvGrpSpPr>
        <p:grpSpPr>
          <a:xfrm>
            <a:off x="5499478" y="3374623"/>
            <a:ext cx="1534040" cy="554259"/>
            <a:chOff x="5590918" y="5193263"/>
            <a:chExt cx="1534040" cy="554259"/>
          </a:xfrm>
        </p:grpSpPr>
        <p:sp>
          <p:nvSpPr>
            <p:cNvPr id="49" name="Arrow: Right 48">
              <a:extLst>
                <a:ext uri="{FF2B5EF4-FFF2-40B4-BE49-F238E27FC236}">
                  <a16:creationId xmlns:a16="http://schemas.microsoft.com/office/drawing/2014/main" id="{C7861E43-1E25-596B-023F-91C0AC69A040}"/>
                </a:ext>
              </a:extLst>
            </p:cNvPr>
            <p:cNvSpPr/>
            <p:nvPr/>
          </p:nvSpPr>
          <p:spPr bwMode="auto">
            <a:xfrm>
              <a:off x="5590918" y="5254519"/>
              <a:ext cx="1534040" cy="431748"/>
            </a:xfrm>
            <a:prstGeom prst="rightArrow">
              <a:avLst>
                <a:gd name="adj1" fmla="val 68275"/>
                <a:gd name="adj2" fmla="val 77177"/>
              </a:avLst>
            </a:prstGeom>
            <a:solidFill>
              <a:srgbClr val="8A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2960" tIns="146304" rIns="9144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chemeClr val="bg1"/>
                  </a:solidFill>
                  <a:ea typeface="Segoe UI" pitchFamily="34" charset="0"/>
                  <a:cs typeface="Segoe UI" pitchFamily="34" charset="0"/>
                </a:rPr>
                <a:t>Build</a:t>
              </a:r>
            </a:p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chemeClr val="bg1"/>
                  </a:solidFill>
                  <a:ea typeface="Segoe UI" pitchFamily="34" charset="0"/>
                  <a:cs typeface="Segoe UI" pitchFamily="34" charset="0"/>
                </a:rPr>
                <a:t>Silver</a:t>
              </a:r>
            </a:p>
          </p:txBody>
        </p:sp>
        <p:pic>
          <p:nvPicPr>
            <p:cNvPr id="78" name="Picture 77" descr="A blue and white sign with waves&#10;&#10;Description automatically generated">
              <a:extLst>
                <a:ext uri="{FF2B5EF4-FFF2-40B4-BE49-F238E27FC236}">
                  <a16:creationId xmlns:a16="http://schemas.microsoft.com/office/drawing/2014/main" id="{4D118B45-CEA8-48B3-EEFC-85395CC24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29" t="2386" r="12234" b="4895"/>
            <a:stretch>
              <a:fillRect/>
            </a:stretch>
          </p:blipFill>
          <p:spPr>
            <a:xfrm>
              <a:off x="5699737" y="5193263"/>
              <a:ext cx="567031" cy="554259"/>
            </a:xfrm>
            <a:prstGeom prst="rect">
              <a:avLst/>
            </a:prstGeom>
            <a:solidFill>
              <a:schemeClr val="bg1"/>
            </a:solidFill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D814C11-0944-F7E9-07FE-8B3B80F798F3}"/>
              </a:ext>
            </a:extLst>
          </p:cNvPr>
          <p:cNvGrpSpPr/>
          <p:nvPr/>
        </p:nvGrpSpPr>
        <p:grpSpPr>
          <a:xfrm>
            <a:off x="8781158" y="3384783"/>
            <a:ext cx="1534040" cy="554259"/>
            <a:chOff x="5590918" y="5193263"/>
            <a:chExt cx="1534040" cy="554259"/>
          </a:xfrm>
        </p:grpSpPr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13C917E7-FBB1-FA5A-5FEC-0CD8571058C5}"/>
                </a:ext>
              </a:extLst>
            </p:cNvPr>
            <p:cNvSpPr/>
            <p:nvPr/>
          </p:nvSpPr>
          <p:spPr bwMode="auto">
            <a:xfrm>
              <a:off x="5590918" y="5254519"/>
              <a:ext cx="1534040" cy="431748"/>
            </a:xfrm>
            <a:prstGeom prst="rightArrow">
              <a:avLst>
                <a:gd name="adj1" fmla="val 68275"/>
                <a:gd name="adj2" fmla="val 77177"/>
              </a:avLst>
            </a:prstGeom>
            <a:solidFill>
              <a:srgbClr val="8A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2960" tIns="146304" rIns="9144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chemeClr val="bg1"/>
                  </a:solidFill>
                  <a:ea typeface="Segoe UI" pitchFamily="34" charset="0"/>
                  <a:cs typeface="Segoe UI" pitchFamily="34" charset="0"/>
                </a:rPr>
                <a:t>Build</a:t>
              </a:r>
            </a:p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 err="1">
                  <a:solidFill>
                    <a:schemeClr val="bg1"/>
                  </a:solidFill>
                  <a:ea typeface="Segoe UI" pitchFamily="34" charset="0"/>
                  <a:cs typeface="Segoe UI" pitchFamily="34" charset="0"/>
                </a:rPr>
                <a:t>Gols</a:t>
              </a:r>
              <a:endParaRPr lang="en-US" sz="900" b="1" dirty="0">
                <a:solidFill>
                  <a:schemeClr val="bg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5" name="Picture 54" descr="A blue and white sign with waves&#10;&#10;Description automatically generated">
              <a:extLst>
                <a:ext uri="{FF2B5EF4-FFF2-40B4-BE49-F238E27FC236}">
                  <a16:creationId xmlns:a16="http://schemas.microsoft.com/office/drawing/2014/main" id="{55B77B4C-4B77-000B-12CA-CE7017878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29" t="2386" r="12234" b="4895"/>
            <a:stretch>
              <a:fillRect/>
            </a:stretch>
          </p:blipFill>
          <p:spPr>
            <a:xfrm>
              <a:off x="5699737" y="5193263"/>
              <a:ext cx="567031" cy="554259"/>
            </a:xfrm>
            <a:prstGeom prst="rect">
              <a:avLst/>
            </a:prstGeom>
            <a:solidFill>
              <a:schemeClr val="bg1"/>
            </a:solidFill>
          </p:spPr>
        </p:pic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F0331C6-496E-9E07-68D0-E5BC2BE82166}"/>
              </a:ext>
            </a:extLst>
          </p:cNvPr>
          <p:cNvSpPr/>
          <p:nvPr/>
        </p:nvSpPr>
        <p:spPr bwMode="auto">
          <a:xfrm>
            <a:off x="6000484" y="699969"/>
            <a:ext cx="3538187" cy="1314583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864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8A0000"/>
                </a:solidFill>
                <a:ea typeface="Segoe UI" pitchFamily="34" charset="0"/>
                <a:cs typeface="Segoe UI" pitchFamily="34" charset="0"/>
              </a:rPr>
              <a:t>Create Lakehouse Tables</a:t>
            </a:r>
          </a:p>
        </p:txBody>
      </p:sp>
      <p:pic>
        <p:nvPicPr>
          <p:cNvPr id="12" name="Picture 11" descr="A blue and white sign with waves&#10;&#10;Description automatically generated">
            <a:extLst>
              <a:ext uri="{FF2B5EF4-FFF2-40B4-BE49-F238E27FC236}">
                <a16:creationId xmlns:a16="http://schemas.microsoft.com/office/drawing/2014/main" id="{71FBA56E-A708-E20C-CB36-C3E9CB4960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103" y="1358173"/>
            <a:ext cx="58194" cy="5513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" name="Picture 13" descr="A blue and white sign with waves&#10;&#10;Description automatically generated">
            <a:extLst>
              <a:ext uri="{FF2B5EF4-FFF2-40B4-BE49-F238E27FC236}">
                <a16:creationId xmlns:a16="http://schemas.microsoft.com/office/drawing/2014/main" id="{C43FF1DE-987C-E335-7114-48D02E112167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672" y="1186660"/>
            <a:ext cx="58194" cy="17643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ED2DE7F-40AC-85AB-8AD5-D3E4D092BA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8787" y="1192263"/>
            <a:ext cx="3529884" cy="814458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40000"/>
                <a:lumOff val="60000"/>
              </a:schemeClr>
            </a:solidFill>
          </a:ln>
        </p:spPr>
      </p:pic>
      <p:pic>
        <p:nvPicPr>
          <p:cNvPr id="10" name="Picture 9" descr="A green and white button&#10;&#10;AI-generated content may be incorrect.">
            <a:extLst>
              <a:ext uri="{FF2B5EF4-FFF2-40B4-BE49-F238E27FC236}">
                <a16:creationId xmlns:a16="http://schemas.microsoft.com/office/drawing/2014/main" id="{EE44CFAA-B56C-7014-EE1D-608DA522DB9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484" y="679311"/>
            <a:ext cx="502581" cy="502581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C5FD487-A1C9-5712-8C43-CC4441F50920}"/>
              </a:ext>
            </a:extLst>
          </p:cNvPr>
          <p:cNvCxnSpPr>
            <a:cxnSpLocks/>
          </p:cNvCxnSpPr>
          <p:nvPr/>
        </p:nvCxnSpPr>
        <p:spPr>
          <a:xfrm flipH="1">
            <a:off x="6039072" y="1875515"/>
            <a:ext cx="697040" cy="1426942"/>
          </a:xfrm>
          <a:prstGeom prst="straightConnector1">
            <a:avLst/>
          </a:prstGeom>
          <a:ln w="57150">
            <a:solidFill>
              <a:schemeClr val="accent5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BCA4A3B-1402-025E-F2BB-CF2F0E45A034}"/>
              </a:ext>
            </a:extLst>
          </p:cNvPr>
          <p:cNvCxnSpPr>
            <a:cxnSpLocks/>
          </p:cNvCxnSpPr>
          <p:nvPr/>
        </p:nvCxnSpPr>
        <p:spPr>
          <a:xfrm>
            <a:off x="8688128" y="1845887"/>
            <a:ext cx="357285" cy="1456570"/>
          </a:xfrm>
          <a:prstGeom prst="straightConnector1">
            <a:avLst/>
          </a:prstGeom>
          <a:ln w="57150">
            <a:solidFill>
              <a:schemeClr val="accent5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608E892-D7FF-1E25-BB45-9E5E0CBEBA1D}"/>
              </a:ext>
            </a:extLst>
          </p:cNvPr>
          <p:cNvSpPr/>
          <p:nvPr/>
        </p:nvSpPr>
        <p:spPr bwMode="auto">
          <a:xfrm>
            <a:off x="264160" y="2633801"/>
            <a:ext cx="1557294" cy="1964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Azure Storage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Account</a:t>
            </a:r>
          </a:p>
        </p:txBody>
      </p:sp>
      <p:pic>
        <p:nvPicPr>
          <p:cNvPr id="5" name="Picture 4" descr="Azure Storage Accounts Icon - Free SVG ...">
            <a:extLst>
              <a:ext uri="{FF2B5EF4-FFF2-40B4-BE49-F238E27FC236}">
                <a16:creationId xmlns:a16="http://schemas.microsoft.com/office/drawing/2014/main" id="{9B84558D-2897-A98A-9FBC-1D3DFBAD88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73" y="3203346"/>
            <a:ext cx="1119609" cy="111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88979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6DEB0D-84D8-05A6-1192-3AFFB02D3339}"/>
              </a:ext>
            </a:extLst>
          </p:cNvPr>
          <p:cNvSpPr/>
          <p:nvPr/>
        </p:nvSpPr>
        <p:spPr bwMode="auto">
          <a:xfrm>
            <a:off x="367171" y="590155"/>
            <a:ext cx="3695245" cy="179445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environment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C9560D-64AC-48D2-C6DC-30DD84EF2BBC}"/>
              </a:ext>
            </a:extLst>
          </p:cNvPr>
          <p:cNvSpPr/>
          <p:nvPr/>
        </p:nvSpPr>
        <p:spPr bwMode="auto">
          <a:xfrm>
            <a:off x="581278" y="1689040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capacity (F4)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65DDEF-7F48-5E25-1570-C0ADF6801E9E}"/>
              </a:ext>
            </a:extLst>
          </p:cNvPr>
          <p:cNvSpPr/>
          <p:nvPr/>
        </p:nvSpPr>
        <p:spPr bwMode="auto">
          <a:xfrm>
            <a:off x="581278" y="1049494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DC9BCE-6015-0059-97C7-BE2AC020554C}"/>
              </a:ext>
            </a:extLst>
          </p:cNvPr>
          <p:cNvSpPr/>
          <p:nvPr/>
        </p:nvSpPr>
        <p:spPr bwMode="auto">
          <a:xfrm>
            <a:off x="4276523" y="590155"/>
            <a:ext cx="3695245" cy="1794458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 environment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57AA95-0F2A-00F2-B7D9-C7E8D2F74078}"/>
              </a:ext>
            </a:extLst>
          </p:cNvPr>
          <p:cNvSpPr/>
          <p:nvPr/>
        </p:nvSpPr>
        <p:spPr bwMode="auto">
          <a:xfrm>
            <a:off x="4490630" y="1689040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capacity (F16)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48FFFD-FF7F-26D0-8C79-F6C1C0A30ABC}"/>
              </a:ext>
            </a:extLst>
          </p:cNvPr>
          <p:cNvSpPr/>
          <p:nvPr/>
        </p:nvSpPr>
        <p:spPr bwMode="auto">
          <a:xfrm>
            <a:off x="4490630" y="1049494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447EE76-D4D9-A92B-07E6-0F2CB4917821}"/>
              </a:ext>
            </a:extLst>
          </p:cNvPr>
          <p:cNvSpPr/>
          <p:nvPr/>
        </p:nvSpPr>
        <p:spPr bwMode="auto">
          <a:xfrm>
            <a:off x="8159952" y="590155"/>
            <a:ext cx="3695245" cy="179445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environment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C1B7C5D-8BC3-8081-5058-5C5F6C9145CE}"/>
              </a:ext>
            </a:extLst>
          </p:cNvPr>
          <p:cNvSpPr/>
          <p:nvPr/>
        </p:nvSpPr>
        <p:spPr bwMode="auto">
          <a:xfrm>
            <a:off x="8374059" y="1689040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capacity (F64)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1CEC61-EB4F-670F-65E3-CD60A6ECC845}"/>
              </a:ext>
            </a:extLst>
          </p:cNvPr>
          <p:cNvSpPr/>
          <p:nvPr/>
        </p:nvSpPr>
        <p:spPr bwMode="auto">
          <a:xfrm>
            <a:off x="8374059" y="1049494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82954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1D4C8-ECF6-3696-D807-AB8D759E6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80EAB2-70B5-EB0C-9D7E-A91D0548D745}"/>
              </a:ext>
            </a:extLst>
          </p:cNvPr>
          <p:cNvSpPr/>
          <p:nvPr/>
        </p:nvSpPr>
        <p:spPr bwMode="auto">
          <a:xfrm>
            <a:off x="367171" y="590154"/>
            <a:ext cx="3695245" cy="30853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environment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1A738F-3F2D-E1F4-FD9C-26B2A570662E}"/>
              </a:ext>
            </a:extLst>
          </p:cNvPr>
          <p:cNvSpPr/>
          <p:nvPr/>
        </p:nvSpPr>
        <p:spPr bwMode="auto">
          <a:xfrm>
            <a:off x="581278" y="1689040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capacity (F4)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8DAA8B-164B-BD1A-3293-B632867294FE}"/>
              </a:ext>
            </a:extLst>
          </p:cNvPr>
          <p:cNvSpPr/>
          <p:nvPr/>
        </p:nvSpPr>
        <p:spPr bwMode="auto">
          <a:xfrm>
            <a:off x="581278" y="2328586"/>
            <a:ext cx="3267031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 Storage Account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used to store dev data files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03B977-15B4-153C-A69C-1C21D1572155}"/>
              </a:ext>
            </a:extLst>
          </p:cNvPr>
          <p:cNvSpPr/>
          <p:nvPr/>
        </p:nvSpPr>
        <p:spPr bwMode="auto">
          <a:xfrm>
            <a:off x="581278" y="1049494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025646-9568-6E8F-0398-1814BD048040}"/>
              </a:ext>
            </a:extLst>
          </p:cNvPr>
          <p:cNvSpPr/>
          <p:nvPr/>
        </p:nvSpPr>
        <p:spPr bwMode="auto">
          <a:xfrm>
            <a:off x="581278" y="2968133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Connection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to dev storage account</a:t>
            </a:r>
            <a:endParaRPr lang="en-US" sz="10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9FFB44-606B-1AA3-94F3-2AE9AEC5B350}"/>
              </a:ext>
            </a:extLst>
          </p:cNvPr>
          <p:cNvSpPr/>
          <p:nvPr/>
        </p:nvSpPr>
        <p:spPr bwMode="auto">
          <a:xfrm>
            <a:off x="4276523" y="590154"/>
            <a:ext cx="3695245" cy="3085373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 environment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FF555F-ED12-529A-0D68-3038712CBA88}"/>
              </a:ext>
            </a:extLst>
          </p:cNvPr>
          <p:cNvSpPr/>
          <p:nvPr/>
        </p:nvSpPr>
        <p:spPr bwMode="auto">
          <a:xfrm>
            <a:off x="4490630" y="1689040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capacity (F16)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B938BA9-09F2-ABE9-7B47-52D88392EB7E}"/>
              </a:ext>
            </a:extLst>
          </p:cNvPr>
          <p:cNvSpPr/>
          <p:nvPr/>
        </p:nvSpPr>
        <p:spPr bwMode="auto">
          <a:xfrm>
            <a:off x="4490630" y="2328586"/>
            <a:ext cx="3267031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 Storage Account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used to store test data files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043F6F-6282-9B6B-8BAE-555BF5817B13}"/>
              </a:ext>
            </a:extLst>
          </p:cNvPr>
          <p:cNvSpPr/>
          <p:nvPr/>
        </p:nvSpPr>
        <p:spPr bwMode="auto">
          <a:xfrm>
            <a:off x="4490630" y="1049494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456399-447A-2544-6CF2-7587F0D8F2BA}"/>
              </a:ext>
            </a:extLst>
          </p:cNvPr>
          <p:cNvSpPr/>
          <p:nvPr/>
        </p:nvSpPr>
        <p:spPr bwMode="auto">
          <a:xfrm>
            <a:off x="4490630" y="2968133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Connection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to test storage account</a:t>
            </a:r>
            <a:endParaRPr lang="en-US" sz="10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19907E5-7069-E1B0-8BB2-00E9556C22D2}"/>
              </a:ext>
            </a:extLst>
          </p:cNvPr>
          <p:cNvSpPr/>
          <p:nvPr/>
        </p:nvSpPr>
        <p:spPr bwMode="auto">
          <a:xfrm>
            <a:off x="8159952" y="590154"/>
            <a:ext cx="3695245" cy="308537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environment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B30B4A4-E3F8-5F8A-256B-83315F59A324}"/>
              </a:ext>
            </a:extLst>
          </p:cNvPr>
          <p:cNvSpPr/>
          <p:nvPr/>
        </p:nvSpPr>
        <p:spPr bwMode="auto">
          <a:xfrm>
            <a:off x="8374059" y="1689040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capacity (F64)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D9D2C2F-3136-8B83-20C3-6271122CFFEF}"/>
              </a:ext>
            </a:extLst>
          </p:cNvPr>
          <p:cNvSpPr/>
          <p:nvPr/>
        </p:nvSpPr>
        <p:spPr bwMode="auto">
          <a:xfrm>
            <a:off x="8374059" y="2328586"/>
            <a:ext cx="3267031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 Storage Account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used to store prod data files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CAFE4A6-9CB4-09CD-670C-ED707824DEBC}"/>
              </a:ext>
            </a:extLst>
          </p:cNvPr>
          <p:cNvSpPr/>
          <p:nvPr/>
        </p:nvSpPr>
        <p:spPr bwMode="auto">
          <a:xfrm>
            <a:off x="8374059" y="1049494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666A40-BF4A-6054-AB85-BF14E54D406A}"/>
              </a:ext>
            </a:extLst>
          </p:cNvPr>
          <p:cNvSpPr/>
          <p:nvPr/>
        </p:nvSpPr>
        <p:spPr bwMode="auto">
          <a:xfrm>
            <a:off x="8374059" y="2968133"/>
            <a:ext cx="3267030" cy="521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Connection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to prod storage account</a:t>
            </a:r>
            <a:endParaRPr lang="en-US" sz="10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37589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224ED5-2F50-CBFB-BFEB-D405F002F70F}"/>
              </a:ext>
            </a:extLst>
          </p:cNvPr>
          <p:cNvSpPr/>
          <p:nvPr/>
        </p:nvSpPr>
        <p:spPr bwMode="auto">
          <a:xfrm>
            <a:off x="1768216" y="1641323"/>
            <a:ext cx="2559944" cy="20873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B8213C-FA33-D3F6-FC55-9122CA780DE3}"/>
              </a:ext>
            </a:extLst>
          </p:cNvPr>
          <p:cNvSpPr/>
          <p:nvPr/>
        </p:nvSpPr>
        <p:spPr bwMode="auto">
          <a:xfrm>
            <a:off x="1758130" y="1274109"/>
            <a:ext cx="2575183" cy="367213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GIT Repository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8AD07A1-28AB-BBF7-9AFC-3684CF589D2A}"/>
              </a:ext>
            </a:extLst>
          </p:cNvPr>
          <p:cNvGrpSpPr/>
          <p:nvPr/>
        </p:nvGrpSpPr>
        <p:grpSpPr>
          <a:xfrm>
            <a:off x="1833327" y="1728737"/>
            <a:ext cx="2403393" cy="1878063"/>
            <a:chOff x="1873967" y="1749057"/>
            <a:chExt cx="2250993" cy="18780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8AA53C-B563-954F-BAA3-2645919BAC63}"/>
                </a:ext>
              </a:extLst>
            </p:cNvPr>
            <p:cNvSpPr/>
            <p:nvPr/>
          </p:nvSpPr>
          <p:spPr bwMode="auto">
            <a:xfrm>
              <a:off x="1873967" y="1749057"/>
              <a:ext cx="2250993" cy="18780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tx1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branches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59C7E31-6BC5-B15D-289B-0827A609EED4}"/>
                </a:ext>
              </a:extLst>
            </p:cNvPr>
            <p:cNvGrpSpPr/>
            <p:nvPr/>
          </p:nvGrpSpPr>
          <p:grpSpPr>
            <a:xfrm>
              <a:off x="1994648" y="2083634"/>
              <a:ext cx="2018552" cy="1413628"/>
              <a:chOff x="1994648" y="2083634"/>
              <a:chExt cx="1818449" cy="164869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3FE43D7-17EA-D5F3-CD37-1ECEA11D1D96}"/>
                  </a:ext>
                </a:extLst>
              </p:cNvPr>
              <p:cNvSpPr/>
              <p:nvPr/>
            </p:nvSpPr>
            <p:spPr bwMode="auto">
              <a:xfrm>
                <a:off x="1994648" y="2083634"/>
                <a:ext cx="1818449" cy="47114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main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CC6160A-1496-A1D8-E121-58653ABB71A8}"/>
                  </a:ext>
                </a:extLst>
              </p:cNvPr>
              <p:cNvSpPr/>
              <p:nvPr/>
            </p:nvSpPr>
            <p:spPr bwMode="auto">
              <a:xfrm>
                <a:off x="1994648" y="2672412"/>
                <a:ext cx="1818449" cy="47114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9120125-1F70-70DB-9EF2-223F4C21563A}"/>
                  </a:ext>
                </a:extLst>
              </p:cNvPr>
              <p:cNvSpPr/>
              <p:nvPr/>
            </p:nvSpPr>
            <p:spPr bwMode="auto">
              <a:xfrm>
                <a:off x="1994648" y="3261190"/>
                <a:ext cx="1818449" cy="471142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 (default)</a:t>
                </a:r>
              </a:p>
            </p:txBody>
          </p:sp>
        </p:grp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01DC4DDE-FE1C-9DEF-0435-700628BA37C3}"/>
              </a:ext>
            </a:extLst>
          </p:cNvPr>
          <p:cNvSpPr/>
          <p:nvPr/>
        </p:nvSpPr>
        <p:spPr bwMode="auto">
          <a:xfrm>
            <a:off x="5893176" y="1641323"/>
            <a:ext cx="2559944" cy="1172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D7C100-B3F9-7A41-941C-A54ABB508266}"/>
              </a:ext>
            </a:extLst>
          </p:cNvPr>
          <p:cNvSpPr/>
          <p:nvPr/>
        </p:nvSpPr>
        <p:spPr bwMode="auto">
          <a:xfrm>
            <a:off x="5883090" y="1274109"/>
            <a:ext cx="2575183" cy="367213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GIT Repository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E05E9C4-7BCC-820D-E0E7-88975E7AA8C6}"/>
              </a:ext>
            </a:extLst>
          </p:cNvPr>
          <p:cNvGrpSpPr/>
          <p:nvPr/>
        </p:nvGrpSpPr>
        <p:grpSpPr>
          <a:xfrm>
            <a:off x="5958287" y="1728737"/>
            <a:ext cx="2403393" cy="953503"/>
            <a:chOff x="1873967" y="1749057"/>
            <a:chExt cx="2250993" cy="95350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00AA3B8-0CC9-F211-8133-D5114B3C5146}"/>
                </a:ext>
              </a:extLst>
            </p:cNvPr>
            <p:cNvSpPr/>
            <p:nvPr/>
          </p:nvSpPr>
          <p:spPr bwMode="auto">
            <a:xfrm>
              <a:off x="1873967" y="1749057"/>
              <a:ext cx="2250993" cy="95350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tx1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branches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FFE428D-AA51-E7B7-F0F4-6B9D0B225E1F}"/>
                </a:ext>
              </a:extLst>
            </p:cNvPr>
            <p:cNvSpPr/>
            <p:nvPr/>
          </p:nvSpPr>
          <p:spPr bwMode="auto">
            <a:xfrm>
              <a:off x="1994648" y="2114114"/>
              <a:ext cx="2018552" cy="403967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 (default)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097579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8156FB-C10C-4DF3-5DB9-EFCC257595DC}"/>
              </a:ext>
            </a:extLst>
          </p:cNvPr>
          <p:cNvSpPr/>
          <p:nvPr/>
        </p:nvSpPr>
        <p:spPr bwMode="auto">
          <a:xfrm>
            <a:off x="736154" y="960005"/>
            <a:ext cx="6794199" cy="21955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0622DC-6C0F-04F8-CC87-4478FD0E2783}"/>
              </a:ext>
            </a:extLst>
          </p:cNvPr>
          <p:cNvSpPr/>
          <p:nvPr/>
        </p:nvSpPr>
        <p:spPr bwMode="auto">
          <a:xfrm>
            <a:off x="726770" y="592791"/>
            <a:ext cx="6812129" cy="367213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GIT Repository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6ABC38-F4AE-7DDA-5EDD-C48290790F0C}"/>
              </a:ext>
            </a:extLst>
          </p:cNvPr>
          <p:cNvGrpSpPr/>
          <p:nvPr/>
        </p:nvGrpSpPr>
        <p:grpSpPr>
          <a:xfrm>
            <a:off x="5829060" y="1109597"/>
            <a:ext cx="1543433" cy="1878063"/>
            <a:chOff x="1873967" y="1749057"/>
            <a:chExt cx="2250993" cy="18780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55CF253-5406-3972-42B6-4F7AAFF3DB9D}"/>
                </a:ext>
              </a:extLst>
            </p:cNvPr>
            <p:cNvSpPr/>
            <p:nvPr/>
          </p:nvSpPr>
          <p:spPr bwMode="auto">
            <a:xfrm>
              <a:off x="1873967" y="1749057"/>
              <a:ext cx="2250993" cy="18780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tx1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environments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506F6E8-7CF2-5C68-CEF1-D989F38ECAF8}"/>
                </a:ext>
              </a:extLst>
            </p:cNvPr>
            <p:cNvGrpSpPr/>
            <p:nvPr/>
          </p:nvGrpSpPr>
          <p:grpSpPr>
            <a:xfrm>
              <a:off x="1994648" y="2083634"/>
              <a:ext cx="2018552" cy="1413628"/>
              <a:chOff x="1994648" y="2083634"/>
              <a:chExt cx="1818449" cy="1648698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A83DCCA-34D2-A414-2030-926A229A8355}"/>
                  </a:ext>
                </a:extLst>
              </p:cNvPr>
              <p:cNvSpPr/>
              <p:nvPr/>
            </p:nvSpPr>
            <p:spPr bwMode="auto">
              <a:xfrm>
                <a:off x="1994648" y="2083634"/>
                <a:ext cx="1818449" cy="471142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CC486A2-BDA3-1228-D9FA-14EEBD4519EE}"/>
                  </a:ext>
                </a:extLst>
              </p:cNvPr>
              <p:cNvSpPr/>
              <p:nvPr/>
            </p:nvSpPr>
            <p:spPr bwMode="auto">
              <a:xfrm>
                <a:off x="1994648" y="2672412"/>
                <a:ext cx="1818449" cy="47114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1E3B49E-F297-C2AE-DA6D-FF32C17FF39A}"/>
                  </a:ext>
                </a:extLst>
              </p:cNvPr>
              <p:cNvSpPr/>
              <p:nvPr/>
            </p:nvSpPr>
            <p:spPr bwMode="auto">
              <a:xfrm>
                <a:off x="1994648" y="3261190"/>
                <a:ext cx="1818449" cy="471142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</a:t>
                </a:r>
              </a:p>
            </p:txBody>
          </p:sp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C3C383C7-C05F-D52C-A075-F0B9EDBBB2C1}"/>
              </a:ext>
            </a:extLst>
          </p:cNvPr>
          <p:cNvSpPr/>
          <p:nvPr/>
        </p:nvSpPr>
        <p:spPr bwMode="auto">
          <a:xfrm>
            <a:off x="848406" y="1095126"/>
            <a:ext cx="1894794" cy="95350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>
                    <a:lumMod val="75000"/>
                  </a:schemeClr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6B6FF8-DF20-3314-AF37-4505DBAA466E}"/>
              </a:ext>
            </a:extLst>
          </p:cNvPr>
          <p:cNvSpPr/>
          <p:nvPr/>
        </p:nvSpPr>
        <p:spPr bwMode="auto">
          <a:xfrm>
            <a:off x="977258" y="1460183"/>
            <a:ext cx="1622508" cy="40396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 (default)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1FE01AD-F1B5-B3CD-5302-BD4A17F00BCB}"/>
              </a:ext>
            </a:extLst>
          </p:cNvPr>
          <p:cNvGrpSpPr/>
          <p:nvPr/>
        </p:nvGrpSpPr>
        <p:grpSpPr>
          <a:xfrm>
            <a:off x="3117654" y="1091564"/>
            <a:ext cx="2243240" cy="1878063"/>
            <a:chOff x="1873967" y="1749057"/>
            <a:chExt cx="2250993" cy="18780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4A59116-79F3-AEFB-2378-300BA3BDE684}"/>
                </a:ext>
              </a:extLst>
            </p:cNvPr>
            <p:cNvSpPr/>
            <p:nvPr/>
          </p:nvSpPr>
          <p:spPr bwMode="auto">
            <a:xfrm>
              <a:off x="1873967" y="1749057"/>
              <a:ext cx="2250993" cy="18780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tx1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workflows/pipelines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07FADB4-7BCE-FA3B-98AF-258FA933E47F}"/>
                </a:ext>
              </a:extLst>
            </p:cNvPr>
            <p:cNvGrpSpPr/>
            <p:nvPr/>
          </p:nvGrpSpPr>
          <p:grpSpPr>
            <a:xfrm>
              <a:off x="1994648" y="2083634"/>
              <a:ext cx="2018552" cy="1413628"/>
              <a:chOff x="1994648" y="2083634"/>
              <a:chExt cx="1818449" cy="1648698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1D2ED2F-A0D1-DC20-F9C2-DB789D7109F4}"/>
                  </a:ext>
                </a:extLst>
              </p:cNvPr>
              <p:cNvSpPr/>
              <p:nvPr/>
            </p:nvSpPr>
            <p:spPr bwMode="auto">
              <a:xfrm>
                <a:off x="1994648" y="2083634"/>
                <a:ext cx="1818449" cy="471142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sync-dev-workspace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FA0D588-17E5-393D-9490-2C13BDA8DE3F}"/>
                  </a:ext>
                </a:extLst>
              </p:cNvPr>
              <p:cNvSpPr/>
              <p:nvPr/>
            </p:nvSpPr>
            <p:spPr bwMode="auto">
              <a:xfrm>
                <a:off x="1994648" y="2672412"/>
                <a:ext cx="1818449" cy="47114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deploy-to-test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7208513-35F2-EBB9-5ED9-01C226F4E097}"/>
                  </a:ext>
                </a:extLst>
              </p:cNvPr>
              <p:cNvSpPr/>
              <p:nvPr/>
            </p:nvSpPr>
            <p:spPr bwMode="auto">
              <a:xfrm>
                <a:off x="1994648" y="3261190"/>
                <a:ext cx="1818449" cy="471142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deploy-to-prod</a:t>
                </a:r>
              </a:p>
            </p:txBody>
          </p:sp>
        </p:grpSp>
      </p:grp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2F5037E-9AC7-52E4-2A90-685A247D3885}"/>
              </a:ext>
            </a:extLst>
          </p:cNvPr>
          <p:cNvSpPr/>
          <p:nvPr/>
        </p:nvSpPr>
        <p:spPr bwMode="auto">
          <a:xfrm>
            <a:off x="5249519" y="1453526"/>
            <a:ext cx="669994" cy="349195"/>
          </a:xfrm>
          <a:prstGeom prst="rightArrow">
            <a:avLst>
              <a:gd name="adj1" fmla="val 50000"/>
              <a:gd name="adj2" fmla="val 73105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1477D6C-2158-FA23-CAE8-FAA2F4DDD541}"/>
              </a:ext>
            </a:extLst>
          </p:cNvPr>
          <p:cNvSpPr/>
          <p:nvPr/>
        </p:nvSpPr>
        <p:spPr bwMode="auto">
          <a:xfrm>
            <a:off x="5249519" y="1956749"/>
            <a:ext cx="669994" cy="349195"/>
          </a:xfrm>
          <a:prstGeom prst="rightArrow">
            <a:avLst>
              <a:gd name="adj1" fmla="val 50000"/>
              <a:gd name="adj2" fmla="val 73105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CBACB9DB-4A37-C28F-B058-A7D7787874C5}"/>
              </a:ext>
            </a:extLst>
          </p:cNvPr>
          <p:cNvSpPr/>
          <p:nvPr/>
        </p:nvSpPr>
        <p:spPr bwMode="auto">
          <a:xfrm>
            <a:off x="5249519" y="2443481"/>
            <a:ext cx="669994" cy="349195"/>
          </a:xfrm>
          <a:prstGeom prst="rightArrow">
            <a:avLst>
              <a:gd name="adj1" fmla="val 50000"/>
              <a:gd name="adj2" fmla="val 73105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285ED84-A038-33DF-53B2-C7328D772F5C}"/>
              </a:ext>
            </a:extLst>
          </p:cNvPr>
          <p:cNvSpPr/>
          <p:nvPr/>
        </p:nvSpPr>
        <p:spPr bwMode="auto">
          <a:xfrm>
            <a:off x="2614752" y="1498946"/>
            <a:ext cx="503186" cy="349195"/>
          </a:xfrm>
          <a:prstGeom prst="rightArrow">
            <a:avLst>
              <a:gd name="adj1" fmla="val 50000"/>
              <a:gd name="adj2" fmla="val 73105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04338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4022001-DA95-F3AD-5BD2-9D005BC242C9}"/>
              </a:ext>
            </a:extLst>
          </p:cNvPr>
          <p:cNvSpPr/>
          <p:nvPr/>
        </p:nvSpPr>
        <p:spPr bwMode="auto">
          <a:xfrm>
            <a:off x="4840980" y="795094"/>
            <a:ext cx="3639359" cy="122527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64008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Presentation Workspace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0079BB-19D7-EEF3-BE2D-535B52788B92}"/>
              </a:ext>
            </a:extLst>
          </p:cNvPr>
          <p:cNvSpPr/>
          <p:nvPr/>
        </p:nvSpPr>
        <p:spPr bwMode="auto">
          <a:xfrm>
            <a:off x="726128" y="781840"/>
            <a:ext cx="3639359" cy="122527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64008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Staging Workspace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C5E9AF-A9B2-52D2-E0A2-5E07C99211BD}"/>
              </a:ext>
            </a:extLst>
          </p:cNvPr>
          <p:cNvSpPr/>
          <p:nvPr/>
        </p:nvSpPr>
        <p:spPr bwMode="auto">
          <a:xfrm>
            <a:off x="6633891" y="1047812"/>
            <a:ext cx="1609628" cy="9096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Presentation Layer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AEB1216-9D03-6C4E-B83C-17FEB94F9B8E}"/>
              </a:ext>
            </a:extLst>
          </p:cNvPr>
          <p:cNvGrpSpPr/>
          <p:nvPr/>
        </p:nvGrpSpPr>
        <p:grpSpPr>
          <a:xfrm>
            <a:off x="6748017" y="1263922"/>
            <a:ext cx="649091" cy="631660"/>
            <a:chOff x="6295914" y="1428878"/>
            <a:chExt cx="1693119" cy="1825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AEF300B-47EC-7E70-2328-C51658AD0471}"/>
                </a:ext>
              </a:extLst>
            </p:cNvPr>
            <p:cNvSpPr/>
            <p:nvPr/>
          </p:nvSpPr>
          <p:spPr bwMode="auto">
            <a:xfrm>
              <a:off x="6295914" y="1428878"/>
              <a:ext cx="1693119" cy="182535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952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Semantic Model</a:t>
              </a:r>
            </a:p>
          </p:txBody>
        </p:sp>
        <p:pic>
          <p:nvPicPr>
            <p:cNvPr id="6" name="Picture 5" descr="A white square with purple dots&#10;&#10;Description automatically generated">
              <a:extLst>
                <a:ext uri="{FF2B5EF4-FFF2-40B4-BE49-F238E27FC236}">
                  <a16:creationId xmlns:a16="http://schemas.microsoft.com/office/drawing/2014/main" id="{72B73A93-6E84-EFA1-92A0-2C3C6C1B0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6779" y="1536648"/>
              <a:ext cx="1311387" cy="1300896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B4F024D-E3B2-7C72-3B36-277E6CFE92B4}"/>
              </a:ext>
            </a:extLst>
          </p:cNvPr>
          <p:cNvGrpSpPr/>
          <p:nvPr/>
        </p:nvGrpSpPr>
        <p:grpSpPr>
          <a:xfrm>
            <a:off x="7487944" y="1263922"/>
            <a:ext cx="650995" cy="631660"/>
            <a:chOff x="6503915" y="831583"/>
            <a:chExt cx="1229935" cy="132599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AE5012-0D51-67C8-2837-D202FF41D63A}"/>
                </a:ext>
              </a:extLst>
            </p:cNvPr>
            <p:cNvSpPr/>
            <p:nvPr/>
          </p:nvSpPr>
          <p:spPr bwMode="auto">
            <a:xfrm>
              <a:off x="6503915" y="831583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Report</a:t>
              </a:r>
            </a:p>
          </p:txBody>
        </p:sp>
        <p:pic>
          <p:nvPicPr>
            <p:cNvPr id="9" name="Picture 8" descr="A white square with a graph&#10;&#10;Description automatically generated">
              <a:extLst>
                <a:ext uri="{FF2B5EF4-FFF2-40B4-BE49-F238E27FC236}">
                  <a16:creationId xmlns:a16="http://schemas.microsoft.com/office/drawing/2014/main" id="{58516314-B38E-23D3-216C-1EC8910E0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2565" y="904155"/>
              <a:ext cx="952633" cy="948822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BBBF3F-1B6C-CB02-E45A-88686C5AADFA}"/>
              </a:ext>
            </a:extLst>
          </p:cNvPr>
          <p:cNvGrpSpPr/>
          <p:nvPr/>
        </p:nvGrpSpPr>
        <p:grpSpPr>
          <a:xfrm>
            <a:off x="856563" y="1022012"/>
            <a:ext cx="1609628" cy="909605"/>
            <a:chOff x="1112772" y="2799792"/>
            <a:chExt cx="1609628" cy="909605"/>
          </a:xfrm>
          <a:solidFill>
            <a:schemeClr val="bg1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CB91EC-41E2-E934-B3B7-32DD6FF6C33D}"/>
                </a:ext>
              </a:extLst>
            </p:cNvPr>
            <p:cNvSpPr/>
            <p:nvPr/>
          </p:nvSpPr>
          <p:spPr bwMode="auto">
            <a:xfrm>
              <a:off x="1112772" y="2799792"/>
              <a:ext cx="1609628" cy="90960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Bronze Layer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8C739CF-6A94-0A22-1E78-F7936A81E997}"/>
                </a:ext>
              </a:extLst>
            </p:cNvPr>
            <p:cNvGrpSpPr/>
            <p:nvPr/>
          </p:nvGrpSpPr>
          <p:grpSpPr>
            <a:xfrm>
              <a:off x="1210222" y="2996662"/>
              <a:ext cx="652829" cy="635297"/>
              <a:chOff x="1943154" y="2871362"/>
              <a:chExt cx="1229935" cy="1325994"/>
            </a:xfrm>
            <a:grpFill/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EEB9372-7F6D-7832-92C6-A9BBD1A7CE63}"/>
                  </a:ext>
                </a:extLst>
              </p:cNvPr>
              <p:cNvSpPr/>
              <p:nvPr/>
            </p:nvSpPr>
            <p:spPr bwMode="auto">
              <a:xfrm>
                <a:off x="1943154" y="2871362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Notebook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7" name="Picture 16" descr="A white book with a green symbol&#10;&#10;Description automatically generated">
                <a:extLst>
                  <a:ext uri="{FF2B5EF4-FFF2-40B4-BE49-F238E27FC236}">
                    <a16:creationId xmlns:a16="http://schemas.microsoft.com/office/drawing/2014/main" id="{6FFC2D42-9747-74A1-EFD5-C3D4409896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6142" y="3007327"/>
                <a:ext cx="876399" cy="872892"/>
              </a:xfrm>
              <a:prstGeom prst="rect">
                <a:avLst/>
              </a:prstGeom>
              <a:grpFill/>
            </p:spPr>
          </p:pic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85D2036-74BC-AA21-0FE0-FC3B177E2706}"/>
                </a:ext>
              </a:extLst>
            </p:cNvPr>
            <p:cNvGrpSpPr/>
            <p:nvPr/>
          </p:nvGrpSpPr>
          <p:grpSpPr>
            <a:xfrm>
              <a:off x="1982321" y="3005521"/>
              <a:ext cx="649091" cy="631660"/>
              <a:chOff x="540799" y="2865453"/>
              <a:chExt cx="1229935" cy="1325994"/>
            </a:xfrm>
            <a:grpFill/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00595F6-766A-E668-CECF-C84E9926AA7B}"/>
                  </a:ext>
                </a:extLst>
              </p:cNvPr>
              <p:cNvSpPr/>
              <p:nvPr/>
            </p:nvSpPr>
            <p:spPr bwMode="auto">
              <a:xfrm>
                <a:off x="540799" y="2865453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Lakehouse</a:t>
                </a:r>
              </a:p>
            </p:txBody>
          </p:sp>
          <p:pic>
            <p:nvPicPr>
              <p:cNvPr id="15" name="Picture 14" descr="A blue and white sign with waves&#10;&#10;Description automatically generated">
                <a:extLst>
                  <a:ext uri="{FF2B5EF4-FFF2-40B4-BE49-F238E27FC236}">
                    <a16:creationId xmlns:a16="http://schemas.microsoft.com/office/drawing/2014/main" id="{5C5C756D-226F-6D02-5022-B5F320FF3E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453" y="2962982"/>
                <a:ext cx="908459" cy="904825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2D94725-8C00-E91E-7E00-B6244AB36A12}"/>
              </a:ext>
            </a:extLst>
          </p:cNvPr>
          <p:cNvGrpSpPr/>
          <p:nvPr/>
        </p:nvGrpSpPr>
        <p:grpSpPr>
          <a:xfrm>
            <a:off x="2605150" y="1034912"/>
            <a:ext cx="1609628" cy="909605"/>
            <a:chOff x="1112772" y="2799792"/>
            <a:chExt cx="1609628" cy="909605"/>
          </a:xfrm>
          <a:solidFill>
            <a:schemeClr val="bg1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0391694-9E74-22ED-FC33-C14F4A278A69}"/>
                </a:ext>
              </a:extLst>
            </p:cNvPr>
            <p:cNvSpPr/>
            <p:nvPr/>
          </p:nvSpPr>
          <p:spPr bwMode="auto">
            <a:xfrm>
              <a:off x="1112772" y="2799792"/>
              <a:ext cx="1609628" cy="90960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Silver Layer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571328C-D1DF-6D00-28DE-9FB83651560E}"/>
                </a:ext>
              </a:extLst>
            </p:cNvPr>
            <p:cNvGrpSpPr/>
            <p:nvPr/>
          </p:nvGrpSpPr>
          <p:grpSpPr>
            <a:xfrm>
              <a:off x="1210222" y="2996662"/>
              <a:ext cx="652829" cy="635297"/>
              <a:chOff x="1943154" y="2871362"/>
              <a:chExt cx="1229935" cy="1325994"/>
            </a:xfrm>
            <a:grpFill/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2D2D531-F418-598F-0C62-C373E46F313F}"/>
                  </a:ext>
                </a:extLst>
              </p:cNvPr>
              <p:cNvSpPr/>
              <p:nvPr/>
            </p:nvSpPr>
            <p:spPr bwMode="auto">
              <a:xfrm>
                <a:off x="1943154" y="2871362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Notebook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5" name="Picture 24" descr="A white book with a green symbol&#10;&#10;Description automatically generated">
                <a:extLst>
                  <a:ext uri="{FF2B5EF4-FFF2-40B4-BE49-F238E27FC236}">
                    <a16:creationId xmlns:a16="http://schemas.microsoft.com/office/drawing/2014/main" id="{A588682C-A334-3F76-DBDD-C0E6BC1835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6142" y="3007327"/>
                <a:ext cx="876399" cy="872892"/>
              </a:xfrm>
              <a:prstGeom prst="rect">
                <a:avLst/>
              </a:prstGeom>
              <a:grpFill/>
            </p:spPr>
          </p:pic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7C49241-F13C-8CFE-E7AA-2EFF57644D41}"/>
                </a:ext>
              </a:extLst>
            </p:cNvPr>
            <p:cNvGrpSpPr/>
            <p:nvPr/>
          </p:nvGrpSpPr>
          <p:grpSpPr>
            <a:xfrm>
              <a:off x="1982321" y="3005521"/>
              <a:ext cx="649091" cy="631660"/>
              <a:chOff x="540799" y="2865453"/>
              <a:chExt cx="1229935" cy="1325994"/>
            </a:xfrm>
            <a:grpFill/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D3CC541-42C7-5067-DBCD-0627DBE69A20}"/>
                  </a:ext>
                </a:extLst>
              </p:cNvPr>
              <p:cNvSpPr/>
              <p:nvPr/>
            </p:nvSpPr>
            <p:spPr bwMode="auto">
              <a:xfrm>
                <a:off x="540799" y="2865453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Lakehouse</a:t>
                </a:r>
              </a:p>
            </p:txBody>
          </p:sp>
          <p:pic>
            <p:nvPicPr>
              <p:cNvPr id="23" name="Picture 22" descr="A blue and white sign with waves&#10;&#10;Description automatically generated">
                <a:extLst>
                  <a:ext uri="{FF2B5EF4-FFF2-40B4-BE49-F238E27FC236}">
                    <a16:creationId xmlns:a16="http://schemas.microsoft.com/office/drawing/2014/main" id="{F195FB61-7D86-4885-0BD5-88A1F2EFF7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453" y="2962982"/>
                <a:ext cx="908459" cy="904825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FD2D66B-A04D-0899-2E72-E12B2481CD2F}"/>
              </a:ext>
            </a:extLst>
          </p:cNvPr>
          <p:cNvGrpSpPr/>
          <p:nvPr/>
        </p:nvGrpSpPr>
        <p:grpSpPr>
          <a:xfrm>
            <a:off x="4927136" y="1034912"/>
            <a:ext cx="1609628" cy="909605"/>
            <a:chOff x="1112772" y="2799792"/>
            <a:chExt cx="1609628" cy="909605"/>
          </a:xfrm>
          <a:solidFill>
            <a:schemeClr val="bg1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373259F-006C-8B8D-DE78-AC980FCBF5DB}"/>
                </a:ext>
              </a:extLst>
            </p:cNvPr>
            <p:cNvSpPr/>
            <p:nvPr/>
          </p:nvSpPr>
          <p:spPr bwMode="auto">
            <a:xfrm>
              <a:off x="1112772" y="2799792"/>
              <a:ext cx="1609628" cy="90960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Gold Layer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E76705-A35F-D188-DF9A-75352B487BA8}"/>
                </a:ext>
              </a:extLst>
            </p:cNvPr>
            <p:cNvGrpSpPr/>
            <p:nvPr/>
          </p:nvGrpSpPr>
          <p:grpSpPr>
            <a:xfrm>
              <a:off x="1210222" y="2996662"/>
              <a:ext cx="652829" cy="635297"/>
              <a:chOff x="1943154" y="2871362"/>
              <a:chExt cx="1229935" cy="1325994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CC2B73D-4286-29D9-E094-0C8D3C6A391C}"/>
                  </a:ext>
                </a:extLst>
              </p:cNvPr>
              <p:cNvSpPr/>
              <p:nvPr/>
            </p:nvSpPr>
            <p:spPr bwMode="auto">
              <a:xfrm>
                <a:off x="1943154" y="2871362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Notebook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3" name="Picture 32" descr="A white book with a green symbol&#10;&#10;Description automatically generated">
                <a:extLst>
                  <a:ext uri="{FF2B5EF4-FFF2-40B4-BE49-F238E27FC236}">
                    <a16:creationId xmlns:a16="http://schemas.microsoft.com/office/drawing/2014/main" id="{56CC3391-CCA5-48B6-4E18-46D7F45B6F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6142" y="3007327"/>
                <a:ext cx="876399" cy="872892"/>
              </a:xfrm>
              <a:prstGeom prst="rect">
                <a:avLst/>
              </a:prstGeom>
              <a:grpFill/>
            </p:spPr>
          </p:pic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0A1062F-EE6E-BCEE-76EB-FEBB3CFC9558}"/>
                </a:ext>
              </a:extLst>
            </p:cNvPr>
            <p:cNvGrpSpPr/>
            <p:nvPr/>
          </p:nvGrpSpPr>
          <p:grpSpPr>
            <a:xfrm>
              <a:off x="1982321" y="3005521"/>
              <a:ext cx="649091" cy="631660"/>
              <a:chOff x="540799" y="2865453"/>
              <a:chExt cx="1229935" cy="1325994"/>
            </a:xfrm>
            <a:grpFill/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A223D61-6990-92F5-7DEF-34154928B0AA}"/>
                  </a:ext>
                </a:extLst>
              </p:cNvPr>
              <p:cNvSpPr/>
              <p:nvPr/>
            </p:nvSpPr>
            <p:spPr bwMode="auto">
              <a:xfrm>
                <a:off x="540799" y="2865453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Lakehouse</a:t>
                </a:r>
              </a:p>
            </p:txBody>
          </p:sp>
          <p:pic>
            <p:nvPicPr>
              <p:cNvPr id="31" name="Picture 30" descr="A blue and white sign with waves&#10;&#10;Description automatically generated">
                <a:extLst>
                  <a:ext uri="{FF2B5EF4-FFF2-40B4-BE49-F238E27FC236}">
                    <a16:creationId xmlns:a16="http://schemas.microsoft.com/office/drawing/2014/main" id="{0C93376F-C90D-6203-0349-D7F5582665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453" y="2962982"/>
                <a:ext cx="908459" cy="904825"/>
              </a:xfrm>
              <a:prstGeom prst="rect">
                <a:avLst/>
              </a:prstGeom>
              <a:grpFill/>
            </p:spPr>
          </p:pic>
        </p:grp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C18A289D-ACBD-14F6-5180-2680AA6E4650}"/>
              </a:ext>
            </a:extLst>
          </p:cNvPr>
          <p:cNvSpPr/>
          <p:nvPr/>
        </p:nvSpPr>
        <p:spPr bwMode="auto">
          <a:xfrm>
            <a:off x="1292261" y="3503274"/>
            <a:ext cx="7097438" cy="12724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Solution Workspace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5609ADB-8846-0153-FBD7-CF81B782B11A}"/>
              </a:ext>
            </a:extLst>
          </p:cNvPr>
          <p:cNvSpPr/>
          <p:nvPr/>
        </p:nvSpPr>
        <p:spPr bwMode="auto">
          <a:xfrm>
            <a:off x="6619035" y="3781778"/>
            <a:ext cx="1609628" cy="9096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Presentation Layer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1BD800A-5EE7-AE40-7B90-7B559A9E64C5}"/>
              </a:ext>
            </a:extLst>
          </p:cNvPr>
          <p:cNvGrpSpPr/>
          <p:nvPr/>
        </p:nvGrpSpPr>
        <p:grpSpPr>
          <a:xfrm>
            <a:off x="6733161" y="3997888"/>
            <a:ext cx="649091" cy="631660"/>
            <a:chOff x="6295914" y="1428878"/>
            <a:chExt cx="1693119" cy="182535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198F26B-DAE3-73BC-1043-A986A1AD186C}"/>
                </a:ext>
              </a:extLst>
            </p:cNvPr>
            <p:cNvSpPr/>
            <p:nvPr/>
          </p:nvSpPr>
          <p:spPr bwMode="auto">
            <a:xfrm>
              <a:off x="6295914" y="1428878"/>
              <a:ext cx="1693119" cy="182535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952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Semantic Model</a:t>
              </a:r>
            </a:p>
          </p:txBody>
        </p:sp>
        <p:pic>
          <p:nvPicPr>
            <p:cNvPr id="41" name="Picture 40" descr="A white square with purple dots&#10;&#10;Description automatically generated">
              <a:extLst>
                <a:ext uri="{FF2B5EF4-FFF2-40B4-BE49-F238E27FC236}">
                  <a16:creationId xmlns:a16="http://schemas.microsoft.com/office/drawing/2014/main" id="{2A8FC871-070A-B514-51A4-E25FB4DFD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6779" y="1536648"/>
              <a:ext cx="1311387" cy="1300896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64A4403-29B3-68F8-343F-AE04170613A8}"/>
              </a:ext>
            </a:extLst>
          </p:cNvPr>
          <p:cNvGrpSpPr/>
          <p:nvPr/>
        </p:nvGrpSpPr>
        <p:grpSpPr>
          <a:xfrm>
            <a:off x="7473088" y="3997888"/>
            <a:ext cx="650995" cy="631660"/>
            <a:chOff x="6503915" y="831583"/>
            <a:chExt cx="1229935" cy="132599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102F05E-E790-D9DA-91D9-6615D8671359}"/>
                </a:ext>
              </a:extLst>
            </p:cNvPr>
            <p:cNvSpPr/>
            <p:nvPr/>
          </p:nvSpPr>
          <p:spPr bwMode="auto">
            <a:xfrm>
              <a:off x="6503915" y="831583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Report</a:t>
              </a:r>
            </a:p>
          </p:txBody>
        </p:sp>
        <p:pic>
          <p:nvPicPr>
            <p:cNvPr id="39" name="Picture 38" descr="A white square with a graph&#10;&#10;Description automatically generated">
              <a:extLst>
                <a:ext uri="{FF2B5EF4-FFF2-40B4-BE49-F238E27FC236}">
                  <a16:creationId xmlns:a16="http://schemas.microsoft.com/office/drawing/2014/main" id="{5386D55F-C4D2-B995-BB3F-935AAFFA3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2565" y="904155"/>
              <a:ext cx="952633" cy="948822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121CAF9-5B5A-7478-0EBA-91728EAA4B34}"/>
              </a:ext>
            </a:extLst>
          </p:cNvPr>
          <p:cNvGrpSpPr/>
          <p:nvPr/>
        </p:nvGrpSpPr>
        <p:grpSpPr>
          <a:xfrm>
            <a:off x="1434795" y="3755978"/>
            <a:ext cx="1609628" cy="909605"/>
            <a:chOff x="1112772" y="2799792"/>
            <a:chExt cx="1609628" cy="909605"/>
          </a:xfrm>
          <a:solidFill>
            <a:schemeClr val="bg1"/>
          </a:solidFill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E191909-6024-863A-BEBC-86CBD908CECA}"/>
                </a:ext>
              </a:extLst>
            </p:cNvPr>
            <p:cNvSpPr/>
            <p:nvPr/>
          </p:nvSpPr>
          <p:spPr bwMode="auto">
            <a:xfrm>
              <a:off x="1112772" y="2799792"/>
              <a:ext cx="1609628" cy="90960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Bronze Layer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388E4B9-85EF-3989-415B-8DB0ECAC59B8}"/>
                </a:ext>
              </a:extLst>
            </p:cNvPr>
            <p:cNvGrpSpPr/>
            <p:nvPr/>
          </p:nvGrpSpPr>
          <p:grpSpPr>
            <a:xfrm>
              <a:off x="1210222" y="2996662"/>
              <a:ext cx="652829" cy="635297"/>
              <a:chOff x="1943154" y="2871362"/>
              <a:chExt cx="1229935" cy="1325994"/>
            </a:xfrm>
            <a:grpFill/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4AA0155-D250-41F7-6E69-293A7B57F93C}"/>
                  </a:ext>
                </a:extLst>
              </p:cNvPr>
              <p:cNvSpPr/>
              <p:nvPr/>
            </p:nvSpPr>
            <p:spPr bwMode="auto">
              <a:xfrm>
                <a:off x="1943154" y="2871362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Notebook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43" name="Picture 42" descr="A white book with a green symbol&#10;&#10;Description automatically generated">
                <a:extLst>
                  <a:ext uri="{FF2B5EF4-FFF2-40B4-BE49-F238E27FC236}">
                    <a16:creationId xmlns:a16="http://schemas.microsoft.com/office/drawing/2014/main" id="{6761F5B7-961D-91D0-F36B-BAE7E6B451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6142" y="3007327"/>
                <a:ext cx="876399" cy="872892"/>
              </a:xfrm>
              <a:prstGeom prst="rect">
                <a:avLst/>
              </a:prstGeom>
              <a:grpFill/>
            </p:spPr>
          </p:pic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DB80028-8326-D5EF-BE1B-004BBD1DFF2B}"/>
                </a:ext>
              </a:extLst>
            </p:cNvPr>
            <p:cNvGrpSpPr/>
            <p:nvPr/>
          </p:nvGrpSpPr>
          <p:grpSpPr>
            <a:xfrm>
              <a:off x="1982321" y="3005521"/>
              <a:ext cx="649091" cy="631660"/>
              <a:chOff x="540799" y="2865453"/>
              <a:chExt cx="1229935" cy="1325994"/>
            </a:xfrm>
            <a:grpFill/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E00D014-3670-7988-E543-B7572943DE45}"/>
                  </a:ext>
                </a:extLst>
              </p:cNvPr>
              <p:cNvSpPr/>
              <p:nvPr/>
            </p:nvSpPr>
            <p:spPr bwMode="auto">
              <a:xfrm>
                <a:off x="540799" y="2865453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Lakehouse</a:t>
                </a:r>
              </a:p>
            </p:txBody>
          </p:sp>
          <p:pic>
            <p:nvPicPr>
              <p:cNvPr id="47" name="Picture 46" descr="A blue and white sign with waves&#10;&#10;Description automatically generated">
                <a:extLst>
                  <a:ext uri="{FF2B5EF4-FFF2-40B4-BE49-F238E27FC236}">
                    <a16:creationId xmlns:a16="http://schemas.microsoft.com/office/drawing/2014/main" id="{8C2862AA-66BA-E180-D431-D022C0C4A7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453" y="2962982"/>
                <a:ext cx="908459" cy="904825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C8FF40C-3D34-DBB9-1E45-093A445EF77F}"/>
              </a:ext>
            </a:extLst>
          </p:cNvPr>
          <p:cNvGrpSpPr/>
          <p:nvPr/>
        </p:nvGrpSpPr>
        <p:grpSpPr>
          <a:xfrm>
            <a:off x="3183382" y="3768878"/>
            <a:ext cx="1609628" cy="909605"/>
            <a:chOff x="1112772" y="2799792"/>
            <a:chExt cx="1609628" cy="909605"/>
          </a:xfrm>
          <a:solidFill>
            <a:schemeClr val="bg1"/>
          </a:solidFill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383A9E2-386B-C19F-3F61-2733EB9C072C}"/>
                </a:ext>
              </a:extLst>
            </p:cNvPr>
            <p:cNvSpPr/>
            <p:nvPr/>
          </p:nvSpPr>
          <p:spPr bwMode="auto">
            <a:xfrm>
              <a:off x="1112772" y="2799792"/>
              <a:ext cx="1609628" cy="90960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Silver Layer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8A7AAF1A-2A76-0134-2B07-FF702668F11C}"/>
                </a:ext>
              </a:extLst>
            </p:cNvPr>
            <p:cNvGrpSpPr/>
            <p:nvPr/>
          </p:nvGrpSpPr>
          <p:grpSpPr>
            <a:xfrm>
              <a:off x="1210222" y="2996662"/>
              <a:ext cx="652829" cy="635297"/>
              <a:chOff x="1943154" y="2871362"/>
              <a:chExt cx="1229935" cy="1325994"/>
            </a:xfrm>
            <a:grpFill/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E73AFD60-C9C8-DB7D-344F-494A026C0750}"/>
                  </a:ext>
                </a:extLst>
              </p:cNvPr>
              <p:cNvSpPr/>
              <p:nvPr/>
            </p:nvSpPr>
            <p:spPr bwMode="auto">
              <a:xfrm>
                <a:off x="1943154" y="2871362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Notebook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72" name="Picture 71" descr="A white book with a green symbol&#10;&#10;Description automatically generated">
                <a:extLst>
                  <a:ext uri="{FF2B5EF4-FFF2-40B4-BE49-F238E27FC236}">
                    <a16:creationId xmlns:a16="http://schemas.microsoft.com/office/drawing/2014/main" id="{AE73016D-9062-0B85-6082-0C932C4506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6142" y="3007327"/>
                <a:ext cx="876399" cy="872892"/>
              </a:xfrm>
              <a:prstGeom prst="rect">
                <a:avLst/>
              </a:prstGeom>
              <a:grpFill/>
            </p:spPr>
          </p:pic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CBF25253-9956-E605-4089-B4EEC434912B}"/>
                </a:ext>
              </a:extLst>
            </p:cNvPr>
            <p:cNvGrpSpPr/>
            <p:nvPr/>
          </p:nvGrpSpPr>
          <p:grpSpPr>
            <a:xfrm>
              <a:off x="1982321" y="3005521"/>
              <a:ext cx="649091" cy="631660"/>
              <a:chOff x="540799" y="2865453"/>
              <a:chExt cx="1229935" cy="1325994"/>
            </a:xfrm>
            <a:grpFill/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855D72C-D0DE-531B-ED24-268D0080010E}"/>
                  </a:ext>
                </a:extLst>
              </p:cNvPr>
              <p:cNvSpPr/>
              <p:nvPr/>
            </p:nvSpPr>
            <p:spPr bwMode="auto">
              <a:xfrm>
                <a:off x="540799" y="2865453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Lakehouse</a:t>
                </a:r>
              </a:p>
            </p:txBody>
          </p:sp>
          <p:pic>
            <p:nvPicPr>
              <p:cNvPr id="70" name="Picture 69" descr="A blue and white sign with waves&#10;&#10;Description automatically generated">
                <a:extLst>
                  <a:ext uri="{FF2B5EF4-FFF2-40B4-BE49-F238E27FC236}">
                    <a16:creationId xmlns:a16="http://schemas.microsoft.com/office/drawing/2014/main" id="{8AD4010B-A8B9-6D6C-CDF3-202AA987DD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453" y="2962982"/>
                <a:ext cx="908459" cy="904825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904075B-EC26-05F0-7B52-88E73CCA0D65}"/>
              </a:ext>
            </a:extLst>
          </p:cNvPr>
          <p:cNvGrpSpPr/>
          <p:nvPr/>
        </p:nvGrpSpPr>
        <p:grpSpPr>
          <a:xfrm>
            <a:off x="4912280" y="3768878"/>
            <a:ext cx="1609628" cy="909605"/>
            <a:chOff x="1112772" y="2799792"/>
            <a:chExt cx="1609628" cy="909605"/>
          </a:xfrm>
          <a:solidFill>
            <a:schemeClr val="bg1"/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D6061BE-5D5B-A0A4-D962-1660AB5E8A28}"/>
                </a:ext>
              </a:extLst>
            </p:cNvPr>
            <p:cNvSpPr/>
            <p:nvPr/>
          </p:nvSpPr>
          <p:spPr bwMode="auto">
            <a:xfrm>
              <a:off x="1112772" y="2799792"/>
              <a:ext cx="1609628" cy="90960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Gold Layer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F7D309BE-A653-F16C-F5F9-2F7E85273551}"/>
                </a:ext>
              </a:extLst>
            </p:cNvPr>
            <p:cNvGrpSpPr/>
            <p:nvPr/>
          </p:nvGrpSpPr>
          <p:grpSpPr>
            <a:xfrm>
              <a:off x="1210222" y="2996662"/>
              <a:ext cx="652829" cy="635297"/>
              <a:chOff x="1943154" y="2871362"/>
              <a:chExt cx="1229935" cy="1325994"/>
            </a:xfrm>
            <a:grpFill/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47EE5269-8829-4BE9-7F41-8D5549B184CC}"/>
                  </a:ext>
                </a:extLst>
              </p:cNvPr>
              <p:cNvSpPr/>
              <p:nvPr/>
            </p:nvSpPr>
            <p:spPr bwMode="auto">
              <a:xfrm>
                <a:off x="1943154" y="2871362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Notebook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80" name="Picture 79" descr="A white book with a green symbol&#10;&#10;Description automatically generated">
                <a:extLst>
                  <a:ext uri="{FF2B5EF4-FFF2-40B4-BE49-F238E27FC236}">
                    <a16:creationId xmlns:a16="http://schemas.microsoft.com/office/drawing/2014/main" id="{E08FDCF1-E4AA-8E14-D406-F9756758A3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6142" y="3007327"/>
                <a:ext cx="876399" cy="872892"/>
              </a:xfrm>
              <a:prstGeom prst="rect">
                <a:avLst/>
              </a:prstGeom>
              <a:grpFill/>
            </p:spPr>
          </p:pic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8067C2E5-9BCA-2AA3-6A1A-F90ADEE88836}"/>
                </a:ext>
              </a:extLst>
            </p:cNvPr>
            <p:cNvGrpSpPr/>
            <p:nvPr/>
          </p:nvGrpSpPr>
          <p:grpSpPr>
            <a:xfrm>
              <a:off x="1982321" y="3005521"/>
              <a:ext cx="649091" cy="631660"/>
              <a:chOff x="540799" y="2865453"/>
              <a:chExt cx="1229935" cy="1325994"/>
            </a:xfrm>
            <a:grpFill/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77D219E2-A58C-9DEB-A02C-13F0E6ACB5A9}"/>
                  </a:ext>
                </a:extLst>
              </p:cNvPr>
              <p:cNvSpPr/>
              <p:nvPr/>
            </p:nvSpPr>
            <p:spPr bwMode="auto">
              <a:xfrm>
                <a:off x="540799" y="2865453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Lakehouse</a:t>
                </a:r>
              </a:p>
            </p:txBody>
          </p:sp>
          <p:pic>
            <p:nvPicPr>
              <p:cNvPr id="78" name="Picture 77" descr="A blue and white sign with waves&#10;&#10;Description automatically generated">
                <a:extLst>
                  <a:ext uri="{FF2B5EF4-FFF2-40B4-BE49-F238E27FC236}">
                    <a16:creationId xmlns:a16="http://schemas.microsoft.com/office/drawing/2014/main" id="{D61FFF17-1849-CEFF-5EC2-06ECC0A0D8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453" y="2962982"/>
                <a:ext cx="908459" cy="904825"/>
              </a:xfrm>
              <a:prstGeom prst="rect">
                <a:avLst/>
              </a:prstGeom>
              <a:grpFill/>
            </p:spPr>
          </p:pic>
        </p:grpSp>
      </p:grpSp>
    </p:spTree>
    <p:extLst>
      <p:ext uri="{BB962C8B-B14F-4D97-AF65-F5344CB8AC3E}">
        <p14:creationId xmlns:p14="http://schemas.microsoft.com/office/powerpoint/2010/main" val="110922292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0C20FF-7CA5-A94B-6922-843CFAA16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09" y="520284"/>
            <a:ext cx="5285592" cy="2730161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0813216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B1260-E897-08F6-0780-4117A979E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GIT Repository in GitHub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4B709A-3F5D-C84D-BE1E-A78137DDE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18" y="1639714"/>
            <a:ext cx="3605596" cy="30714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E9029D-2B6F-8030-65B0-0B9397A90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603" y="1639714"/>
            <a:ext cx="2930972" cy="307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68866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A4C0D-83ED-7EF0-D9F2-895449FF6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8A8F770-E47F-70FE-3BD1-EFF4CA7E26E4}"/>
              </a:ext>
            </a:extLst>
          </p:cNvPr>
          <p:cNvSpPr/>
          <p:nvPr/>
        </p:nvSpPr>
        <p:spPr bwMode="auto">
          <a:xfrm flipV="1">
            <a:off x="1331843" y="536711"/>
            <a:ext cx="6549887" cy="38762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1B0931B-A1CA-1C45-CFB2-7F73A429B144}"/>
              </a:ext>
            </a:extLst>
          </p:cNvPr>
          <p:cNvGrpSpPr/>
          <p:nvPr/>
        </p:nvGrpSpPr>
        <p:grpSpPr>
          <a:xfrm>
            <a:off x="5864433" y="1296689"/>
            <a:ext cx="1638981" cy="2925845"/>
            <a:chOff x="424852" y="523992"/>
            <a:chExt cx="1638981" cy="334073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4DA7FCE-3D75-BD2D-339B-FE309A744192}"/>
                </a:ext>
              </a:extLst>
            </p:cNvPr>
            <p:cNvSpPr/>
            <p:nvPr/>
          </p:nvSpPr>
          <p:spPr bwMode="auto">
            <a:xfrm>
              <a:off x="424852" y="2867767"/>
              <a:ext cx="1632212" cy="99696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3F540BB-4409-F797-5FD2-880FD4364CE0}"/>
                </a:ext>
              </a:extLst>
            </p:cNvPr>
            <p:cNvSpPr/>
            <p:nvPr/>
          </p:nvSpPr>
          <p:spPr bwMode="auto">
            <a:xfrm>
              <a:off x="431621" y="1673843"/>
              <a:ext cx="1625443" cy="98277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8DC73A1-226D-7AC9-76A3-C8ACBAD2551B}"/>
                </a:ext>
              </a:extLst>
            </p:cNvPr>
            <p:cNvSpPr/>
            <p:nvPr/>
          </p:nvSpPr>
          <p:spPr bwMode="auto">
            <a:xfrm>
              <a:off x="438390" y="523992"/>
              <a:ext cx="1625443" cy="982770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3BF036C-2BEE-346F-4D91-E7A7944FBFB1}"/>
              </a:ext>
            </a:extLst>
          </p:cNvPr>
          <p:cNvGrpSpPr/>
          <p:nvPr/>
        </p:nvGrpSpPr>
        <p:grpSpPr>
          <a:xfrm>
            <a:off x="1550489" y="785905"/>
            <a:ext cx="3112117" cy="3348774"/>
            <a:chOff x="704509" y="815722"/>
            <a:chExt cx="3420230" cy="356768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F568941-1593-753D-670C-BD33750DF5B7}"/>
                </a:ext>
              </a:extLst>
            </p:cNvPr>
            <p:cNvSpPr/>
            <p:nvPr/>
          </p:nvSpPr>
          <p:spPr bwMode="auto">
            <a:xfrm>
              <a:off x="704509" y="1208418"/>
              <a:ext cx="3420230" cy="31749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F34ECDD-BD0E-3A88-0ACF-10DB04051DE0}"/>
                </a:ext>
              </a:extLst>
            </p:cNvPr>
            <p:cNvSpPr/>
            <p:nvPr/>
          </p:nvSpPr>
          <p:spPr bwMode="auto">
            <a:xfrm>
              <a:off x="704509" y="815722"/>
              <a:ext cx="3420230" cy="39269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GIT Repository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F7BE747-38CA-E286-6B83-B0390695FC95}"/>
              </a:ext>
            </a:extLst>
          </p:cNvPr>
          <p:cNvGrpSpPr/>
          <p:nvPr/>
        </p:nvGrpSpPr>
        <p:grpSpPr>
          <a:xfrm>
            <a:off x="1760107" y="1346211"/>
            <a:ext cx="2704893" cy="2579919"/>
            <a:chOff x="833437" y="1316220"/>
            <a:chExt cx="2506112" cy="288856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4B364AC-25FD-6940-C652-7AA672304360}"/>
                </a:ext>
              </a:extLst>
            </p:cNvPr>
            <p:cNvGrpSpPr/>
            <p:nvPr/>
          </p:nvGrpSpPr>
          <p:grpSpPr>
            <a:xfrm>
              <a:off x="833437" y="1316220"/>
              <a:ext cx="2506112" cy="2888569"/>
              <a:chOff x="7045393" y="1196415"/>
              <a:chExt cx="4686574" cy="288856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DB6D126-156D-4E24-A652-99F477D701E1}"/>
                  </a:ext>
                </a:extLst>
              </p:cNvPr>
              <p:cNvSpPr/>
              <p:nvPr/>
            </p:nvSpPr>
            <p:spPr bwMode="auto">
              <a:xfrm>
                <a:off x="7045393" y="1589112"/>
                <a:ext cx="4686574" cy="249587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07B7B70-BF15-CC0D-C144-C9DEC36AAAD6}"/>
                  </a:ext>
                </a:extLst>
              </p:cNvPr>
              <p:cNvSpPr/>
              <p:nvPr/>
            </p:nvSpPr>
            <p:spPr bwMode="auto">
              <a:xfrm>
                <a:off x="7045393" y="1196415"/>
                <a:ext cx="4686574" cy="39269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branches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3B9AE71-A3C1-9540-921A-CCCBF70A8CAB}"/>
                </a:ext>
              </a:extLst>
            </p:cNvPr>
            <p:cNvGrpSpPr/>
            <p:nvPr/>
          </p:nvGrpSpPr>
          <p:grpSpPr>
            <a:xfrm>
              <a:off x="1043858" y="1879117"/>
              <a:ext cx="2057151" cy="2155471"/>
              <a:chOff x="1814748" y="1820181"/>
              <a:chExt cx="1638981" cy="3340738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B86137E-95B4-0C93-4BDC-582BEEAFD049}"/>
                  </a:ext>
                </a:extLst>
              </p:cNvPr>
              <p:cNvSpPr/>
              <p:nvPr/>
            </p:nvSpPr>
            <p:spPr bwMode="auto">
              <a:xfrm>
                <a:off x="1814748" y="4163956"/>
                <a:ext cx="1632212" cy="996963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EB03387-FD9A-FD67-EBFE-9C5E48D6BD6F}"/>
                  </a:ext>
                </a:extLst>
              </p:cNvPr>
              <p:cNvSpPr/>
              <p:nvPr/>
            </p:nvSpPr>
            <p:spPr bwMode="auto">
              <a:xfrm>
                <a:off x="1821517" y="2970032"/>
                <a:ext cx="1625443" cy="98277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01E21C8-F077-E778-CDA5-750CD13EA456}"/>
                  </a:ext>
                </a:extLst>
              </p:cNvPr>
              <p:cNvSpPr/>
              <p:nvPr/>
            </p:nvSpPr>
            <p:spPr bwMode="auto">
              <a:xfrm>
                <a:off x="1828286" y="1820181"/>
                <a:ext cx="1625443" cy="98277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main</a:t>
                </a:r>
              </a:p>
            </p:txBody>
          </p:sp>
        </p:grpSp>
      </p:grp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3078F630-822D-A3C0-FE38-835C980C8954}"/>
              </a:ext>
            </a:extLst>
          </p:cNvPr>
          <p:cNvSpPr/>
          <p:nvPr/>
        </p:nvSpPr>
        <p:spPr bwMode="auto">
          <a:xfrm rot="311469">
            <a:off x="3880107" y="3398340"/>
            <a:ext cx="1831630" cy="338329"/>
          </a:xfrm>
          <a:prstGeom prst="rightArrow">
            <a:avLst/>
          </a:prstGeom>
          <a:solidFill>
            <a:schemeClr val="accent6"/>
          </a:solidFill>
          <a:ln w="19050">
            <a:solidFill>
              <a:srgbClr val="8A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350452F-C10A-E7C7-A28F-1031AE24370C}"/>
              </a:ext>
            </a:extLst>
          </p:cNvPr>
          <p:cNvSpPr/>
          <p:nvPr/>
        </p:nvSpPr>
        <p:spPr bwMode="auto">
          <a:xfrm rot="21429588">
            <a:off x="3864596" y="2578338"/>
            <a:ext cx="1841973" cy="338329"/>
          </a:xfrm>
          <a:prstGeom prst="rightArrow">
            <a:avLst/>
          </a:prstGeom>
          <a:solidFill>
            <a:schemeClr val="accent6"/>
          </a:solidFill>
          <a:ln w="19050">
            <a:solidFill>
              <a:srgbClr val="8A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D2AFAE9-60C2-5C13-4E57-FFC5A2F5C49D}"/>
              </a:ext>
            </a:extLst>
          </p:cNvPr>
          <p:cNvSpPr/>
          <p:nvPr/>
        </p:nvSpPr>
        <p:spPr bwMode="auto">
          <a:xfrm rot="20902663">
            <a:off x="3845890" y="1803778"/>
            <a:ext cx="1876533" cy="338329"/>
          </a:xfrm>
          <a:prstGeom prst="rightArrow">
            <a:avLst/>
          </a:prstGeom>
          <a:solidFill>
            <a:schemeClr val="accent6"/>
          </a:solidFill>
          <a:ln w="19050">
            <a:solidFill>
              <a:srgbClr val="8A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56741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DC55C1E-4467-97AC-9D8C-E325CEF169B1}"/>
              </a:ext>
            </a:extLst>
          </p:cNvPr>
          <p:cNvSpPr/>
          <p:nvPr/>
        </p:nvSpPr>
        <p:spPr bwMode="auto">
          <a:xfrm>
            <a:off x="9458159" y="1954655"/>
            <a:ext cx="2081170" cy="2812775"/>
          </a:xfrm>
          <a:prstGeom prst="rect">
            <a:avLst/>
          </a:prstGeom>
          <a:solidFill>
            <a:srgbClr val="B5FFF6">
              <a:alpha val="25098"/>
            </a:srgb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34DF-3D8D-047E-1A0A-6CF4C786D919}"/>
              </a:ext>
            </a:extLst>
          </p:cNvPr>
          <p:cNvSpPr/>
          <p:nvPr/>
        </p:nvSpPr>
        <p:spPr bwMode="auto">
          <a:xfrm>
            <a:off x="7020028" y="1956696"/>
            <a:ext cx="2292314" cy="2812775"/>
          </a:xfrm>
          <a:prstGeom prst="rect">
            <a:avLst/>
          </a:prstGeom>
          <a:solidFill>
            <a:srgbClr val="C4D7FF">
              <a:alpha val="25098"/>
            </a:srgb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8C485D-3A46-40D1-5373-DDF18F784091}"/>
              </a:ext>
            </a:extLst>
          </p:cNvPr>
          <p:cNvSpPr/>
          <p:nvPr/>
        </p:nvSpPr>
        <p:spPr bwMode="auto">
          <a:xfrm>
            <a:off x="2489200" y="1954655"/>
            <a:ext cx="4368799" cy="2812775"/>
          </a:xfrm>
          <a:prstGeom prst="rect">
            <a:avLst/>
          </a:prstGeom>
          <a:solidFill>
            <a:srgbClr val="FFB6B6">
              <a:alpha val="25098"/>
            </a:srgb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5316FA-3A99-1746-7388-C57FA01FDF73}"/>
              </a:ext>
            </a:extLst>
          </p:cNvPr>
          <p:cNvSpPr/>
          <p:nvPr/>
        </p:nvSpPr>
        <p:spPr bwMode="auto">
          <a:xfrm>
            <a:off x="4885104" y="2191923"/>
            <a:ext cx="1862865" cy="10902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6F9DE8-BFD8-ED75-D80E-6643CBD92F41}"/>
              </a:ext>
            </a:extLst>
          </p:cNvPr>
          <p:cNvSpPr/>
          <p:nvPr/>
        </p:nvSpPr>
        <p:spPr bwMode="auto">
          <a:xfrm>
            <a:off x="7200458" y="2210336"/>
            <a:ext cx="1855140" cy="10746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76C167-CDFD-1E40-7D5A-871E02B6B79C}"/>
              </a:ext>
            </a:extLst>
          </p:cNvPr>
          <p:cNvSpPr/>
          <p:nvPr/>
        </p:nvSpPr>
        <p:spPr bwMode="auto">
          <a:xfrm>
            <a:off x="9577661" y="2191923"/>
            <a:ext cx="1855140" cy="10746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D19C7F-CDC6-9B80-5B50-96450D534E5A}"/>
              </a:ext>
            </a:extLst>
          </p:cNvPr>
          <p:cNvSpPr/>
          <p:nvPr/>
        </p:nvSpPr>
        <p:spPr bwMode="auto">
          <a:xfrm>
            <a:off x="2714219" y="3497262"/>
            <a:ext cx="4033750" cy="109021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capacity</a:t>
            </a:r>
          </a:p>
          <a:p>
            <a:pPr algn="ctr" defTabSz="93247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F4</a:t>
            </a: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B1C838-1AA2-F7A7-6DE6-584484AE0312}"/>
              </a:ext>
            </a:extLst>
          </p:cNvPr>
          <p:cNvSpPr/>
          <p:nvPr/>
        </p:nvSpPr>
        <p:spPr bwMode="auto">
          <a:xfrm>
            <a:off x="7200458" y="3515675"/>
            <a:ext cx="1855140" cy="107469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 capacity</a:t>
            </a:r>
          </a:p>
          <a:p>
            <a:pPr algn="ctr" defTabSz="93247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F16</a:t>
            </a: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00EF02-B190-C265-BC15-B4DE7A75791E}"/>
              </a:ext>
            </a:extLst>
          </p:cNvPr>
          <p:cNvSpPr/>
          <p:nvPr/>
        </p:nvSpPr>
        <p:spPr bwMode="auto">
          <a:xfrm>
            <a:off x="9577661" y="3497262"/>
            <a:ext cx="1855140" cy="1074698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capacity</a:t>
            </a:r>
          </a:p>
          <a:p>
            <a:pPr algn="ctr" defTabSz="93247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F64</a:t>
            </a: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4E2F35-707B-6F63-19EF-AF955CAC9DF2}"/>
              </a:ext>
            </a:extLst>
          </p:cNvPr>
          <p:cNvSpPr/>
          <p:nvPr/>
        </p:nvSpPr>
        <p:spPr bwMode="auto">
          <a:xfrm>
            <a:off x="2714219" y="2182761"/>
            <a:ext cx="1544060" cy="7825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E4C080-BDD2-4C39-B69E-CB7F717FD635}"/>
              </a:ext>
            </a:extLst>
          </p:cNvPr>
          <p:cNvSpPr/>
          <p:nvPr/>
        </p:nvSpPr>
        <p:spPr bwMode="auto">
          <a:xfrm>
            <a:off x="2860036" y="2325950"/>
            <a:ext cx="1544060" cy="7825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5AABA3-AC87-48C0-0204-30D5D2C51FFE}"/>
              </a:ext>
            </a:extLst>
          </p:cNvPr>
          <p:cNvSpPr/>
          <p:nvPr/>
        </p:nvSpPr>
        <p:spPr bwMode="auto">
          <a:xfrm>
            <a:off x="3017250" y="2484064"/>
            <a:ext cx="1544060" cy="7825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</p:spTree>
    <p:extLst>
      <p:ext uri="{BB962C8B-B14F-4D97-AF65-F5344CB8AC3E}">
        <p14:creationId xmlns:p14="http://schemas.microsoft.com/office/powerpoint/2010/main" val="267755312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606FE-4E5B-8171-CEC6-FC35AA66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7BB8096-7BCC-E92B-DE55-AC7F259FA1D6}"/>
              </a:ext>
            </a:extLst>
          </p:cNvPr>
          <p:cNvSpPr/>
          <p:nvPr/>
        </p:nvSpPr>
        <p:spPr bwMode="auto">
          <a:xfrm>
            <a:off x="367171" y="249497"/>
            <a:ext cx="3695245" cy="460654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environment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1425FA2-7388-3994-086C-AB7DE98AB819}"/>
              </a:ext>
            </a:extLst>
          </p:cNvPr>
          <p:cNvGrpSpPr/>
          <p:nvPr/>
        </p:nvGrpSpPr>
        <p:grpSpPr>
          <a:xfrm>
            <a:off x="581279" y="703474"/>
            <a:ext cx="3267031" cy="3959524"/>
            <a:chOff x="849636" y="683596"/>
            <a:chExt cx="3267031" cy="4852490"/>
          </a:xfrm>
        </p:grpSpPr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89796D99-F212-4D66-0957-576930CBC505}"/>
                </a:ext>
              </a:extLst>
            </p:cNvPr>
            <p:cNvSpPr/>
            <p:nvPr/>
          </p:nvSpPr>
          <p:spPr bwMode="auto">
            <a:xfrm rot="16200000">
              <a:off x="787145" y="248692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1BA4DAB-12F7-6729-5AF5-BB410B9CAD1A}"/>
                </a:ext>
              </a:extLst>
            </p:cNvPr>
            <p:cNvSpPr/>
            <p:nvPr/>
          </p:nvSpPr>
          <p:spPr bwMode="auto">
            <a:xfrm>
              <a:off x="849636" y="3234579"/>
              <a:ext cx="3267030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capacity (F4)</a:t>
              </a:r>
              <a:endPara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69AB3A-BF60-CA8F-D03C-345F7F19E3F2}"/>
                </a:ext>
              </a:extLst>
            </p:cNvPr>
            <p:cNvSpPr/>
            <p:nvPr/>
          </p:nvSpPr>
          <p:spPr bwMode="auto">
            <a:xfrm>
              <a:off x="849636" y="1526222"/>
              <a:ext cx="3267031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Key Vault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secure SPN credentials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C631A79-6FFE-15E6-055A-7FD34389B1C3}"/>
                </a:ext>
              </a:extLst>
            </p:cNvPr>
            <p:cNvSpPr/>
            <p:nvPr/>
          </p:nvSpPr>
          <p:spPr bwMode="auto">
            <a:xfrm>
              <a:off x="849636" y="683596"/>
              <a:ext cx="3267031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Entra Id Application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authenticate as SPN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F99CE39-BC5E-C848-82AC-DF831E0493AA}"/>
                </a:ext>
              </a:extLst>
            </p:cNvPr>
            <p:cNvSpPr/>
            <p:nvPr/>
          </p:nvSpPr>
          <p:spPr bwMode="auto">
            <a:xfrm>
              <a:off x="849636" y="2368848"/>
              <a:ext cx="3267031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Storage Account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store data files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A8B8DF5-BE5F-038D-B61E-4C5C31075991}"/>
                </a:ext>
              </a:extLst>
            </p:cNvPr>
            <p:cNvSpPr/>
            <p:nvPr/>
          </p:nvSpPr>
          <p:spPr bwMode="auto">
            <a:xfrm>
              <a:off x="849636" y="4037558"/>
              <a:ext cx="3267030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Workspace</a:t>
              </a:r>
              <a:endPara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E7E152-FCFC-E1F4-5F63-76EAAE2CC7A7}"/>
                </a:ext>
              </a:extLst>
            </p:cNvPr>
            <p:cNvSpPr/>
            <p:nvPr/>
          </p:nvSpPr>
          <p:spPr bwMode="auto">
            <a:xfrm>
              <a:off x="849636" y="4840537"/>
              <a:ext cx="3267030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Connection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to Azure storage account</a:t>
              </a:r>
              <a:endParaRPr lang="en-US" sz="10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D4EF8610-3DC5-CC16-2CB2-84D4197818B7}"/>
              </a:ext>
            </a:extLst>
          </p:cNvPr>
          <p:cNvSpPr/>
          <p:nvPr/>
        </p:nvSpPr>
        <p:spPr bwMode="auto">
          <a:xfrm>
            <a:off x="4441331" y="249497"/>
            <a:ext cx="3695245" cy="460654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 environment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4DF0EB6-C75F-2427-084D-A3BDB2865A78}"/>
              </a:ext>
            </a:extLst>
          </p:cNvPr>
          <p:cNvGrpSpPr/>
          <p:nvPr/>
        </p:nvGrpSpPr>
        <p:grpSpPr>
          <a:xfrm>
            <a:off x="4655439" y="703474"/>
            <a:ext cx="3267031" cy="3959524"/>
            <a:chOff x="849636" y="683596"/>
            <a:chExt cx="3267031" cy="4852490"/>
          </a:xfrm>
        </p:grpSpPr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D724660B-888A-DA3A-D8F3-0FD866916CBE}"/>
                </a:ext>
              </a:extLst>
            </p:cNvPr>
            <p:cNvSpPr/>
            <p:nvPr/>
          </p:nvSpPr>
          <p:spPr bwMode="auto">
            <a:xfrm rot="16200000">
              <a:off x="787145" y="248692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E49C4A3-4EA5-1A11-6F63-C66BE8C4C214}"/>
                </a:ext>
              </a:extLst>
            </p:cNvPr>
            <p:cNvSpPr/>
            <p:nvPr/>
          </p:nvSpPr>
          <p:spPr bwMode="auto">
            <a:xfrm>
              <a:off x="849636" y="3234579"/>
              <a:ext cx="3267030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capacity (F16)</a:t>
              </a:r>
              <a:endPara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39BF003-C2FB-C45E-5F25-7B05EE59B72C}"/>
                </a:ext>
              </a:extLst>
            </p:cNvPr>
            <p:cNvSpPr/>
            <p:nvPr/>
          </p:nvSpPr>
          <p:spPr bwMode="auto">
            <a:xfrm>
              <a:off x="849636" y="1526222"/>
              <a:ext cx="3267031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Key Vault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secure SPN credentials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0A53293-8D52-18BD-47D4-F72712D4F4A4}"/>
                </a:ext>
              </a:extLst>
            </p:cNvPr>
            <p:cNvSpPr/>
            <p:nvPr/>
          </p:nvSpPr>
          <p:spPr bwMode="auto">
            <a:xfrm>
              <a:off x="849636" y="683596"/>
              <a:ext cx="3267031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Entra Id Application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authenticate as SPN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8C28760-2580-5927-0523-511926C7E694}"/>
                </a:ext>
              </a:extLst>
            </p:cNvPr>
            <p:cNvSpPr/>
            <p:nvPr/>
          </p:nvSpPr>
          <p:spPr bwMode="auto">
            <a:xfrm>
              <a:off x="849636" y="2368848"/>
              <a:ext cx="3267031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Storage Account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store data files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9913558-5CB8-5B12-B07F-C81BC5E9A719}"/>
                </a:ext>
              </a:extLst>
            </p:cNvPr>
            <p:cNvSpPr/>
            <p:nvPr/>
          </p:nvSpPr>
          <p:spPr bwMode="auto">
            <a:xfrm>
              <a:off x="849636" y="4037558"/>
              <a:ext cx="3267030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Workspace</a:t>
              </a:r>
              <a:endPara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CA7EE67-EEBC-4B3F-1335-08363A20F6E8}"/>
                </a:ext>
              </a:extLst>
            </p:cNvPr>
            <p:cNvSpPr/>
            <p:nvPr/>
          </p:nvSpPr>
          <p:spPr bwMode="auto">
            <a:xfrm>
              <a:off x="849636" y="4840537"/>
              <a:ext cx="3267030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Connection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to Azure storage account</a:t>
              </a:r>
              <a:endParaRPr lang="en-US" sz="10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074E7D38-5D16-3F7B-A4A5-B6CD4A179864}"/>
              </a:ext>
            </a:extLst>
          </p:cNvPr>
          <p:cNvSpPr/>
          <p:nvPr/>
        </p:nvSpPr>
        <p:spPr bwMode="auto">
          <a:xfrm>
            <a:off x="8472873" y="249497"/>
            <a:ext cx="3695245" cy="460654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environment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1AFB428-86B4-A1D5-E156-A860A35EAE7C}"/>
              </a:ext>
            </a:extLst>
          </p:cNvPr>
          <p:cNvGrpSpPr/>
          <p:nvPr/>
        </p:nvGrpSpPr>
        <p:grpSpPr>
          <a:xfrm>
            <a:off x="8686981" y="703474"/>
            <a:ext cx="3267031" cy="3959524"/>
            <a:chOff x="849636" y="683596"/>
            <a:chExt cx="3267031" cy="4852490"/>
          </a:xfrm>
        </p:grpSpPr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7D4C24F6-2454-46DD-C538-DF4AE3C2E4F7}"/>
                </a:ext>
              </a:extLst>
            </p:cNvPr>
            <p:cNvSpPr/>
            <p:nvPr/>
          </p:nvSpPr>
          <p:spPr bwMode="auto">
            <a:xfrm rot="16200000">
              <a:off x="787145" y="248692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337624F-F018-6717-6544-A6529659A05D}"/>
                </a:ext>
              </a:extLst>
            </p:cNvPr>
            <p:cNvSpPr/>
            <p:nvPr/>
          </p:nvSpPr>
          <p:spPr bwMode="auto">
            <a:xfrm>
              <a:off x="849636" y="3234579"/>
              <a:ext cx="3267030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capacity (F64)</a:t>
              </a:r>
              <a:endPara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4BFBA6C-301E-69D8-41E8-CC7CADB16692}"/>
                </a:ext>
              </a:extLst>
            </p:cNvPr>
            <p:cNvSpPr/>
            <p:nvPr/>
          </p:nvSpPr>
          <p:spPr bwMode="auto">
            <a:xfrm>
              <a:off x="849636" y="1526222"/>
              <a:ext cx="3267031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Key Vault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secure SPN credentials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F23F821-AE0D-3F08-5573-A9F167221B94}"/>
                </a:ext>
              </a:extLst>
            </p:cNvPr>
            <p:cNvSpPr/>
            <p:nvPr/>
          </p:nvSpPr>
          <p:spPr bwMode="auto">
            <a:xfrm>
              <a:off x="849636" y="683596"/>
              <a:ext cx="3267031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Entra Id Application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authenticate as SPN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026E45D-5A68-66F9-64E5-489BF5265106}"/>
                </a:ext>
              </a:extLst>
            </p:cNvPr>
            <p:cNvSpPr/>
            <p:nvPr/>
          </p:nvSpPr>
          <p:spPr bwMode="auto">
            <a:xfrm>
              <a:off x="849636" y="2368848"/>
              <a:ext cx="3267031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Storage Account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store data files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6753AA2-EB4A-7801-1477-807FA126C32A}"/>
                </a:ext>
              </a:extLst>
            </p:cNvPr>
            <p:cNvSpPr/>
            <p:nvPr/>
          </p:nvSpPr>
          <p:spPr bwMode="auto">
            <a:xfrm>
              <a:off x="849636" y="4037558"/>
              <a:ext cx="3267030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Workspace</a:t>
              </a:r>
              <a:endPara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176E9F3-003D-3C3D-8FD1-81D7818147F0}"/>
                </a:ext>
              </a:extLst>
            </p:cNvPr>
            <p:cNvSpPr/>
            <p:nvPr/>
          </p:nvSpPr>
          <p:spPr bwMode="auto">
            <a:xfrm>
              <a:off x="849636" y="4840537"/>
              <a:ext cx="3267030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Connection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to Azure storage account</a:t>
              </a:r>
              <a:endParaRPr lang="en-US" sz="10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069407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421CA-FF99-E3D1-CE60-0086F2D7A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901B015-973F-06CE-FD81-00149E6E17F4}"/>
              </a:ext>
            </a:extLst>
          </p:cNvPr>
          <p:cNvSpPr/>
          <p:nvPr/>
        </p:nvSpPr>
        <p:spPr bwMode="auto">
          <a:xfrm>
            <a:off x="1520534" y="1931276"/>
            <a:ext cx="7333768" cy="27500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F9AF17D-1D9B-436B-5614-B0D9C658D335}"/>
              </a:ext>
            </a:extLst>
          </p:cNvPr>
          <p:cNvSpPr/>
          <p:nvPr/>
        </p:nvSpPr>
        <p:spPr bwMode="auto">
          <a:xfrm rot="5400000">
            <a:off x="7544354" y="3376453"/>
            <a:ext cx="528689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44DA0A-CAB9-EDA1-F4A0-51C0BA509F9C}"/>
              </a:ext>
            </a:extLst>
          </p:cNvPr>
          <p:cNvSpPr/>
          <p:nvPr/>
        </p:nvSpPr>
        <p:spPr bwMode="auto">
          <a:xfrm>
            <a:off x="1763495" y="2095884"/>
            <a:ext cx="1632212" cy="124366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8D3E5D-8480-2E3B-57B6-0E47E533F981}"/>
              </a:ext>
            </a:extLst>
          </p:cNvPr>
          <p:cNvSpPr/>
          <p:nvPr/>
        </p:nvSpPr>
        <p:spPr bwMode="auto">
          <a:xfrm>
            <a:off x="4374699" y="2113590"/>
            <a:ext cx="1625443" cy="12259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EA7539D-2D62-62A9-0A25-2046C96F48EE}"/>
              </a:ext>
            </a:extLst>
          </p:cNvPr>
          <p:cNvSpPr/>
          <p:nvPr/>
        </p:nvSpPr>
        <p:spPr bwMode="auto">
          <a:xfrm>
            <a:off x="3463005" y="2489290"/>
            <a:ext cx="879837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2DFEE4-419D-F5DF-51D6-AD80EF95AEC2}"/>
              </a:ext>
            </a:extLst>
          </p:cNvPr>
          <p:cNvSpPr/>
          <p:nvPr/>
        </p:nvSpPr>
        <p:spPr bwMode="auto">
          <a:xfrm>
            <a:off x="6995979" y="2113590"/>
            <a:ext cx="1625443" cy="1225958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5749CE5-BE50-45C7-AB51-976A6A8BE75C}"/>
              </a:ext>
            </a:extLst>
          </p:cNvPr>
          <p:cNvSpPr/>
          <p:nvPr/>
        </p:nvSpPr>
        <p:spPr bwMode="auto">
          <a:xfrm>
            <a:off x="6084285" y="2489290"/>
            <a:ext cx="879837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Graphic 10" descr="Database with solid fill">
            <a:extLst>
              <a:ext uri="{FF2B5EF4-FFF2-40B4-BE49-F238E27FC236}">
                <a16:creationId xmlns:a16="http://schemas.microsoft.com/office/drawing/2014/main" id="{1EB11C1E-650E-D561-CC26-EA7B7C473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22399" y="3916017"/>
            <a:ext cx="914400" cy="587721"/>
          </a:xfrm>
          <a:prstGeom prst="rect">
            <a:avLst/>
          </a:prstGeom>
        </p:spPr>
      </p:pic>
      <p:pic>
        <p:nvPicPr>
          <p:cNvPr id="13" name="Graphic 12" descr="Database outline">
            <a:extLst>
              <a:ext uri="{FF2B5EF4-FFF2-40B4-BE49-F238E27FC236}">
                <a16:creationId xmlns:a16="http://schemas.microsoft.com/office/drawing/2014/main" id="{0274E0E5-2194-0DB1-EA46-B717AFE840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4644" y="3806169"/>
            <a:ext cx="1185548" cy="708026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6BF15019-DA71-DB66-A01E-86779A610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0359" y="3793467"/>
            <a:ext cx="1625443" cy="806383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2ADC86ED-0D20-0559-3154-EF9A107C860E}"/>
              </a:ext>
            </a:extLst>
          </p:cNvPr>
          <p:cNvSpPr/>
          <p:nvPr/>
        </p:nvSpPr>
        <p:spPr bwMode="auto">
          <a:xfrm rot="5400000">
            <a:off x="2291365" y="3438927"/>
            <a:ext cx="576468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E0BD12D-627A-E3BA-E877-45EEBC3DDBC7}"/>
              </a:ext>
            </a:extLst>
          </p:cNvPr>
          <p:cNvSpPr/>
          <p:nvPr/>
        </p:nvSpPr>
        <p:spPr bwMode="auto">
          <a:xfrm rot="5400000">
            <a:off x="4936453" y="3389834"/>
            <a:ext cx="501930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55433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E50ACA-8F1C-6082-230F-91A7B2AEC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388" y="1892076"/>
            <a:ext cx="9659698" cy="32103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3465067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A674D5-880B-E557-95CB-FE77CDD12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73" y="615635"/>
            <a:ext cx="8259328" cy="45059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8329594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70E222-9DB7-C339-FB8D-C381E065EB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279"/>
          <a:stretch>
            <a:fillRect/>
          </a:stretch>
        </p:blipFill>
        <p:spPr>
          <a:xfrm>
            <a:off x="1289621" y="569064"/>
            <a:ext cx="3272440" cy="42488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303BB4-2CD1-019A-076E-DAFABBB09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202" y="283364"/>
            <a:ext cx="4641861" cy="43184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016599B-0BC0-8FC0-E47D-725FCEF1F3C3}"/>
              </a:ext>
            </a:extLst>
          </p:cNvPr>
          <p:cNvSpPr/>
          <p:nvPr/>
        </p:nvSpPr>
        <p:spPr bwMode="auto">
          <a:xfrm>
            <a:off x="1449880" y="1626704"/>
            <a:ext cx="2951922" cy="2743200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CED1BF-8D4B-A0CE-E323-98D5C7201564}"/>
              </a:ext>
            </a:extLst>
          </p:cNvPr>
          <p:cNvSpPr/>
          <p:nvPr/>
        </p:nvSpPr>
        <p:spPr bwMode="auto">
          <a:xfrm>
            <a:off x="5400261" y="997225"/>
            <a:ext cx="4002156" cy="1775792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E6480C-50F2-29C7-4C2F-C07B6897C257}"/>
              </a:ext>
            </a:extLst>
          </p:cNvPr>
          <p:cNvSpPr/>
          <p:nvPr/>
        </p:nvSpPr>
        <p:spPr bwMode="auto">
          <a:xfrm>
            <a:off x="5400261" y="2782955"/>
            <a:ext cx="4002156" cy="1818861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01544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F330B2A-E36C-4037-59F5-57599EF31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29" y="592303"/>
            <a:ext cx="10983310" cy="253202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9ECF266-5209-F6E6-EE0B-CC4AE58D0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29" y="3418270"/>
            <a:ext cx="10983310" cy="296384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3584146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7933-EBD6-5CBA-9420-1281A472D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GIT Repository in Azure DevOps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CB8E91-9C0B-5818-0BC3-C48725BF9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70" y="1347869"/>
            <a:ext cx="3908350" cy="24985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062DC7-63DB-90F7-ABFA-A9CF03A5E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887" y="1338917"/>
            <a:ext cx="4118809" cy="25075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497122-198D-16C9-F9F1-B8D6E2B8C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70" y="3995288"/>
            <a:ext cx="2790304" cy="23769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14967227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88E04-D23A-A25B-F1EB-8E9F9E3F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E7FFA56-CE0E-CFF5-B162-583DA80A914D}"/>
              </a:ext>
            </a:extLst>
          </p:cNvPr>
          <p:cNvSpPr/>
          <p:nvPr/>
        </p:nvSpPr>
        <p:spPr bwMode="auto">
          <a:xfrm>
            <a:off x="698157" y="1328512"/>
            <a:ext cx="5066539" cy="20110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D4FBE6-79B5-FC66-133B-7E47E5765745}"/>
              </a:ext>
            </a:extLst>
          </p:cNvPr>
          <p:cNvSpPr/>
          <p:nvPr/>
        </p:nvSpPr>
        <p:spPr bwMode="auto">
          <a:xfrm>
            <a:off x="3699718" y="1506118"/>
            <a:ext cx="1886073" cy="166893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shared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codebase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516FAD5-2F91-29A4-A6E3-9A97FC9B5D67}"/>
              </a:ext>
            </a:extLst>
          </p:cNvPr>
          <p:cNvSpPr/>
          <p:nvPr/>
        </p:nvSpPr>
        <p:spPr bwMode="auto">
          <a:xfrm>
            <a:off x="2188867" y="1536252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5661F-7FA0-1D15-6A83-4A38E66BFB70}"/>
              </a:ext>
            </a:extLst>
          </p:cNvPr>
          <p:cNvSpPr/>
          <p:nvPr/>
        </p:nvSpPr>
        <p:spPr bwMode="auto">
          <a:xfrm>
            <a:off x="855870" y="1506118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B4548C-BDCC-D32D-6DE5-8744F627A835}"/>
              </a:ext>
            </a:extLst>
          </p:cNvPr>
          <p:cNvSpPr/>
          <p:nvPr/>
        </p:nvSpPr>
        <p:spPr bwMode="auto">
          <a:xfrm>
            <a:off x="855870" y="2066022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EDDA63-B437-941E-F89B-82AE159FDC61}"/>
              </a:ext>
            </a:extLst>
          </p:cNvPr>
          <p:cNvSpPr/>
          <p:nvPr/>
        </p:nvSpPr>
        <p:spPr bwMode="auto">
          <a:xfrm>
            <a:off x="855870" y="2715377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52EF814-C49C-2BDD-746A-35D92D467376}"/>
              </a:ext>
            </a:extLst>
          </p:cNvPr>
          <p:cNvSpPr/>
          <p:nvPr/>
        </p:nvSpPr>
        <p:spPr bwMode="auto">
          <a:xfrm>
            <a:off x="2188867" y="2066022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BC2C7C1-A356-D0EC-8558-427D50CA6645}"/>
              </a:ext>
            </a:extLst>
          </p:cNvPr>
          <p:cNvSpPr/>
          <p:nvPr/>
        </p:nvSpPr>
        <p:spPr bwMode="auto">
          <a:xfrm>
            <a:off x="2188867" y="2715377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1803DC-F7E8-E9DA-57CB-CFF73FE1B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237" y="927498"/>
            <a:ext cx="4748373" cy="35757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0331946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48E8-C5E9-83C5-4913-82618CC67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88006CD-3E0A-B5F1-D5D3-5F18712819FA}"/>
              </a:ext>
            </a:extLst>
          </p:cNvPr>
          <p:cNvSpPr/>
          <p:nvPr/>
        </p:nvSpPr>
        <p:spPr bwMode="auto">
          <a:xfrm>
            <a:off x="4933950" y="455294"/>
            <a:ext cx="5736956" cy="23641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9EF327E-9CED-D3B6-7D71-0F80D2233094}"/>
              </a:ext>
            </a:extLst>
          </p:cNvPr>
          <p:cNvGrpSpPr/>
          <p:nvPr/>
        </p:nvGrpSpPr>
        <p:grpSpPr>
          <a:xfrm>
            <a:off x="5239777" y="642159"/>
            <a:ext cx="1261062" cy="2022149"/>
            <a:chOff x="5239777" y="695739"/>
            <a:chExt cx="1261062" cy="260196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21B6421-3A41-68E2-4EB4-7C68FAC23B61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4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A328D0C-D43A-922F-7E0A-08449D6DC882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EBD635B3-B8A4-2DE4-FD12-78887669ABBB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8C61BC-54A7-66AD-8644-54FEFD022CD2}"/>
              </a:ext>
            </a:extLst>
          </p:cNvPr>
          <p:cNvGrpSpPr/>
          <p:nvPr/>
        </p:nvGrpSpPr>
        <p:grpSpPr>
          <a:xfrm>
            <a:off x="7173640" y="642159"/>
            <a:ext cx="1261062" cy="2022149"/>
            <a:chOff x="5239777" y="695739"/>
            <a:chExt cx="1261062" cy="260196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B67A8A7-6221-0CA5-0BED-7F4B8FB36AD9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73B9DC2-491F-33A4-0E76-B1371E0DA67F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EF54572F-2E85-FAB5-C90C-726161384C9E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C892C084-D9CC-7AB7-99CB-AF1B65E0D250}"/>
              </a:ext>
            </a:extLst>
          </p:cNvPr>
          <p:cNvSpPr/>
          <p:nvPr/>
        </p:nvSpPr>
        <p:spPr bwMode="auto">
          <a:xfrm>
            <a:off x="6551805" y="2055698"/>
            <a:ext cx="572820" cy="27268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A59E42B-0B34-D47F-DC2B-0EA60EF9715C}"/>
              </a:ext>
            </a:extLst>
          </p:cNvPr>
          <p:cNvGrpSpPr/>
          <p:nvPr/>
        </p:nvGrpSpPr>
        <p:grpSpPr>
          <a:xfrm>
            <a:off x="9107503" y="642159"/>
            <a:ext cx="1261062" cy="2022149"/>
            <a:chOff x="5239777" y="695739"/>
            <a:chExt cx="1261062" cy="260196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AAFD5E6-3C6F-E3D0-30A3-87D689D406E5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9BC4E27-8730-3F14-486C-CB6C064AEB35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6" name="Arrow: Right 45">
              <a:extLst>
                <a:ext uri="{FF2B5EF4-FFF2-40B4-BE49-F238E27FC236}">
                  <a16:creationId xmlns:a16="http://schemas.microsoft.com/office/drawing/2014/main" id="{E10CA0F5-B355-280B-432B-D7323F1367F5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C2999C93-9F05-DAB1-9533-9F0F5874EB3D}"/>
              </a:ext>
            </a:extLst>
          </p:cNvPr>
          <p:cNvSpPr/>
          <p:nvPr/>
        </p:nvSpPr>
        <p:spPr bwMode="auto">
          <a:xfrm>
            <a:off x="8483717" y="2046983"/>
            <a:ext cx="572820" cy="27268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2724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02893-1317-2BFC-02E4-D27C04D2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10E0D7A-4A61-4D9B-D43F-27326F726995}"/>
              </a:ext>
            </a:extLst>
          </p:cNvPr>
          <p:cNvSpPr/>
          <p:nvPr/>
        </p:nvSpPr>
        <p:spPr bwMode="auto">
          <a:xfrm>
            <a:off x="1162877" y="455294"/>
            <a:ext cx="9508029" cy="30419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649FB73-15F1-288C-A4B9-8833B4B8A57C}"/>
              </a:ext>
            </a:extLst>
          </p:cNvPr>
          <p:cNvGrpSpPr/>
          <p:nvPr/>
        </p:nvGrpSpPr>
        <p:grpSpPr>
          <a:xfrm>
            <a:off x="1362438" y="2130540"/>
            <a:ext cx="3728222" cy="1129571"/>
            <a:chOff x="1570383" y="1506117"/>
            <a:chExt cx="3728222" cy="13927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D8AF274-21D0-5489-368F-A133CCF625EE}"/>
                </a:ext>
              </a:extLst>
            </p:cNvPr>
            <p:cNvGrpSpPr/>
            <p:nvPr/>
          </p:nvGrpSpPr>
          <p:grpSpPr>
            <a:xfrm>
              <a:off x="1570383" y="1506117"/>
              <a:ext cx="3728222" cy="614039"/>
              <a:chOff x="855870" y="1506117"/>
              <a:chExt cx="4442735" cy="695707"/>
            </a:xfrm>
          </p:grpSpPr>
          <p:sp>
            <p:nvSpPr>
              <p:cNvPr id="29" name="Arrow: Right 28">
                <a:extLst>
                  <a:ext uri="{FF2B5EF4-FFF2-40B4-BE49-F238E27FC236}">
                    <a16:creationId xmlns:a16="http://schemas.microsoft.com/office/drawing/2014/main" id="{6BF8756B-EA33-1E97-3969-9FC4C8792FCE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6AC072D-9F5D-696E-8B49-FDA766D52FFA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03397E7-61EE-CBC1-EB51-7D0CCAD48103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2" name="Arrow: Left-Right 31">
                <a:extLst>
                  <a:ext uri="{FF2B5EF4-FFF2-40B4-BE49-F238E27FC236}">
                    <a16:creationId xmlns:a16="http://schemas.microsoft.com/office/drawing/2014/main" id="{1F2070A8-AB93-5A7E-3042-FBA27DA06BD1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3A35642-FA85-1024-F41F-E814E2347810}"/>
                </a:ext>
              </a:extLst>
            </p:cNvPr>
            <p:cNvGrpSpPr/>
            <p:nvPr/>
          </p:nvGrpSpPr>
          <p:grpSpPr>
            <a:xfrm>
              <a:off x="1570383" y="2284778"/>
              <a:ext cx="3728222" cy="614039"/>
              <a:chOff x="855870" y="1506117"/>
              <a:chExt cx="4442735" cy="695707"/>
            </a:xfrm>
          </p:grpSpPr>
          <p:sp>
            <p:nvSpPr>
              <p:cNvPr id="19" name="Arrow: Right 18">
                <a:extLst>
                  <a:ext uri="{FF2B5EF4-FFF2-40B4-BE49-F238E27FC236}">
                    <a16:creationId xmlns:a16="http://schemas.microsoft.com/office/drawing/2014/main" id="{165DD63A-9B85-87E5-91DB-C8F80698455F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4BE0E90-4F64-B246-8392-2F55416FF372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1DA1E79-C1CD-05D9-7174-65A877BE0042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8" name="Arrow: Left-Right 27">
                <a:extLst>
                  <a:ext uri="{FF2B5EF4-FFF2-40B4-BE49-F238E27FC236}">
                    <a16:creationId xmlns:a16="http://schemas.microsoft.com/office/drawing/2014/main" id="{68C14470-65AD-7912-135A-588470879203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CF614F7-21E5-9AB1-E988-1884DC41B412}"/>
              </a:ext>
            </a:extLst>
          </p:cNvPr>
          <p:cNvGrpSpPr/>
          <p:nvPr/>
        </p:nvGrpSpPr>
        <p:grpSpPr>
          <a:xfrm>
            <a:off x="5239777" y="695739"/>
            <a:ext cx="1261062" cy="2601961"/>
            <a:chOff x="5239777" y="695739"/>
            <a:chExt cx="1261062" cy="260196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2CFC914-AA29-5B2C-4CF3-7EBB351F5627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4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A9A1264-6DD4-361E-4EFD-67136ECB43A4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BFD0CCFE-5762-EA36-42BB-FE67FF1E09F6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8141C47-128D-FF66-A0E7-1393EE066570}"/>
              </a:ext>
            </a:extLst>
          </p:cNvPr>
          <p:cNvGrpSpPr/>
          <p:nvPr/>
        </p:nvGrpSpPr>
        <p:grpSpPr>
          <a:xfrm>
            <a:off x="7173640" y="695739"/>
            <a:ext cx="1261062" cy="2601961"/>
            <a:chOff x="5239777" y="695739"/>
            <a:chExt cx="1261062" cy="260196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51FB3C7-0203-0D7C-1FFE-CD08FAFEA0AC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096C2E5-50D5-6C6D-C94A-D4A91169F8C5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B193B57B-281C-624A-C081-AB1C20452B18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AF93C565-3C43-6955-1852-6BAC561F0F14}"/>
              </a:ext>
            </a:extLst>
          </p:cNvPr>
          <p:cNvSpPr/>
          <p:nvPr/>
        </p:nvSpPr>
        <p:spPr bwMode="auto">
          <a:xfrm>
            <a:off x="6551805" y="2514583"/>
            <a:ext cx="572820" cy="35087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78C68CC-9B41-85B5-107E-88C7FD8D3881}"/>
              </a:ext>
            </a:extLst>
          </p:cNvPr>
          <p:cNvGrpSpPr/>
          <p:nvPr/>
        </p:nvGrpSpPr>
        <p:grpSpPr>
          <a:xfrm>
            <a:off x="9107503" y="695739"/>
            <a:ext cx="1261062" cy="2601961"/>
            <a:chOff x="5239777" y="695739"/>
            <a:chExt cx="1261062" cy="260196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6788A0E-64A2-9BA2-08DF-819EE4DE8CC5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9C90779-C816-C8DA-82A4-BE17FC4C938E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6" name="Arrow: Right 45">
              <a:extLst>
                <a:ext uri="{FF2B5EF4-FFF2-40B4-BE49-F238E27FC236}">
                  <a16:creationId xmlns:a16="http://schemas.microsoft.com/office/drawing/2014/main" id="{27FD82D6-DB88-7F49-260A-218CA73C6297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CEFB612F-9DAD-7433-4350-A79FDE66E549}"/>
              </a:ext>
            </a:extLst>
          </p:cNvPr>
          <p:cNvSpPr/>
          <p:nvPr/>
        </p:nvSpPr>
        <p:spPr bwMode="auto">
          <a:xfrm>
            <a:off x="8483717" y="2503369"/>
            <a:ext cx="572820" cy="35087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655785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6DA5E9-D66A-9398-8240-2844AE100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730" y="729864"/>
            <a:ext cx="9955014" cy="55347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5011011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444E-FF95-69D5-DADE-B4F8B697E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9C3E6F-3A43-3B76-CA28-48F6341F3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87" y="1158052"/>
            <a:ext cx="5450833" cy="45867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0723531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D8E90-ED59-FC7F-9B3A-E15695DB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D346B3-DB82-B8B2-85F4-920D52845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6" y="626789"/>
            <a:ext cx="7992590" cy="4906060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413006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B332-B10D-D7A1-C70A-DEE2D965E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DAC804-1FA6-153B-71B7-A4A921D89442}"/>
              </a:ext>
            </a:extLst>
          </p:cNvPr>
          <p:cNvSpPr/>
          <p:nvPr/>
        </p:nvSpPr>
        <p:spPr bwMode="auto">
          <a:xfrm>
            <a:off x="254017" y="657648"/>
            <a:ext cx="11702757" cy="2920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CC52C1-218D-5D86-DAC7-49730A9AD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455" y="779179"/>
            <a:ext cx="5449713" cy="2639882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27B48C-57B7-EC6A-8F3A-9DF2071D2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32" y="779180"/>
            <a:ext cx="4694307" cy="26398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252CDF10-60ED-AC54-F0AD-23E1E950168E}"/>
              </a:ext>
            </a:extLst>
          </p:cNvPr>
          <p:cNvSpPr/>
          <p:nvPr/>
        </p:nvSpPr>
        <p:spPr bwMode="auto">
          <a:xfrm>
            <a:off x="4958337" y="1926555"/>
            <a:ext cx="1428118" cy="776453"/>
          </a:xfrm>
          <a:prstGeom prst="rightArrow">
            <a:avLst>
              <a:gd name="adj1" fmla="val 62678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 to Git</a:t>
            </a:r>
          </a:p>
        </p:txBody>
      </p:sp>
    </p:spTree>
    <p:extLst>
      <p:ext uri="{BB962C8B-B14F-4D97-AF65-F5344CB8AC3E}">
        <p14:creationId xmlns:p14="http://schemas.microsoft.com/office/powerpoint/2010/main" val="507742836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39FE79-18C2-8728-4258-4CE5D5D7C0CC}"/>
              </a:ext>
            </a:extLst>
          </p:cNvPr>
          <p:cNvSpPr/>
          <p:nvPr/>
        </p:nvSpPr>
        <p:spPr bwMode="auto">
          <a:xfrm>
            <a:off x="303320" y="323549"/>
            <a:ext cx="11444733" cy="28072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6DC212-56A6-78E7-C5E6-E60DCD247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81" y="417919"/>
            <a:ext cx="4605312" cy="2563138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156713-BDDB-5E07-F250-FC4392D0D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468" y="417919"/>
            <a:ext cx="5015255" cy="2563138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A7A92009-C5D5-D92C-1379-D87B2779478B}"/>
              </a:ext>
            </a:extLst>
          </p:cNvPr>
          <p:cNvSpPr/>
          <p:nvPr/>
        </p:nvSpPr>
        <p:spPr bwMode="auto">
          <a:xfrm flipH="1">
            <a:off x="4876386" y="1615056"/>
            <a:ext cx="1850589" cy="776453"/>
          </a:xfrm>
          <a:prstGeom prst="rightArrow">
            <a:avLst>
              <a:gd name="adj1" fmla="val 62678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 to Workspace</a:t>
            </a:r>
          </a:p>
        </p:txBody>
      </p:sp>
    </p:spTree>
    <p:extLst>
      <p:ext uri="{BB962C8B-B14F-4D97-AF65-F5344CB8AC3E}">
        <p14:creationId xmlns:p14="http://schemas.microsoft.com/office/powerpoint/2010/main" val="3770906330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0436582-AA20-13CF-E0C8-01D11630EECF}"/>
              </a:ext>
            </a:extLst>
          </p:cNvPr>
          <p:cNvSpPr/>
          <p:nvPr/>
        </p:nvSpPr>
        <p:spPr bwMode="auto">
          <a:xfrm>
            <a:off x="642384" y="1373171"/>
            <a:ext cx="7199589" cy="2493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B1D9DC-02D0-49A1-8A5B-9A76EB658336}"/>
              </a:ext>
            </a:extLst>
          </p:cNvPr>
          <p:cNvSpPr/>
          <p:nvPr/>
        </p:nvSpPr>
        <p:spPr bwMode="auto">
          <a:xfrm>
            <a:off x="5375589" y="1514379"/>
            <a:ext cx="2306563" cy="21630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601E343-8D34-B1F7-885F-0DCFCD4B6E34}"/>
              </a:ext>
            </a:extLst>
          </p:cNvPr>
          <p:cNvGrpSpPr/>
          <p:nvPr/>
        </p:nvGrpSpPr>
        <p:grpSpPr>
          <a:xfrm>
            <a:off x="855870" y="1506117"/>
            <a:ext cx="4442735" cy="2171361"/>
            <a:chOff x="855870" y="1506117"/>
            <a:chExt cx="4442735" cy="246015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2DADC53-D46F-AFA7-DE67-0486AE69BC83}"/>
                </a:ext>
              </a:extLst>
            </p:cNvPr>
            <p:cNvGrpSpPr/>
            <p:nvPr/>
          </p:nvGrpSpPr>
          <p:grpSpPr>
            <a:xfrm>
              <a:off x="855870" y="1506117"/>
              <a:ext cx="4442735" cy="695707"/>
              <a:chOff x="855870" y="1506117"/>
              <a:chExt cx="4442735" cy="695707"/>
            </a:xfrm>
          </p:grpSpPr>
          <p:sp>
            <p:nvSpPr>
              <p:cNvPr id="5" name="Arrow: Right 4">
                <a:extLst>
                  <a:ext uri="{FF2B5EF4-FFF2-40B4-BE49-F238E27FC236}">
                    <a16:creationId xmlns:a16="http://schemas.microsoft.com/office/drawing/2014/main" id="{1EBE20EF-7967-F5C1-C554-C081BF204206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merge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BC87A2-F3D4-0FBE-D567-04F4CFE05747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1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B33287C-C93B-555E-74B9-55E6E1BE2B4A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1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17" name="Arrow: Left-Right 16">
                <a:extLst>
                  <a:ext uri="{FF2B5EF4-FFF2-40B4-BE49-F238E27FC236}">
                    <a16:creationId xmlns:a16="http://schemas.microsoft.com/office/drawing/2014/main" id="{1713E6E1-EE9B-059C-E07A-4F7160D278AB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2-way sync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395B5EE-6B45-0198-B375-B174EE7B1656}"/>
                </a:ext>
              </a:extLst>
            </p:cNvPr>
            <p:cNvGrpSpPr/>
            <p:nvPr/>
          </p:nvGrpSpPr>
          <p:grpSpPr>
            <a:xfrm>
              <a:off x="855870" y="2388340"/>
              <a:ext cx="4442735" cy="695707"/>
              <a:chOff x="855870" y="1506117"/>
              <a:chExt cx="4442735" cy="695707"/>
            </a:xfrm>
          </p:grpSpPr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6C724353-929E-D2C7-E10C-57D9C9880CF6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merge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161981A-6D76-631B-F339-D89A8F4C0306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2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1419108-03BA-8A2C-0F4E-8F0202BD186C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2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5" name="Arrow: Left-Right 24">
                <a:extLst>
                  <a:ext uri="{FF2B5EF4-FFF2-40B4-BE49-F238E27FC236}">
                    <a16:creationId xmlns:a16="http://schemas.microsoft.com/office/drawing/2014/main" id="{C122E024-1009-0570-F007-CD5F0D76C05F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2-way sync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EF50B46-6175-18A6-7C08-635E87D98B3B}"/>
                </a:ext>
              </a:extLst>
            </p:cNvPr>
            <p:cNvGrpSpPr/>
            <p:nvPr/>
          </p:nvGrpSpPr>
          <p:grpSpPr>
            <a:xfrm>
              <a:off x="855870" y="3270563"/>
              <a:ext cx="4442735" cy="695707"/>
              <a:chOff x="855870" y="1506117"/>
              <a:chExt cx="4442735" cy="695707"/>
            </a:xfrm>
          </p:grpSpPr>
          <p:sp>
            <p:nvSpPr>
              <p:cNvPr id="27" name="Arrow: Right 26">
                <a:extLst>
                  <a:ext uri="{FF2B5EF4-FFF2-40B4-BE49-F238E27FC236}">
                    <a16:creationId xmlns:a16="http://schemas.microsoft.com/office/drawing/2014/main" id="{7B5B8EF7-1DDA-78E4-F017-894241FD5C2D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merge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DA998E4-7E6B-7A39-DD11-E718BBA4B2A9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F50598B-9E5E-D677-FA13-76C9FFADDEF6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0" name="Arrow: Left-Right 29">
                <a:extLst>
                  <a:ext uri="{FF2B5EF4-FFF2-40B4-BE49-F238E27FC236}">
                    <a16:creationId xmlns:a16="http://schemas.microsoft.com/office/drawing/2014/main" id="{0A703EDC-8591-9D20-E940-86DDE27D888C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2-way sync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8305437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99213-F33D-20DB-7311-393F5F86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10FB9B-2D77-D766-290B-45A7BC59F082}"/>
              </a:ext>
            </a:extLst>
          </p:cNvPr>
          <p:cNvSpPr/>
          <p:nvPr/>
        </p:nvSpPr>
        <p:spPr bwMode="auto">
          <a:xfrm>
            <a:off x="1202635" y="556591"/>
            <a:ext cx="5526156" cy="29406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E31E3CA-BAB2-94F1-8C47-CEDC5BDF5D63}"/>
              </a:ext>
            </a:extLst>
          </p:cNvPr>
          <p:cNvGrpSpPr/>
          <p:nvPr/>
        </p:nvGrpSpPr>
        <p:grpSpPr>
          <a:xfrm>
            <a:off x="1362438" y="2130540"/>
            <a:ext cx="3728222" cy="1129571"/>
            <a:chOff x="1570383" y="1506117"/>
            <a:chExt cx="3728222" cy="139270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12443B7-B265-553A-F9FE-EAE550812956}"/>
                </a:ext>
              </a:extLst>
            </p:cNvPr>
            <p:cNvGrpSpPr/>
            <p:nvPr/>
          </p:nvGrpSpPr>
          <p:grpSpPr>
            <a:xfrm>
              <a:off x="1570383" y="1506117"/>
              <a:ext cx="3728222" cy="614039"/>
              <a:chOff x="855870" y="1506117"/>
              <a:chExt cx="4442735" cy="695707"/>
            </a:xfrm>
          </p:grpSpPr>
          <p:sp>
            <p:nvSpPr>
              <p:cNvPr id="5" name="Arrow: Right 4">
                <a:extLst>
                  <a:ext uri="{FF2B5EF4-FFF2-40B4-BE49-F238E27FC236}">
                    <a16:creationId xmlns:a16="http://schemas.microsoft.com/office/drawing/2014/main" id="{6DFAC19B-0504-8436-6B0D-0BC434D25BE0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9AD60E9-3D53-84DB-4FDA-0586E705563F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D0620D5-FCBC-F6A0-8870-06AF0D457CA2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17" name="Arrow: Left-Right 16">
                <a:extLst>
                  <a:ext uri="{FF2B5EF4-FFF2-40B4-BE49-F238E27FC236}">
                    <a16:creationId xmlns:a16="http://schemas.microsoft.com/office/drawing/2014/main" id="{A570E0CC-E548-208D-3BDD-8EF0CB082A4E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EA7376B-8206-C8FC-60D0-A92AD711CBF2}"/>
                </a:ext>
              </a:extLst>
            </p:cNvPr>
            <p:cNvGrpSpPr/>
            <p:nvPr/>
          </p:nvGrpSpPr>
          <p:grpSpPr>
            <a:xfrm>
              <a:off x="1570383" y="2284778"/>
              <a:ext cx="3728222" cy="614039"/>
              <a:chOff x="855870" y="1506117"/>
              <a:chExt cx="4442735" cy="695707"/>
            </a:xfrm>
          </p:grpSpPr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28AE91F9-5190-F67E-340A-424CC59FFBF0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87D3B73-0ADE-F3FF-24BA-7F0020285964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5D2BAB3-DBEF-6866-B48B-A5264282EC9F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5" name="Arrow: Left-Right 24">
                <a:extLst>
                  <a:ext uri="{FF2B5EF4-FFF2-40B4-BE49-F238E27FC236}">
                    <a16:creationId xmlns:a16="http://schemas.microsoft.com/office/drawing/2014/main" id="{C0A355FB-E51E-C96C-D1D9-4EA2A715C137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6F4B0380-2B9B-A7C8-FA7E-ED3E328B9983}"/>
              </a:ext>
            </a:extLst>
          </p:cNvPr>
          <p:cNvSpPr/>
          <p:nvPr/>
        </p:nvSpPr>
        <p:spPr bwMode="auto">
          <a:xfrm>
            <a:off x="5239777" y="2022754"/>
            <a:ext cx="1261062" cy="1274946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61CDA8-492B-6ADC-B5AE-67E85CB1B9CE}"/>
              </a:ext>
            </a:extLst>
          </p:cNvPr>
          <p:cNvSpPr/>
          <p:nvPr/>
        </p:nvSpPr>
        <p:spPr bwMode="auto">
          <a:xfrm>
            <a:off x="5239777" y="695739"/>
            <a:ext cx="1261062" cy="853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D09F07D-DBB1-890E-52F3-63231C35064A}"/>
              </a:ext>
            </a:extLst>
          </p:cNvPr>
          <p:cNvSpPr/>
          <p:nvPr/>
        </p:nvSpPr>
        <p:spPr bwMode="auto">
          <a:xfrm rot="16200000">
            <a:off x="5666768" y="1663964"/>
            <a:ext cx="407079" cy="28209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60991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CD0F33B-8E66-1EB2-4DAA-184BF5512580}"/>
              </a:ext>
            </a:extLst>
          </p:cNvPr>
          <p:cNvSpPr/>
          <p:nvPr/>
        </p:nvSpPr>
        <p:spPr bwMode="auto">
          <a:xfrm>
            <a:off x="1560561" y="1963080"/>
            <a:ext cx="7334961" cy="19827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CF202-AF18-D659-48DB-6819A02237EC}"/>
              </a:ext>
            </a:extLst>
          </p:cNvPr>
          <p:cNvSpPr/>
          <p:nvPr/>
        </p:nvSpPr>
        <p:spPr bwMode="auto">
          <a:xfrm>
            <a:off x="1763495" y="2095884"/>
            <a:ext cx="1632212" cy="166707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86395A-8706-C849-1610-FE141D412E02}"/>
              </a:ext>
            </a:extLst>
          </p:cNvPr>
          <p:cNvSpPr/>
          <p:nvPr/>
        </p:nvSpPr>
        <p:spPr bwMode="auto">
          <a:xfrm>
            <a:off x="4374699" y="2119618"/>
            <a:ext cx="1625443" cy="16433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DB05AD7-634E-1912-1EBB-121F6F7075B7}"/>
              </a:ext>
            </a:extLst>
          </p:cNvPr>
          <p:cNvSpPr/>
          <p:nvPr/>
        </p:nvSpPr>
        <p:spPr bwMode="auto">
          <a:xfrm>
            <a:off x="3463005" y="2623226"/>
            <a:ext cx="879837" cy="50630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Deploy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A5CF38-891D-F18A-09D9-3A52030CDEF3}"/>
              </a:ext>
            </a:extLst>
          </p:cNvPr>
          <p:cNvSpPr/>
          <p:nvPr/>
        </p:nvSpPr>
        <p:spPr bwMode="auto">
          <a:xfrm>
            <a:off x="6995979" y="2119618"/>
            <a:ext cx="1625443" cy="1643338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2724F3B-5267-3854-B51F-EF7F6C960F64}"/>
              </a:ext>
            </a:extLst>
          </p:cNvPr>
          <p:cNvSpPr/>
          <p:nvPr/>
        </p:nvSpPr>
        <p:spPr bwMode="auto">
          <a:xfrm>
            <a:off x="6084285" y="2623226"/>
            <a:ext cx="879837" cy="50630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Deploy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F9420B-62C3-1701-E3B1-B37EE5822221}"/>
              </a:ext>
            </a:extLst>
          </p:cNvPr>
          <p:cNvSpPr/>
          <p:nvPr/>
        </p:nvSpPr>
        <p:spPr bwMode="auto">
          <a:xfrm>
            <a:off x="1560561" y="1570383"/>
            <a:ext cx="7334961" cy="3926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Deployment Pipeline</a:t>
            </a:r>
          </a:p>
        </p:txBody>
      </p:sp>
    </p:spTree>
    <p:extLst>
      <p:ext uri="{BB962C8B-B14F-4D97-AF65-F5344CB8AC3E}">
        <p14:creationId xmlns:p14="http://schemas.microsoft.com/office/powerpoint/2010/main" val="424151043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18CB-5510-9995-46E5-9CAE01B4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A8740D2-F051-D967-20A0-F49481439CFD}"/>
              </a:ext>
            </a:extLst>
          </p:cNvPr>
          <p:cNvSpPr/>
          <p:nvPr/>
        </p:nvSpPr>
        <p:spPr bwMode="auto">
          <a:xfrm>
            <a:off x="688423" y="876094"/>
            <a:ext cx="11268352" cy="4341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F014FA5-1AE2-3BF2-BE0C-6FAEFD270B42}"/>
              </a:ext>
            </a:extLst>
          </p:cNvPr>
          <p:cNvGrpSpPr/>
          <p:nvPr/>
        </p:nvGrpSpPr>
        <p:grpSpPr>
          <a:xfrm>
            <a:off x="4452848" y="1386610"/>
            <a:ext cx="7334961" cy="1806435"/>
            <a:chOff x="4452848" y="1386609"/>
            <a:chExt cx="7334961" cy="228019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3EDB799-4EDC-6DA7-6DC6-63624D4C63B5}"/>
                </a:ext>
              </a:extLst>
            </p:cNvPr>
            <p:cNvSpPr/>
            <p:nvPr/>
          </p:nvSpPr>
          <p:spPr bwMode="auto">
            <a:xfrm>
              <a:off x="4452848" y="1386609"/>
              <a:ext cx="7334961" cy="22801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4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D1CBE36-F47C-A3C7-44EE-DF777A5BF25B}"/>
                </a:ext>
              </a:extLst>
            </p:cNvPr>
            <p:cNvSpPr/>
            <p:nvPr/>
          </p:nvSpPr>
          <p:spPr bwMode="auto">
            <a:xfrm>
              <a:off x="4655782" y="1519414"/>
              <a:ext cx="1632212" cy="166707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77D81F3-53BD-F0CF-973A-69AAF5701F42}"/>
                </a:ext>
              </a:extLst>
            </p:cNvPr>
            <p:cNvSpPr/>
            <p:nvPr/>
          </p:nvSpPr>
          <p:spPr bwMode="auto">
            <a:xfrm>
              <a:off x="7266986" y="1543148"/>
              <a:ext cx="1625443" cy="164333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F1406E28-9EF8-74BC-3746-836227367A4B}"/>
                </a:ext>
              </a:extLst>
            </p:cNvPr>
            <p:cNvSpPr/>
            <p:nvPr/>
          </p:nvSpPr>
          <p:spPr bwMode="auto">
            <a:xfrm>
              <a:off x="6355292" y="2046756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C150BE-B485-0129-3C80-BFCC1B591EF6}"/>
                </a:ext>
              </a:extLst>
            </p:cNvPr>
            <p:cNvSpPr/>
            <p:nvPr/>
          </p:nvSpPr>
          <p:spPr bwMode="auto">
            <a:xfrm>
              <a:off x="9888266" y="1543148"/>
              <a:ext cx="1625443" cy="1643338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20A9AAFB-6719-2827-27AA-B3C525AE6906}"/>
                </a:ext>
              </a:extLst>
            </p:cNvPr>
            <p:cNvSpPr/>
            <p:nvPr/>
          </p:nvSpPr>
          <p:spPr bwMode="auto">
            <a:xfrm>
              <a:off x="8976572" y="2046756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18FCE019-1553-9442-81F3-76DDBE8CABC0}"/>
              </a:ext>
            </a:extLst>
          </p:cNvPr>
          <p:cNvSpPr/>
          <p:nvPr/>
        </p:nvSpPr>
        <p:spPr bwMode="auto">
          <a:xfrm>
            <a:off x="4452848" y="993913"/>
            <a:ext cx="7334961" cy="392696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Deployment 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C4B5E6-17B4-6FE2-CD22-63802EAF1AC0}"/>
              </a:ext>
            </a:extLst>
          </p:cNvPr>
          <p:cNvSpPr/>
          <p:nvPr/>
        </p:nvSpPr>
        <p:spPr bwMode="auto">
          <a:xfrm>
            <a:off x="4655782" y="3801478"/>
            <a:ext cx="1632212" cy="125364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277234A2-F2B2-37F3-6DE7-70DFCF5FE6A9}"/>
              </a:ext>
            </a:extLst>
          </p:cNvPr>
          <p:cNvSpPr/>
          <p:nvPr/>
        </p:nvSpPr>
        <p:spPr bwMode="auto">
          <a:xfrm>
            <a:off x="5130078" y="2852280"/>
            <a:ext cx="683619" cy="914650"/>
          </a:xfrm>
          <a:prstGeom prst="upArrow">
            <a:avLst>
              <a:gd name="adj1" fmla="val 66197"/>
              <a:gd name="adj2" fmla="val 40186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GIT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BD2416-059F-2178-43FA-187F1762C1B0}"/>
              </a:ext>
            </a:extLst>
          </p:cNvPr>
          <p:cNvGrpSpPr/>
          <p:nvPr/>
        </p:nvGrpSpPr>
        <p:grpSpPr>
          <a:xfrm>
            <a:off x="825725" y="3863513"/>
            <a:ext cx="3728222" cy="1129571"/>
            <a:chOff x="1570383" y="1506117"/>
            <a:chExt cx="3728222" cy="13927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9CDA7E4-50A0-0A38-337A-E44C39F0D03B}"/>
                </a:ext>
              </a:extLst>
            </p:cNvPr>
            <p:cNvGrpSpPr/>
            <p:nvPr/>
          </p:nvGrpSpPr>
          <p:grpSpPr>
            <a:xfrm>
              <a:off x="1570383" y="1506117"/>
              <a:ext cx="3728222" cy="614039"/>
              <a:chOff x="855870" y="1506117"/>
              <a:chExt cx="4442735" cy="695707"/>
            </a:xfrm>
          </p:grpSpPr>
          <p:sp>
            <p:nvSpPr>
              <p:cNvPr id="24" name="Arrow: Right 23">
                <a:extLst>
                  <a:ext uri="{FF2B5EF4-FFF2-40B4-BE49-F238E27FC236}">
                    <a16:creationId xmlns:a16="http://schemas.microsoft.com/office/drawing/2014/main" id="{0F57848C-D709-67A1-4CEA-920A4B147617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A68D836-332E-59C3-A418-103F3D97C1A4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A160FCB-9C25-B88C-E9E8-32149572A44D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7" name="Arrow: Left-Right 26">
                <a:extLst>
                  <a:ext uri="{FF2B5EF4-FFF2-40B4-BE49-F238E27FC236}">
                    <a16:creationId xmlns:a16="http://schemas.microsoft.com/office/drawing/2014/main" id="{941B9BE0-A7EA-C898-2075-DA2CBFE70FB2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51E2647-6769-A88B-14A1-D8C4D7724D18}"/>
                </a:ext>
              </a:extLst>
            </p:cNvPr>
            <p:cNvGrpSpPr/>
            <p:nvPr/>
          </p:nvGrpSpPr>
          <p:grpSpPr>
            <a:xfrm>
              <a:off x="1570383" y="2284778"/>
              <a:ext cx="3728222" cy="614039"/>
              <a:chOff x="855870" y="1506117"/>
              <a:chExt cx="4442735" cy="695707"/>
            </a:xfrm>
          </p:grpSpPr>
          <p:sp>
            <p:nvSpPr>
              <p:cNvPr id="20" name="Arrow: Right 19">
                <a:extLst>
                  <a:ext uri="{FF2B5EF4-FFF2-40B4-BE49-F238E27FC236}">
                    <a16:creationId xmlns:a16="http://schemas.microsoft.com/office/drawing/2014/main" id="{3A531C8B-8BB7-FCEB-1542-7F08E0CE65E5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9F601B9-DD29-76DE-6829-D7BB1EFCF2B7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F9CB66B-39AF-9E74-F008-C3BBEBA8F1C4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3" name="Arrow: Left-Right 22">
                <a:extLst>
                  <a:ext uri="{FF2B5EF4-FFF2-40B4-BE49-F238E27FC236}">
                    <a16:creationId xmlns:a16="http://schemas.microsoft.com/office/drawing/2014/main" id="{4BA43AD6-3D33-CD7B-894C-E28CBE306CE4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1337079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B000CA16-DD7F-3FFC-6CE8-27CCD2E52A0F}"/>
              </a:ext>
            </a:extLst>
          </p:cNvPr>
          <p:cNvGrpSpPr/>
          <p:nvPr/>
        </p:nvGrpSpPr>
        <p:grpSpPr>
          <a:xfrm>
            <a:off x="1446963" y="981175"/>
            <a:ext cx="6903218" cy="3531190"/>
            <a:chOff x="1446963" y="783953"/>
            <a:chExt cx="6390751" cy="453485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CDE0593-E92A-B4AF-067E-88990EC25C23}"/>
                </a:ext>
              </a:extLst>
            </p:cNvPr>
            <p:cNvSpPr/>
            <p:nvPr/>
          </p:nvSpPr>
          <p:spPr bwMode="auto">
            <a:xfrm>
              <a:off x="1446963" y="1317204"/>
              <a:ext cx="6390751" cy="400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B3B96C0-05B9-467B-0AE5-F84ED0A49675}"/>
                </a:ext>
              </a:extLst>
            </p:cNvPr>
            <p:cNvSpPr/>
            <p:nvPr/>
          </p:nvSpPr>
          <p:spPr bwMode="auto">
            <a:xfrm>
              <a:off x="1446963" y="783953"/>
              <a:ext cx="6390751" cy="53325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00EFEF8-50CB-18EA-9929-4AE399C06E90}"/>
              </a:ext>
            </a:extLst>
          </p:cNvPr>
          <p:cNvGrpSpPr/>
          <p:nvPr/>
        </p:nvGrpSpPr>
        <p:grpSpPr>
          <a:xfrm>
            <a:off x="1563619" y="1540713"/>
            <a:ext cx="4300599" cy="2810223"/>
            <a:chOff x="1734441" y="1741680"/>
            <a:chExt cx="4300599" cy="368336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2E05B73-3815-B0BE-9A65-3E8720EBF8DD}"/>
                </a:ext>
              </a:extLst>
            </p:cNvPr>
            <p:cNvGrpSpPr/>
            <p:nvPr/>
          </p:nvGrpSpPr>
          <p:grpSpPr>
            <a:xfrm>
              <a:off x="1734441" y="1741680"/>
              <a:ext cx="2349433" cy="3683367"/>
              <a:chOff x="1734441" y="1741680"/>
              <a:chExt cx="2349433" cy="3683367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1E8789E-C083-1E95-B1F8-2B3A91218B73}"/>
                  </a:ext>
                </a:extLst>
              </p:cNvPr>
              <p:cNvSpPr/>
              <p:nvPr/>
            </p:nvSpPr>
            <p:spPr bwMode="auto">
              <a:xfrm>
                <a:off x="1734443" y="2515196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Pipeline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341B282-8C89-52C8-7FD4-871B7B8F640D}"/>
                  </a:ext>
                </a:extLst>
              </p:cNvPr>
              <p:cNvSpPr/>
              <p:nvPr/>
            </p:nvSpPr>
            <p:spPr bwMode="auto">
              <a:xfrm>
                <a:off x="1734443" y="1741680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Notebook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22DC64C-305C-F2CF-9ECE-638CE90AF008}"/>
                  </a:ext>
                </a:extLst>
              </p:cNvPr>
              <p:cNvSpPr/>
              <p:nvPr/>
            </p:nvSpPr>
            <p:spPr bwMode="auto">
              <a:xfrm>
                <a:off x="1734443" y="3288712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Copyjob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5FC9D02-A88E-2BE4-6643-058D6FBAC13E}"/>
                  </a:ext>
                </a:extLst>
              </p:cNvPr>
              <p:cNvSpPr/>
              <p:nvPr/>
            </p:nvSpPr>
            <p:spPr bwMode="auto">
              <a:xfrm>
                <a:off x="1734442" y="4062228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Dataflow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84DCB22-DFF6-0664-8481-CB833696C445}"/>
                  </a:ext>
                </a:extLst>
              </p:cNvPr>
              <p:cNvSpPr/>
              <p:nvPr/>
            </p:nvSpPr>
            <p:spPr bwMode="auto">
              <a:xfrm>
                <a:off x="1734441" y="4835743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OneLake Shortcut</a:t>
                </a:r>
              </a:p>
            </p:txBody>
          </p:sp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ADED1FF-0783-31E6-3C4C-A433E4FB1F30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4083874" y="2036332"/>
              <a:ext cx="1951166" cy="90267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C40E68-C70C-C089-3408-C58644FF9697}"/>
                </a:ext>
              </a:extLst>
            </p:cNvPr>
            <p:cNvCxnSpPr>
              <a:cxnSpLocks/>
            </p:cNvCxnSpPr>
            <p:nvPr/>
          </p:nvCxnSpPr>
          <p:spPr>
            <a:xfrm>
              <a:off x="4083872" y="3615894"/>
              <a:ext cx="173412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D2B30A7-045F-9314-CFE5-AF0CE9E851C3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>
              <a:off x="4083874" y="2809848"/>
              <a:ext cx="1814508" cy="4075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70E49DD-D107-BCAE-1242-9B9C232D9085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 flipV="1">
              <a:off x="4083873" y="3960451"/>
              <a:ext cx="1765607" cy="39642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F4B33AA-4001-FD2B-17AA-3F8C59CE14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8066" y="4276562"/>
              <a:ext cx="1900702" cy="85383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6AE63BF-BD04-8C63-D239-D13099D85110}"/>
              </a:ext>
            </a:extLst>
          </p:cNvPr>
          <p:cNvGrpSpPr/>
          <p:nvPr/>
        </p:nvGrpSpPr>
        <p:grpSpPr>
          <a:xfrm>
            <a:off x="6077397" y="2490399"/>
            <a:ext cx="1919206" cy="1045579"/>
            <a:chOff x="2480209" y="3989407"/>
            <a:chExt cx="2202323" cy="117311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F849CE5-FB11-3825-5F47-373265281DDE}"/>
                </a:ext>
              </a:extLst>
            </p:cNvPr>
            <p:cNvSpPr/>
            <p:nvPr/>
          </p:nvSpPr>
          <p:spPr bwMode="auto">
            <a:xfrm>
              <a:off x="2480209" y="4267200"/>
              <a:ext cx="2202323" cy="8953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var1 - string - 'foo'</a:t>
              </a:r>
              <a:endParaRPr lang="en-US" sz="900" dirty="0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var2 - string - 'bar'</a:t>
              </a:r>
              <a:endParaRPr lang="en-US" sz="900" dirty="0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var3 - integer - 42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41F01C4-3B54-FBE4-1E80-1583D6C74469}"/>
                </a:ext>
              </a:extLst>
            </p:cNvPr>
            <p:cNvSpPr/>
            <p:nvPr/>
          </p:nvSpPr>
          <p:spPr bwMode="auto">
            <a:xfrm>
              <a:off x="2480209" y="3989407"/>
              <a:ext cx="2202323" cy="2777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Variable Library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3001775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CF8D9D-4981-2158-E260-5A58588EE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93" y="1901602"/>
            <a:ext cx="10307488" cy="31913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36226808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90B4B1-4927-ED10-E291-459DB7E07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054241"/>
              </p:ext>
            </p:extLst>
          </p:nvPr>
        </p:nvGraphicFramePr>
        <p:xfrm>
          <a:off x="938002" y="769646"/>
          <a:ext cx="6211793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18698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943951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3449144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Variable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devcamp.database.windows.net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4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product-sales-dev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545251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BBBEE-745B-2785-F381-4F9608C8E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327FB1-9162-9A00-B432-7F75D4063645}"/>
              </a:ext>
            </a:extLst>
          </p:cNvPr>
          <p:cNvSpPr/>
          <p:nvPr/>
        </p:nvSpPr>
        <p:spPr bwMode="auto">
          <a:xfrm>
            <a:off x="523888" y="904352"/>
            <a:ext cx="9001949" cy="2291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Variable Library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A29033-571B-BAB1-DC72-DCFD70AED744}"/>
              </a:ext>
            </a:extLst>
          </p:cNvPr>
          <p:cNvSpPr/>
          <p:nvPr/>
        </p:nvSpPr>
        <p:spPr bwMode="auto">
          <a:xfrm>
            <a:off x="5351867" y="1316334"/>
            <a:ext cx="3949001" cy="16479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Value Sets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CEA7F7-02CF-5F56-A6BD-596240631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94252"/>
              </p:ext>
            </p:extLst>
          </p:nvPr>
        </p:nvGraphicFramePr>
        <p:xfrm>
          <a:off x="5698762" y="1487447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D42D2D-8C4F-B36D-3B19-2EA999389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603789"/>
              </p:ext>
            </p:extLst>
          </p:nvPr>
        </p:nvGraphicFramePr>
        <p:xfrm>
          <a:off x="7589527" y="1497931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F63ACF-DA37-0B04-2BA8-F496FBF0E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79100"/>
              </p:ext>
            </p:extLst>
          </p:nvPr>
        </p:nvGraphicFramePr>
        <p:xfrm>
          <a:off x="730675" y="1487447"/>
          <a:ext cx="4379433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13920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964096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1401417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Variable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4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660620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8C2D-FE3A-4701-1749-9C9F063B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F632949-FEEC-DEF6-1199-411E30FFD8E8}"/>
              </a:ext>
            </a:extLst>
          </p:cNvPr>
          <p:cNvGrpSpPr/>
          <p:nvPr/>
        </p:nvGrpSpPr>
        <p:grpSpPr>
          <a:xfrm>
            <a:off x="1351722" y="1182756"/>
            <a:ext cx="10183786" cy="1942281"/>
            <a:chOff x="1664104" y="1182756"/>
            <a:chExt cx="9871404" cy="194228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3B698D-3A46-0F39-E8C3-EE0ED46C7609}"/>
                </a:ext>
              </a:extLst>
            </p:cNvPr>
            <p:cNvGrpSpPr/>
            <p:nvPr/>
          </p:nvGrpSpPr>
          <p:grpSpPr>
            <a:xfrm>
              <a:off x="1664104" y="1182756"/>
              <a:ext cx="9871404" cy="1942281"/>
              <a:chOff x="1664104" y="773980"/>
              <a:chExt cx="6857927" cy="166707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BCB1775-D766-2154-B630-602CCBBBA5DB}"/>
                  </a:ext>
                </a:extLst>
              </p:cNvPr>
              <p:cNvSpPr/>
              <p:nvPr/>
            </p:nvSpPr>
            <p:spPr bwMode="auto">
              <a:xfrm>
                <a:off x="1664104" y="773980"/>
                <a:ext cx="1632212" cy="16670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 workspace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BAD41E3-23BF-CCC2-826E-F7CEB57CF786}"/>
                  </a:ext>
                </a:extLst>
              </p:cNvPr>
              <p:cNvSpPr/>
              <p:nvPr/>
            </p:nvSpPr>
            <p:spPr bwMode="auto">
              <a:xfrm>
                <a:off x="4275308" y="797714"/>
                <a:ext cx="1625443" cy="1643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workspace</a:t>
                </a:r>
              </a:p>
            </p:txBody>
          </p:sp>
          <p:sp>
            <p:nvSpPr>
              <p:cNvPr id="4" name="Arrow: Right 3">
                <a:extLst>
                  <a:ext uri="{FF2B5EF4-FFF2-40B4-BE49-F238E27FC236}">
                    <a16:creationId xmlns:a16="http://schemas.microsoft.com/office/drawing/2014/main" id="{C557B895-DB1B-211E-1427-12E77D99C9CF}"/>
                  </a:ext>
                </a:extLst>
              </p:cNvPr>
              <p:cNvSpPr/>
              <p:nvPr/>
            </p:nvSpPr>
            <p:spPr bwMode="auto">
              <a:xfrm>
                <a:off x="3363614" y="1577301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BC67C6E-8CEA-495E-7ABE-6E35CD889B70}"/>
                  </a:ext>
                </a:extLst>
              </p:cNvPr>
              <p:cNvSpPr/>
              <p:nvPr/>
            </p:nvSpPr>
            <p:spPr bwMode="auto">
              <a:xfrm>
                <a:off x="6896588" y="797714"/>
                <a:ext cx="1625443" cy="1643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workspace</a:t>
                </a:r>
              </a:p>
            </p:txBody>
          </p:sp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83E12C0A-64CB-6237-4D45-E6B2951781F4}"/>
                  </a:ext>
                </a:extLst>
              </p:cNvPr>
              <p:cNvSpPr/>
              <p:nvPr/>
            </p:nvSpPr>
            <p:spPr bwMode="auto">
              <a:xfrm>
                <a:off x="5984894" y="1577301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B9C09FA-DD35-2EAC-8E59-0E5A70EC18C9}"/>
                </a:ext>
              </a:extLst>
            </p:cNvPr>
            <p:cNvGrpSpPr/>
            <p:nvPr/>
          </p:nvGrpSpPr>
          <p:grpSpPr>
            <a:xfrm>
              <a:off x="1841151" y="1723984"/>
              <a:ext cx="1995335" cy="1045579"/>
              <a:chOff x="2480209" y="3989407"/>
              <a:chExt cx="2202323" cy="1173115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1514387-BC0A-085C-D194-378514904C10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 (active)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F45B4D6-940B-3F86-C4C4-B0D9CACA6B70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D5282BC-0D57-27BE-8B49-455E616E7092}"/>
                </a:ext>
              </a:extLst>
            </p:cNvPr>
            <p:cNvGrpSpPr/>
            <p:nvPr/>
          </p:nvGrpSpPr>
          <p:grpSpPr>
            <a:xfrm>
              <a:off x="5607010" y="1723984"/>
              <a:ext cx="1995335" cy="1045579"/>
              <a:chOff x="2480209" y="3989407"/>
              <a:chExt cx="2202323" cy="117311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C7F5946-ADF8-8E8F-2285-71821DD4422D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</a:t>
                </a:r>
                <a:endParaRPr lang="en-US" sz="900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 (active)</a:t>
                </a:r>
                <a:endParaRPr lang="en-US" sz="900" dirty="0">
                  <a:solidFill>
                    <a:srgbClr val="8A0000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25FED2-207E-64A8-A6BE-9F7432DEA38C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CFF671F-371E-8446-56C0-81DBC5EF039C}"/>
                </a:ext>
              </a:extLst>
            </p:cNvPr>
            <p:cNvGrpSpPr/>
            <p:nvPr/>
          </p:nvGrpSpPr>
          <p:grpSpPr>
            <a:xfrm>
              <a:off x="9367996" y="1723984"/>
              <a:ext cx="1995335" cy="1045579"/>
              <a:chOff x="2480209" y="3989407"/>
              <a:chExt cx="2202323" cy="117311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0ACAFCD-D270-E16C-F9E8-B01D0DFD0947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</a:t>
                </a:r>
                <a:endParaRPr lang="en-US" sz="900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 (active)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CC425CB-05F8-A582-EA5F-D50237A5B1F7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2355693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1D0F7C-CA90-DD9E-D51F-BA63710E4DA6}"/>
              </a:ext>
            </a:extLst>
          </p:cNvPr>
          <p:cNvSpPr/>
          <p:nvPr/>
        </p:nvSpPr>
        <p:spPr bwMode="auto">
          <a:xfrm>
            <a:off x="950387" y="1023342"/>
            <a:ext cx="5267850" cy="16185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82296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>
                    <a:lumMod val="60000"/>
                    <a:lumOff val="40000"/>
                  </a:schemeClr>
                </a:solidFill>
                <a:ea typeface="Segoe UI" pitchFamily="34" charset="0"/>
                <a:cs typeface="Segoe UI" pitchFamily="34" charset="0"/>
              </a:rPr>
              <a:t>Workspace Item Types by Workload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59E36-2B46-974C-EE2C-940A794FA329}"/>
              </a:ext>
            </a:extLst>
          </p:cNvPr>
          <p:cNvSpPr/>
          <p:nvPr/>
        </p:nvSpPr>
        <p:spPr bwMode="auto">
          <a:xfrm>
            <a:off x="4491707" y="1319195"/>
            <a:ext cx="1593127" cy="11487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chemeClr val="tx1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Power BI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4661C3-C199-B1D4-ECCF-4E91E83B6F99}"/>
              </a:ext>
            </a:extLst>
          </p:cNvPr>
          <p:cNvSpPr/>
          <p:nvPr/>
        </p:nvSpPr>
        <p:spPr bwMode="auto">
          <a:xfrm>
            <a:off x="4601557" y="1615481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SemanticModel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F1799D-4036-5440-9CB5-4428BE5E0F21}"/>
              </a:ext>
            </a:extLst>
          </p:cNvPr>
          <p:cNvSpPr/>
          <p:nvPr/>
        </p:nvSpPr>
        <p:spPr bwMode="auto">
          <a:xfrm>
            <a:off x="4601557" y="2021229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CE34B8-29BB-ACA2-C5FE-CA8B7BA5D545}"/>
              </a:ext>
            </a:extLst>
          </p:cNvPr>
          <p:cNvSpPr/>
          <p:nvPr/>
        </p:nvSpPr>
        <p:spPr bwMode="auto">
          <a:xfrm>
            <a:off x="2794856" y="1325822"/>
            <a:ext cx="1593127" cy="1148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chemeClr val="tx1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Data Engineering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7CF2FC-3D07-1FC2-9C61-FE0E7DDD4791}"/>
              </a:ext>
            </a:extLst>
          </p:cNvPr>
          <p:cNvSpPr/>
          <p:nvPr/>
        </p:nvSpPr>
        <p:spPr bwMode="auto">
          <a:xfrm>
            <a:off x="2904705" y="1622108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Lakehouse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34FA64-CFD5-9D82-D159-B8F5EBF04D3C}"/>
              </a:ext>
            </a:extLst>
          </p:cNvPr>
          <p:cNvSpPr/>
          <p:nvPr/>
        </p:nvSpPr>
        <p:spPr bwMode="auto">
          <a:xfrm>
            <a:off x="2904705" y="2027856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Notebook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A2B0E7-AFDC-2A0F-622C-16E2D7B273DC}"/>
              </a:ext>
            </a:extLst>
          </p:cNvPr>
          <p:cNvSpPr/>
          <p:nvPr/>
        </p:nvSpPr>
        <p:spPr bwMode="auto">
          <a:xfrm>
            <a:off x="1098005" y="1325823"/>
            <a:ext cx="1593127" cy="1148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chemeClr val="tx1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Data Factory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6F4A74-A745-AF5B-9369-5C3D180874C8}"/>
              </a:ext>
            </a:extLst>
          </p:cNvPr>
          <p:cNvSpPr/>
          <p:nvPr/>
        </p:nvSpPr>
        <p:spPr bwMode="auto">
          <a:xfrm>
            <a:off x="1207854" y="1622110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DataPipeline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33F274-94E7-A1C8-CB73-99E0BD59B505}"/>
              </a:ext>
            </a:extLst>
          </p:cNvPr>
          <p:cNvSpPr/>
          <p:nvPr/>
        </p:nvSpPr>
        <p:spPr bwMode="auto">
          <a:xfrm>
            <a:off x="1207854" y="2027858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Dataflow</a:t>
            </a:r>
          </a:p>
        </p:txBody>
      </p:sp>
    </p:spTree>
    <p:extLst>
      <p:ext uri="{BB962C8B-B14F-4D97-AF65-F5344CB8AC3E}">
        <p14:creationId xmlns:p14="http://schemas.microsoft.com/office/powerpoint/2010/main" val="444921670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E42FD6-2E77-96C8-9E00-9558CDB4E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553" y="509531"/>
            <a:ext cx="7778207" cy="2246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873E6B-0337-6EA8-B5AB-01879401C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273" y="3680142"/>
            <a:ext cx="7778207" cy="22465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9D434C3-9BAB-B635-0236-71DEDF24F317}"/>
              </a:ext>
            </a:extLst>
          </p:cNvPr>
          <p:cNvSpPr/>
          <p:nvPr/>
        </p:nvSpPr>
        <p:spPr bwMode="auto">
          <a:xfrm>
            <a:off x="1943219" y="5285290"/>
            <a:ext cx="3385084" cy="222474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67CF835-859D-CCB6-FCF2-E40BBDB91E1E}"/>
              </a:ext>
            </a:extLst>
          </p:cNvPr>
          <p:cNvSpPr/>
          <p:nvPr/>
        </p:nvSpPr>
        <p:spPr bwMode="auto">
          <a:xfrm>
            <a:off x="1683521" y="5285290"/>
            <a:ext cx="216502" cy="205099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745845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146060-8D0C-2C06-0CDC-EC0F093D2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78" y="2230272"/>
            <a:ext cx="2915057" cy="153373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4C8E71-CEE0-50C1-645B-CA765C17A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78" y="612844"/>
            <a:ext cx="3562847" cy="1152686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B5D4DE-87E8-EA2A-3760-AC40184D0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233" y="521404"/>
            <a:ext cx="4744112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797157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1075-D850-9317-DD2F-7327A9A3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2C65CC7-7B4E-E704-28B0-67313FBE9FBC}"/>
              </a:ext>
            </a:extLst>
          </p:cNvPr>
          <p:cNvSpPr/>
          <p:nvPr/>
        </p:nvSpPr>
        <p:spPr bwMode="auto">
          <a:xfrm>
            <a:off x="240883" y="3395448"/>
            <a:ext cx="3581050" cy="18702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workspace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F9E2E5-BAF2-7D61-3F15-DB0841EB7AB3}"/>
              </a:ext>
            </a:extLst>
          </p:cNvPr>
          <p:cNvSpPr/>
          <p:nvPr/>
        </p:nvSpPr>
        <p:spPr bwMode="auto">
          <a:xfrm>
            <a:off x="4399396" y="3395447"/>
            <a:ext cx="3562811" cy="18702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workspace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AC3D105B-3470-8B36-4C3B-5F5E0061B2F3}"/>
              </a:ext>
            </a:extLst>
          </p:cNvPr>
          <p:cNvSpPr/>
          <p:nvPr/>
        </p:nvSpPr>
        <p:spPr bwMode="auto">
          <a:xfrm>
            <a:off x="3832093" y="3688847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2760DE-724B-9D79-5792-CC63CCB121F6}"/>
              </a:ext>
            </a:extLst>
          </p:cNvPr>
          <p:cNvSpPr/>
          <p:nvPr/>
        </p:nvSpPr>
        <p:spPr bwMode="auto">
          <a:xfrm>
            <a:off x="8571317" y="3395447"/>
            <a:ext cx="3581049" cy="18702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workspace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7483D0-A50A-1877-0B22-999049351619}"/>
              </a:ext>
            </a:extLst>
          </p:cNvPr>
          <p:cNvSpPr/>
          <p:nvPr/>
        </p:nvSpPr>
        <p:spPr bwMode="auto">
          <a:xfrm>
            <a:off x="352613" y="3718095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72691AE-C066-77EE-E0FA-C0E0C766E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752772"/>
              </p:ext>
            </p:extLst>
          </p:nvPr>
        </p:nvGraphicFramePr>
        <p:xfrm>
          <a:off x="352614" y="3945848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053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11111111-1111-1111-1111-111111111111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1" name="Arrow: Right 30">
            <a:extLst>
              <a:ext uri="{FF2B5EF4-FFF2-40B4-BE49-F238E27FC236}">
                <a16:creationId xmlns:a16="http://schemas.microsoft.com/office/drawing/2014/main" id="{B726F6A9-4A0E-E546-260C-AF8B24D2B3F5}"/>
              </a:ext>
            </a:extLst>
          </p:cNvPr>
          <p:cNvSpPr/>
          <p:nvPr/>
        </p:nvSpPr>
        <p:spPr bwMode="auto">
          <a:xfrm>
            <a:off x="8005900" y="3688846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88E-706C-9AD8-9B57-033C0C2C10CB}"/>
              </a:ext>
            </a:extLst>
          </p:cNvPr>
          <p:cNvSpPr/>
          <p:nvPr/>
        </p:nvSpPr>
        <p:spPr bwMode="auto">
          <a:xfrm>
            <a:off x="4550892" y="3722514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1322248-9356-46EE-DEAF-0E9065AC8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248294"/>
              </p:ext>
            </p:extLst>
          </p:nvPr>
        </p:nvGraphicFramePr>
        <p:xfrm>
          <a:off x="4550893" y="3950267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818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22222222-2222-2222-2222-222222222222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191B6C03-4E38-70FE-A965-A643C054AAE7}"/>
              </a:ext>
            </a:extLst>
          </p:cNvPr>
          <p:cNvSpPr/>
          <p:nvPr/>
        </p:nvSpPr>
        <p:spPr bwMode="auto">
          <a:xfrm>
            <a:off x="8718689" y="3715890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BD3F71B-1124-4357-201A-7210FEB1E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115040"/>
              </p:ext>
            </p:extLst>
          </p:nvPr>
        </p:nvGraphicFramePr>
        <p:xfrm>
          <a:off x="8718690" y="3943643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34725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33333333-3333-3333-3333-333333333333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E0209436-E9A6-D0C0-5E55-28C30492401A}"/>
              </a:ext>
            </a:extLst>
          </p:cNvPr>
          <p:cNvSpPr/>
          <p:nvPr/>
        </p:nvSpPr>
        <p:spPr bwMode="auto">
          <a:xfrm>
            <a:off x="278318" y="797920"/>
            <a:ext cx="3581050" cy="1512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workspace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88422C-4499-A255-979E-898CED480233}"/>
              </a:ext>
            </a:extLst>
          </p:cNvPr>
          <p:cNvSpPr/>
          <p:nvPr/>
        </p:nvSpPr>
        <p:spPr bwMode="auto">
          <a:xfrm>
            <a:off x="4436831" y="797919"/>
            <a:ext cx="3562811" cy="1512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workspace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2EEEEEB1-7570-0AF3-C34B-FDDE434F8DD8}"/>
              </a:ext>
            </a:extLst>
          </p:cNvPr>
          <p:cNvSpPr/>
          <p:nvPr/>
        </p:nvSpPr>
        <p:spPr bwMode="auto">
          <a:xfrm>
            <a:off x="3859368" y="1182295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ACDB4C-85A6-24F4-4265-C59D07BAF736}"/>
              </a:ext>
            </a:extLst>
          </p:cNvPr>
          <p:cNvSpPr/>
          <p:nvPr/>
        </p:nvSpPr>
        <p:spPr bwMode="auto">
          <a:xfrm>
            <a:off x="8608752" y="797918"/>
            <a:ext cx="3581049" cy="1512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workspace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7BB852-7C90-DDBF-243D-FD8E8E918323}"/>
              </a:ext>
            </a:extLst>
          </p:cNvPr>
          <p:cNvSpPr/>
          <p:nvPr/>
        </p:nvSpPr>
        <p:spPr bwMode="auto">
          <a:xfrm>
            <a:off x="420528" y="1150583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4071E35-3A74-D1A5-7A65-C04C2A882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117659"/>
              </p:ext>
            </p:extLst>
          </p:nvPr>
        </p:nvGraphicFramePr>
        <p:xfrm>
          <a:off x="420529" y="1378336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8861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11111111-1111-1111-1111-111111111111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2" name="Arrow: Right 41">
            <a:extLst>
              <a:ext uri="{FF2B5EF4-FFF2-40B4-BE49-F238E27FC236}">
                <a16:creationId xmlns:a16="http://schemas.microsoft.com/office/drawing/2014/main" id="{8DDFD746-B450-FDE4-D8C6-104305D80B95}"/>
              </a:ext>
            </a:extLst>
          </p:cNvPr>
          <p:cNvSpPr/>
          <p:nvPr/>
        </p:nvSpPr>
        <p:spPr bwMode="auto">
          <a:xfrm>
            <a:off x="8024819" y="1116502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37DF1DF-9FE3-5BEB-9AC7-E9724DC32682}"/>
              </a:ext>
            </a:extLst>
          </p:cNvPr>
          <p:cNvSpPr/>
          <p:nvPr/>
        </p:nvSpPr>
        <p:spPr bwMode="auto">
          <a:xfrm>
            <a:off x="4588327" y="1104202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951ECB2E-2278-9F1D-27B3-9B11FB278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885191"/>
              </p:ext>
            </p:extLst>
          </p:nvPr>
        </p:nvGraphicFramePr>
        <p:xfrm>
          <a:off x="4588328" y="1331955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168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22222222-2222-2222-2222-222222222222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5" name="Rectangle 44">
            <a:extLst>
              <a:ext uri="{FF2B5EF4-FFF2-40B4-BE49-F238E27FC236}">
                <a16:creationId xmlns:a16="http://schemas.microsoft.com/office/drawing/2014/main" id="{EC047CCF-EA65-B2A1-69E3-0088CBE8020E}"/>
              </a:ext>
            </a:extLst>
          </p:cNvPr>
          <p:cNvSpPr/>
          <p:nvPr/>
        </p:nvSpPr>
        <p:spPr bwMode="auto">
          <a:xfrm>
            <a:off x="8756124" y="1097578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53AAC975-295F-82DE-2607-A6F9043A3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09236"/>
              </p:ext>
            </p:extLst>
          </p:nvPr>
        </p:nvGraphicFramePr>
        <p:xfrm>
          <a:off x="8756125" y="1325331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24127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33333333-3333-3333-3333-333333333333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9BDAAA28-E6D3-C112-5EA1-6CC90650D56E}"/>
              </a:ext>
            </a:extLst>
          </p:cNvPr>
          <p:cNvSpPr/>
          <p:nvPr/>
        </p:nvSpPr>
        <p:spPr bwMode="auto">
          <a:xfrm>
            <a:off x="324150" y="4766261"/>
            <a:ext cx="11738929" cy="260117"/>
          </a:xfrm>
          <a:prstGeom prst="rect">
            <a:avLst/>
          </a:prstGeom>
          <a:noFill/>
          <a:ln w="38100">
            <a:solidFill>
              <a:srgbClr val="EE0000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273068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86AF28-9D48-821A-1CBE-49EFC8CCF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" y="1060766"/>
            <a:ext cx="4156671" cy="212947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437BFD1-D7BA-B06C-5D50-A5E3CEBBB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 need to be recreated in PPT objects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8A7C0-F1DC-65D8-72E8-AD5EFA5E6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30" y="3497262"/>
            <a:ext cx="7170709" cy="314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740875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2B2DE83-CDBA-92D9-0133-0F4BA3891459}"/>
              </a:ext>
            </a:extLst>
          </p:cNvPr>
          <p:cNvGrpSpPr/>
          <p:nvPr/>
        </p:nvGrpSpPr>
        <p:grpSpPr>
          <a:xfrm>
            <a:off x="1209039" y="893566"/>
            <a:ext cx="8014473" cy="3092025"/>
            <a:chOff x="1209040" y="893566"/>
            <a:chExt cx="6258560" cy="349555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2E4EE76-81E2-F254-11B0-6BC974DDF1C2}"/>
                </a:ext>
              </a:extLst>
            </p:cNvPr>
            <p:cNvSpPr/>
            <p:nvPr/>
          </p:nvSpPr>
          <p:spPr bwMode="auto">
            <a:xfrm>
              <a:off x="1209040" y="893566"/>
              <a:ext cx="6258560" cy="3495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A9D3C05-406F-0669-E454-C5AD1DF45439}"/>
                </a:ext>
              </a:extLst>
            </p:cNvPr>
            <p:cNvGrpSpPr/>
            <p:nvPr/>
          </p:nvGrpSpPr>
          <p:grpSpPr>
            <a:xfrm>
              <a:off x="1352499" y="1065759"/>
              <a:ext cx="5908139" cy="343430"/>
              <a:chOff x="4969459" y="3770906"/>
              <a:chExt cx="5908139" cy="412806"/>
            </a:xfrm>
          </p:grpSpPr>
          <p:sp>
            <p:nvSpPr>
              <p:cNvPr id="10" name="Arrow: Right 9">
                <a:extLst>
                  <a:ext uri="{FF2B5EF4-FFF2-40B4-BE49-F238E27FC236}">
                    <a16:creationId xmlns:a16="http://schemas.microsoft.com/office/drawing/2014/main" id="{780A3D1F-2A6E-F14E-98F7-04C33BA24897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F44C783-EF04-90BD-F682-73F05917427E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Microsoft Azure Fabric REST APIs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BA22E1C-016E-AC2A-7D82-0B886BE7DDD7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1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5056F58-5465-6F67-8239-9F6B0A2548E8}"/>
                </a:ext>
              </a:extLst>
            </p:cNvPr>
            <p:cNvGrpSpPr/>
            <p:nvPr/>
          </p:nvGrpSpPr>
          <p:grpSpPr>
            <a:xfrm>
              <a:off x="1352499" y="1521793"/>
              <a:ext cx="5908139" cy="343430"/>
              <a:chOff x="4969459" y="3770906"/>
              <a:chExt cx="5908139" cy="412806"/>
            </a:xfrm>
          </p:grpSpPr>
          <p:sp>
            <p:nvSpPr>
              <p:cNvPr id="20" name="Arrow: Right 19">
                <a:extLst>
                  <a:ext uri="{FF2B5EF4-FFF2-40B4-BE49-F238E27FC236}">
                    <a16:creationId xmlns:a16="http://schemas.microsoft.com/office/drawing/2014/main" id="{09686B29-FE1B-4BDA-C2D9-9CEE86B7EDAE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A13E24F-DD09-7038-9535-C74ED2C5D4A2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Fabric REST APIs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35C9E83-CEB7-E49C-69FD-FCB9373330F0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2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0C193EB-FC0D-0EED-2D85-0AA4E38D9EB9}"/>
                </a:ext>
              </a:extLst>
            </p:cNvPr>
            <p:cNvGrpSpPr/>
            <p:nvPr/>
          </p:nvGrpSpPr>
          <p:grpSpPr>
            <a:xfrm>
              <a:off x="1352499" y="1986568"/>
              <a:ext cx="5908139" cy="343430"/>
              <a:chOff x="4969459" y="3770906"/>
              <a:chExt cx="5908139" cy="412806"/>
            </a:xfrm>
          </p:grpSpPr>
          <p:sp>
            <p:nvSpPr>
              <p:cNvPr id="24" name="Arrow: Right 23">
                <a:extLst>
                  <a:ext uri="{FF2B5EF4-FFF2-40B4-BE49-F238E27FC236}">
                    <a16:creationId xmlns:a16="http://schemas.microsoft.com/office/drawing/2014/main" id="{A44801E6-522D-DBE3-33A1-4C120BAC6EE6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480E909-627B-A66D-6EB9-1A7D654F9E89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Power BI REST APIs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A7153D5-F24C-FA79-BA33-471806F82D16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3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17B03C9-2131-6750-72C3-7029993D4924}"/>
                </a:ext>
              </a:extLst>
            </p:cNvPr>
            <p:cNvGrpSpPr/>
            <p:nvPr/>
          </p:nvGrpSpPr>
          <p:grpSpPr>
            <a:xfrm>
              <a:off x="1352499" y="2442602"/>
              <a:ext cx="5908139" cy="343430"/>
              <a:chOff x="4969459" y="3770906"/>
              <a:chExt cx="5908139" cy="412806"/>
            </a:xfrm>
          </p:grpSpPr>
          <p:sp>
            <p:nvSpPr>
              <p:cNvPr id="28" name="Arrow: Right 27">
                <a:extLst>
                  <a:ext uri="{FF2B5EF4-FFF2-40B4-BE49-F238E27FC236}">
                    <a16:creationId xmlns:a16="http://schemas.microsoft.com/office/drawing/2014/main" id="{AAEB7D31-E3EF-B162-77F3-BBAC184D13F9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F9A0CF0-A14F-AD1C-9773-63778E4D7654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Tabular Object Model (TOM)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E3F21D-26EB-6566-B818-C684FA92245D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4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8A6DFC6-FD50-5B5F-84CC-9C8B05418DA8}"/>
                </a:ext>
              </a:extLst>
            </p:cNvPr>
            <p:cNvGrpSpPr/>
            <p:nvPr/>
          </p:nvGrpSpPr>
          <p:grpSpPr>
            <a:xfrm>
              <a:off x="1352499" y="2922006"/>
              <a:ext cx="5908139" cy="343430"/>
              <a:chOff x="4969459" y="3770906"/>
              <a:chExt cx="5908139" cy="412806"/>
            </a:xfrm>
          </p:grpSpPr>
          <p:sp>
            <p:nvSpPr>
              <p:cNvPr id="32" name="Arrow: Right 31">
                <a:extLst>
                  <a:ext uri="{FF2B5EF4-FFF2-40B4-BE49-F238E27FC236}">
                    <a16:creationId xmlns:a16="http://schemas.microsoft.com/office/drawing/2014/main" id="{9681DF32-4165-DFD6-C1F7-93D21FB40460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5281C2E-3FC9-99C1-3A03-91A6687BE15B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Azure Data Lake Storage (ADLS) Gen2 APIs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5F1322C-7039-593D-AAE6-1156B45D6364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5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C87952E-460A-0C85-2A65-5C1EA4D2B2A9}"/>
                </a:ext>
              </a:extLst>
            </p:cNvPr>
            <p:cNvGrpSpPr/>
            <p:nvPr/>
          </p:nvGrpSpPr>
          <p:grpSpPr>
            <a:xfrm>
              <a:off x="1352499" y="3378040"/>
              <a:ext cx="5908139" cy="343430"/>
              <a:chOff x="4969459" y="3770906"/>
              <a:chExt cx="5908139" cy="412806"/>
            </a:xfrm>
          </p:grpSpPr>
          <p:sp>
            <p:nvSpPr>
              <p:cNvPr id="36" name="Arrow: Right 35">
                <a:extLst>
                  <a:ext uri="{FF2B5EF4-FFF2-40B4-BE49-F238E27FC236}">
                    <a16:creationId xmlns:a16="http://schemas.microsoft.com/office/drawing/2014/main" id="{44188F5B-049C-34B2-57AA-79218B292EB0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DB1DD1B-9F33-E3C8-FAC8-3E76653FCAD6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Azure DevOps Services REST API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C151EFA-D0FB-17C0-DB63-FE1043914CEE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6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AD7E3D3-5BB8-2021-5BA2-72E557315C43}"/>
                </a:ext>
              </a:extLst>
            </p:cNvPr>
            <p:cNvGrpSpPr/>
            <p:nvPr/>
          </p:nvGrpSpPr>
          <p:grpSpPr>
            <a:xfrm>
              <a:off x="1352499" y="3850060"/>
              <a:ext cx="5908139" cy="343430"/>
              <a:chOff x="4969459" y="3770906"/>
              <a:chExt cx="5908139" cy="412806"/>
            </a:xfrm>
          </p:grpSpPr>
          <p:sp>
            <p:nvSpPr>
              <p:cNvPr id="40" name="Arrow: Right 39">
                <a:extLst>
                  <a:ext uri="{FF2B5EF4-FFF2-40B4-BE49-F238E27FC236}">
                    <a16:creationId xmlns:a16="http://schemas.microsoft.com/office/drawing/2014/main" id="{0E1EEFB1-108C-CD75-0864-A6144F5F4ABD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17462E7-EC60-79F5-DABA-E81AA938FFC4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GitHub REST APIs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0B2CC5E-1EF6-55C7-110F-D77556F5BB98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9383652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8C79D-BF78-AC57-3E27-8FA378FD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3EF9C11-F613-A8F0-4743-59AA494610EA}"/>
              </a:ext>
            </a:extLst>
          </p:cNvPr>
          <p:cNvSpPr/>
          <p:nvPr/>
        </p:nvSpPr>
        <p:spPr bwMode="auto">
          <a:xfrm>
            <a:off x="1373965" y="755393"/>
            <a:ext cx="8765715" cy="296316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5199F46-1443-BEC9-F5D3-50ABF028ACB0}"/>
              </a:ext>
            </a:extLst>
          </p:cNvPr>
          <p:cNvSpPr/>
          <p:nvPr/>
        </p:nvSpPr>
        <p:spPr bwMode="auto">
          <a:xfrm>
            <a:off x="6357977" y="1374216"/>
            <a:ext cx="3446423" cy="20497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C9DACAB-97C4-D0D3-9B92-DD464DA398D5}"/>
              </a:ext>
            </a:extLst>
          </p:cNvPr>
          <p:cNvGrpSpPr/>
          <p:nvPr/>
        </p:nvGrpSpPr>
        <p:grpSpPr>
          <a:xfrm>
            <a:off x="1686560" y="979629"/>
            <a:ext cx="3181884" cy="2444291"/>
            <a:chOff x="7567016" y="187149"/>
            <a:chExt cx="4439582" cy="284053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D428E9-F1DC-C03A-1B8B-1D0F31477B1A}"/>
                </a:ext>
              </a:extLst>
            </p:cNvPr>
            <p:cNvSpPr/>
            <p:nvPr/>
          </p:nvSpPr>
          <p:spPr bwMode="auto">
            <a:xfrm>
              <a:off x="7567017" y="645702"/>
              <a:ext cx="4439581" cy="23819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659AC6E-B55E-FF8A-9F2B-2524A3A9A081}"/>
                </a:ext>
              </a:extLst>
            </p:cNvPr>
            <p:cNvSpPr/>
            <p:nvPr/>
          </p:nvSpPr>
          <p:spPr bwMode="auto">
            <a:xfrm>
              <a:off x="7567016" y="187149"/>
              <a:ext cx="4439581" cy="47608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DevOps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C047008-EBBC-AEFC-6061-8583AA25B840}"/>
              </a:ext>
            </a:extLst>
          </p:cNvPr>
          <p:cNvSpPr/>
          <p:nvPr/>
        </p:nvSpPr>
        <p:spPr bwMode="auto">
          <a:xfrm>
            <a:off x="6357976" y="979629"/>
            <a:ext cx="3446423" cy="40967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Environment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F8896-D87B-6CFB-3A9F-8DFFC22A08DA}"/>
              </a:ext>
            </a:extLst>
          </p:cNvPr>
          <p:cNvSpPr/>
          <p:nvPr/>
        </p:nvSpPr>
        <p:spPr bwMode="auto">
          <a:xfrm>
            <a:off x="6977122" y="1996213"/>
            <a:ext cx="2231436" cy="896074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Notebook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26160E5-20F5-5BBE-EBE6-2CE7BBACD8C8}"/>
              </a:ext>
            </a:extLst>
          </p:cNvPr>
          <p:cNvSpPr/>
          <p:nvPr/>
        </p:nvSpPr>
        <p:spPr bwMode="auto">
          <a:xfrm>
            <a:off x="6657128" y="1529199"/>
            <a:ext cx="2778080" cy="32711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6B59101-2828-FBAC-DE26-1E28B177E45B}"/>
              </a:ext>
            </a:extLst>
          </p:cNvPr>
          <p:cNvSpPr/>
          <p:nvPr/>
        </p:nvSpPr>
        <p:spPr bwMode="auto">
          <a:xfrm>
            <a:off x="6657128" y="1840739"/>
            <a:ext cx="2778080" cy="1254769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0543BD79-DF3A-AB27-19EB-61C5FB2CC55C}"/>
              </a:ext>
            </a:extLst>
          </p:cNvPr>
          <p:cNvSpPr/>
          <p:nvPr/>
        </p:nvSpPr>
        <p:spPr bwMode="auto">
          <a:xfrm>
            <a:off x="4421391" y="2154457"/>
            <a:ext cx="2487409" cy="507463"/>
          </a:xfrm>
          <a:prstGeom prst="rightArrow">
            <a:avLst>
              <a:gd name="adj1" fmla="val 62758"/>
              <a:gd name="adj2" fmla="val 72023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Run Notebook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B343B0-7F70-4B44-6CB0-25A75E440737}"/>
              </a:ext>
            </a:extLst>
          </p:cNvPr>
          <p:cNvSpPr/>
          <p:nvPr/>
        </p:nvSpPr>
        <p:spPr bwMode="auto">
          <a:xfrm>
            <a:off x="1971303" y="1702624"/>
            <a:ext cx="2450088" cy="139288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Pipeline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C665592-CA6C-B5E7-246F-A6269EC08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861" y="4919472"/>
            <a:ext cx="1733792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59338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78374-6D93-DE30-C294-CAB3A37D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1ECCAD9-6A29-E075-CA34-9A2388C8D4A2}"/>
              </a:ext>
            </a:extLst>
          </p:cNvPr>
          <p:cNvSpPr/>
          <p:nvPr/>
        </p:nvSpPr>
        <p:spPr bwMode="auto">
          <a:xfrm>
            <a:off x="3642668" y="217216"/>
            <a:ext cx="7199589" cy="27545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9E129A-F40B-78A4-043F-1056A6D0C222}"/>
              </a:ext>
            </a:extLst>
          </p:cNvPr>
          <p:cNvSpPr/>
          <p:nvPr/>
        </p:nvSpPr>
        <p:spPr bwMode="auto">
          <a:xfrm>
            <a:off x="8395478" y="359323"/>
            <a:ext cx="2306563" cy="247251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APIs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B6F30E5-16DC-279A-BDDC-0611B6C67311}"/>
              </a:ext>
            </a:extLst>
          </p:cNvPr>
          <p:cNvSpPr/>
          <p:nvPr/>
        </p:nvSpPr>
        <p:spPr bwMode="auto">
          <a:xfrm>
            <a:off x="5017089" y="487447"/>
            <a:ext cx="3338635" cy="493519"/>
          </a:xfrm>
          <a:prstGeom prst="rightArrow">
            <a:avLst>
              <a:gd name="adj1" fmla="val 65947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Item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4ABE7D-AAC0-AFB8-9310-162C1BFC9235}"/>
              </a:ext>
            </a:extLst>
          </p:cNvPr>
          <p:cNvSpPr/>
          <p:nvPr/>
        </p:nvSpPr>
        <p:spPr bwMode="auto">
          <a:xfrm>
            <a:off x="3756027" y="359323"/>
            <a:ext cx="1261062" cy="71377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Item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Definition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965275D0-E57E-F23F-150C-87A4131E1139}"/>
              </a:ext>
            </a:extLst>
          </p:cNvPr>
          <p:cNvSpPr/>
          <p:nvPr/>
        </p:nvSpPr>
        <p:spPr bwMode="auto">
          <a:xfrm>
            <a:off x="5017088" y="1333212"/>
            <a:ext cx="3338635" cy="493519"/>
          </a:xfrm>
          <a:prstGeom prst="rightArrow">
            <a:avLst>
              <a:gd name="adj1" fmla="val 65947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Update Item Definition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951EE0-647B-370E-0532-777F5D9ED590}"/>
              </a:ext>
            </a:extLst>
          </p:cNvPr>
          <p:cNvSpPr/>
          <p:nvPr/>
        </p:nvSpPr>
        <p:spPr bwMode="auto">
          <a:xfrm>
            <a:off x="3756027" y="1223087"/>
            <a:ext cx="1261062" cy="71377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Item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Definition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1A651E6-CB03-ACCC-5C30-1A32B01C2494}"/>
              </a:ext>
            </a:extLst>
          </p:cNvPr>
          <p:cNvSpPr/>
          <p:nvPr/>
        </p:nvSpPr>
        <p:spPr bwMode="auto">
          <a:xfrm flipH="1">
            <a:off x="3756026" y="2086847"/>
            <a:ext cx="4493451" cy="493519"/>
          </a:xfrm>
          <a:prstGeom prst="rightArrow">
            <a:avLst>
              <a:gd name="adj1" fmla="val 65947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Get Item Definition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1E8C06-1A67-530B-739A-5B8C2D07F5F2}"/>
              </a:ext>
            </a:extLst>
          </p:cNvPr>
          <p:cNvSpPr/>
          <p:nvPr/>
        </p:nvSpPr>
        <p:spPr bwMode="auto">
          <a:xfrm>
            <a:off x="6686405" y="1976720"/>
            <a:ext cx="1261062" cy="71377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Item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3515172411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BCC36B-13B7-308D-5CE2-436D5116C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08" y="358379"/>
            <a:ext cx="7373379" cy="56681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3112187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62AF20-7495-721F-2F6E-7E59BFFF8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22" y="939416"/>
            <a:ext cx="8935278" cy="37897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4043978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FD4667-A9C6-C6C6-5B08-6DBFBB40FD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967"/>
          <a:stretch>
            <a:fillRect/>
          </a:stretch>
        </p:blipFill>
        <p:spPr>
          <a:xfrm>
            <a:off x="494131" y="428887"/>
            <a:ext cx="4514716" cy="28324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124EC3-66F9-F096-52F7-0E801B6EB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296" y="428887"/>
            <a:ext cx="4117893" cy="283247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DD000D-2265-C42F-BAB9-7016DA6D5B2E}"/>
              </a:ext>
            </a:extLst>
          </p:cNvPr>
          <p:cNvCxnSpPr>
            <a:cxnSpLocks/>
          </p:cNvCxnSpPr>
          <p:nvPr/>
        </p:nvCxnSpPr>
        <p:spPr>
          <a:xfrm>
            <a:off x="3810000" y="1933481"/>
            <a:ext cx="1808480" cy="0"/>
          </a:xfrm>
          <a:prstGeom prst="straightConnector1">
            <a:avLst/>
          </a:prstGeom>
          <a:ln w="57150">
            <a:solidFill>
              <a:srgbClr val="EE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241603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ACC60-1FA3-2FDB-C7CD-B15D0C141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33" y="657931"/>
            <a:ext cx="9764488" cy="3524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0952068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92654F-B93D-DC3A-EBC5-23D16FB3A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" y="766267"/>
            <a:ext cx="11044555" cy="4575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95108337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B95F66-9CD1-A3E6-142E-0BBFD0E6F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16" y="489239"/>
            <a:ext cx="7629811" cy="335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27211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794D19-378E-08ED-3FBC-5E4D99773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429" y="969617"/>
            <a:ext cx="5430742" cy="440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5727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208BD1-97C7-3E4C-1108-B120C3D91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572" y="2254076"/>
            <a:ext cx="10069330" cy="24863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6629105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974CD2-6211-1219-8E01-BDBEF2920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95" y="868440"/>
            <a:ext cx="8478433" cy="48203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0849097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D2A8E2-B35E-6464-2B99-6444D98B3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62" y="999396"/>
            <a:ext cx="10631384" cy="3524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86910088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86B019-F44B-0CCB-46D3-037548512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758" y="1101390"/>
            <a:ext cx="7220958" cy="47917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361476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abric Theme">
  <a:themeElements>
    <a:clrScheme name="Custom 4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F2C80F"/>
      </a:accent1>
      <a:accent2>
        <a:srgbClr val="0045D6"/>
      </a:accent2>
      <a:accent3>
        <a:srgbClr val="008D7B"/>
      </a:accent3>
      <a:accent4>
        <a:srgbClr val="002166"/>
      </a:accent4>
      <a:accent5>
        <a:srgbClr val="002D89"/>
      </a:accent5>
      <a:accent6>
        <a:srgbClr val="1BFFE2"/>
      </a:accent6>
      <a:hlink>
        <a:srgbClr val="0078D4"/>
      </a:hlink>
      <a:folHlink>
        <a:srgbClr val="0078D4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8EF47BD7-F710-45A9-8AE8-D03654F6711E}" vid="{3CF6A8A8-DA63-4A8A-A544-BAFFF90A76CB}"/>
    </a:ext>
  </a:extLst>
</a:theme>
</file>

<file path=ppt/theme/theme2.xml><?xml version="1.0" encoding="utf-8"?>
<a:theme xmlns:a="http://schemas.openxmlformats.org/drawingml/2006/main" name="Theme1">
  <a:themeElements>
    <a:clrScheme name="Custom 10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008D7B"/>
      </a:accent1>
      <a:accent2>
        <a:srgbClr val="0045D6"/>
      </a:accent2>
      <a:accent3>
        <a:srgbClr val="FFFFCC"/>
      </a:accent3>
      <a:accent4>
        <a:srgbClr val="990099"/>
      </a:accent4>
      <a:accent5>
        <a:srgbClr val="900000"/>
      </a:accent5>
      <a:accent6>
        <a:srgbClr val="FFC000"/>
      </a:accent6>
      <a:hlink>
        <a:srgbClr val="C00000"/>
      </a:hlink>
      <a:folHlink>
        <a:srgbClr val="C00000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278F993C-81DB-4FF5-BCAA-CBB0E0CCC442}" vid="{58D1AD11-405F-4081-B6AE-91DD6BC4897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692671-1E95-4751-B591-81D3AFC057E8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3c10a0e8-556e-4c2d-9121-1181542ea83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3AD2D799A0384499DFA8618B2D06C3" ma:contentTypeVersion="19" ma:contentTypeDescription="Create a new document." ma:contentTypeScope="" ma:versionID="4ad8bb11041bccc4900be347311affd5">
  <xsd:schema xmlns:xsd="http://www.w3.org/2001/XMLSchema" xmlns:xs="http://www.w3.org/2001/XMLSchema" xmlns:p="http://schemas.microsoft.com/office/2006/metadata/properties" xmlns:ns1="http://schemas.microsoft.com/sharepoint/v3" xmlns:ns3="3c10a0e8-556e-4c2d-9121-1181542ea83c" xmlns:ns4="91f22b01-9196-48cc-8d58-ee179122dd75" targetNamespace="http://schemas.microsoft.com/office/2006/metadata/properties" ma:root="true" ma:fieldsID="55cc422832b79ebb748bec44d447ca3b" ns1:_="" ns3:_="" ns4:_="">
    <xsd:import namespace="http://schemas.microsoft.com/sharepoint/v3"/>
    <xsd:import namespace="3c10a0e8-556e-4c2d-9121-1181542ea83c"/>
    <xsd:import namespace="91f22b01-9196-48cc-8d58-ee179122dd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CR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10a0e8-556e-4c2d-9121-1181542e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f22b01-9196-48cc-8d58-ee179122dd7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sharepoint/v3"/>
    <ds:schemaRef ds:uri="http://www.w3.org/XML/1998/namespace"/>
    <ds:schemaRef ds:uri="http://schemas.microsoft.com/office/infopath/2007/PartnerControls"/>
    <ds:schemaRef ds:uri="91f22b01-9196-48cc-8d58-ee179122dd75"/>
    <ds:schemaRef ds:uri="3c10a0e8-556e-4c2d-9121-1181542ea83c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411704-DA91-4A2A-81D1-00044852D0BE}">
  <ds:schemaRefs>
    <ds:schemaRef ds:uri="3c10a0e8-556e-4c2d-9121-1181542ea83c"/>
    <ds:schemaRef ds:uri="91f22b01-9196-48cc-8d58-ee179122dd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14658</TotalTime>
  <Words>842</Words>
  <Application>Microsoft Office PowerPoint</Application>
  <PresentationFormat>Custom</PresentationFormat>
  <Paragraphs>430</Paragraphs>
  <Slides>57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66" baseType="lpstr">
      <vt:lpstr>Arial</vt:lpstr>
      <vt:lpstr>Arial Black</vt:lpstr>
      <vt:lpstr>Lucida Console</vt:lpstr>
      <vt:lpstr>Segoe UI</vt:lpstr>
      <vt:lpstr>Segoe UI Light</vt:lpstr>
      <vt:lpstr>Segoe UI Semibold</vt:lpstr>
      <vt:lpstr>Wingdings</vt:lpstr>
      <vt:lpstr>Fabric Theme</vt:lpstr>
      <vt:lpstr>Theme1</vt:lpstr>
      <vt:lpstr>Chapter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Creating a GIT Repository in GitHub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Creating a GIT Repository in Azure DevOps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Images need to be recreated in PPT objects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&lt;Speech title here&gt;</dc:subject>
  <dc:creator>Arvind Dutta;Ted.Pattison@microsoft.com</dc:creator>
  <cp:keywords/>
  <dc:description>Template: Ariel Butz; ZUM Communications
Formatting: 
Audience Type:</dc:description>
  <cp:lastModifiedBy>Ted Pattison</cp:lastModifiedBy>
  <cp:revision>46</cp:revision>
  <cp:lastPrinted>2025-03-29T10:59:42Z</cp:lastPrinted>
  <dcterms:created xsi:type="dcterms:W3CDTF">2018-09-21T01:16:59Z</dcterms:created>
  <dcterms:modified xsi:type="dcterms:W3CDTF">2026-05-21T15:15:44Z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0x010100B63AD2D799A0384499DFA8618B2D06C3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AuthorIds_UIVersion_47104">
    <vt:lpwstr>18</vt:lpwstr>
  </property>
  <property fmtid="{D5CDD505-2E9C-101B-9397-08002B2CF9AE}" pid="12" name="MSIP_Label_87867195-f2b8-4ac2-b0b6-6bb73cb33afc_Enabled">
    <vt:lpwstr>true</vt:lpwstr>
  </property>
  <property fmtid="{D5CDD505-2E9C-101B-9397-08002B2CF9AE}" pid="13" name="MSIP_Label_87867195-f2b8-4ac2-b0b6-6bb73cb33afc_SetDate">
    <vt:lpwstr>2021-11-16T15:21:41Z</vt:lpwstr>
  </property>
  <property fmtid="{D5CDD505-2E9C-101B-9397-08002B2CF9AE}" pid="14" name="MSIP_Label_87867195-f2b8-4ac2-b0b6-6bb73cb33afc_Method">
    <vt:lpwstr>Privileged</vt:lpwstr>
  </property>
  <property fmtid="{D5CDD505-2E9C-101B-9397-08002B2CF9AE}" pid="15" name="MSIP_Label_87867195-f2b8-4ac2-b0b6-6bb73cb33afc_Name">
    <vt:lpwstr>Not Restricted</vt:lpwstr>
  </property>
  <property fmtid="{D5CDD505-2E9C-101B-9397-08002B2CF9AE}" pid="16" name="MSIP_Label_87867195-f2b8-4ac2-b0b6-6bb73cb33afc_SiteId">
    <vt:lpwstr>72f988bf-86f1-41af-91ab-2d7cd011db47</vt:lpwstr>
  </property>
  <property fmtid="{D5CDD505-2E9C-101B-9397-08002B2CF9AE}" pid="17" name="MSIP_Label_87867195-f2b8-4ac2-b0b6-6bb73cb33afc_ActionId">
    <vt:lpwstr>9942a4e6-ac4e-4ace-9fe2-0b1ceecd1d50</vt:lpwstr>
  </property>
  <property fmtid="{D5CDD505-2E9C-101B-9397-08002B2CF9AE}" pid="18" name="MSIP_Label_87867195-f2b8-4ac2-b0b6-6bb73cb33afc_ContentBits">
    <vt:lpwstr>0</vt:lpwstr>
  </property>
</Properties>
</file>