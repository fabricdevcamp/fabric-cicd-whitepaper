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38"/>
  </p:notesMasterIdLst>
  <p:handoutMasterIdLst>
    <p:handoutMasterId r:id="rId39"/>
  </p:handoutMasterIdLst>
  <p:sldIdLst>
    <p:sldId id="2147482125" r:id="rId6"/>
    <p:sldId id="2147482112" r:id="rId7"/>
    <p:sldId id="2147482146" r:id="rId8"/>
    <p:sldId id="2147482102" r:id="rId9"/>
    <p:sldId id="2147482100" r:id="rId10"/>
    <p:sldId id="2147482162" r:id="rId11"/>
    <p:sldId id="2147482113" r:id="rId12"/>
    <p:sldId id="2147482165" r:id="rId13"/>
    <p:sldId id="2147482166" r:id="rId14"/>
    <p:sldId id="2147482136" r:id="rId15"/>
    <p:sldId id="2147482116" r:id="rId16"/>
    <p:sldId id="2147482132" r:id="rId17"/>
    <p:sldId id="2147482118" r:id="rId18"/>
    <p:sldId id="2147482139" r:id="rId19"/>
    <p:sldId id="2147482120" r:id="rId20"/>
    <p:sldId id="2147482148" r:id="rId21"/>
    <p:sldId id="2147482160" r:id="rId22"/>
    <p:sldId id="2147482140" r:id="rId23"/>
    <p:sldId id="2147482141" r:id="rId24"/>
    <p:sldId id="2147482158" r:id="rId25"/>
    <p:sldId id="2147482163" r:id="rId26"/>
    <p:sldId id="2147482168" r:id="rId27"/>
    <p:sldId id="2147482169" r:id="rId28"/>
    <p:sldId id="2147482170" r:id="rId29"/>
    <p:sldId id="2147482171" r:id="rId30"/>
    <p:sldId id="2147482172" r:id="rId31"/>
    <p:sldId id="2147482164" r:id="rId32"/>
    <p:sldId id="2147482161" r:id="rId33"/>
    <p:sldId id="2147482126" r:id="rId34"/>
    <p:sldId id="2147482127" r:id="rId35"/>
    <p:sldId id="2147482157" r:id="rId36"/>
    <p:sldId id="2147482167" r:id="rId37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12"/>
            <p14:sldId id="2147482146"/>
            <p14:sldId id="2147482102"/>
            <p14:sldId id="2147482100"/>
            <p14:sldId id="2147482162"/>
            <p14:sldId id="2147482113"/>
            <p14:sldId id="2147482165"/>
            <p14:sldId id="2147482166"/>
            <p14:sldId id="2147482136"/>
            <p14:sldId id="2147482116"/>
            <p14:sldId id="2147482132"/>
            <p14:sldId id="2147482118"/>
            <p14:sldId id="2147482139"/>
            <p14:sldId id="2147482120"/>
            <p14:sldId id="2147482148"/>
            <p14:sldId id="2147482160"/>
            <p14:sldId id="2147482140"/>
            <p14:sldId id="2147482141"/>
            <p14:sldId id="2147482158"/>
            <p14:sldId id="2147482163"/>
            <p14:sldId id="2147482168"/>
            <p14:sldId id="2147482169"/>
            <p14:sldId id="2147482170"/>
            <p14:sldId id="2147482171"/>
            <p14:sldId id="2147482172"/>
            <p14:sldId id="2147482164"/>
            <p14:sldId id="2147482161"/>
            <p14:sldId id="2147482126"/>
            <p14:sldId id="2147482127"/>
            <p14:sldId id="2147482157"/>
            <p14:sldId id="21474821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C00000"/>
    <a:srgbClr val="FFB9FF"/>
    <a:srgbClr val="FFFFFF"/>
    <a:srgbClr val="6C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24" autoAdjust="0"/>
  </p:normalViewPr>
  <p:slideViewPr>
    <p:cSldViewPr snapToGrid="0">
      <p:cViewPr varScale="1">
        <p:scale>
          <a:sx n="85" d="100"/>
          <a:sy n="85" d="100"/>
        </p:scale>
        <p:origin x="34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52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2-04T16:50:59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 8691 0,'54'180'32,"18"162"-17,-36-198-15,18 36 16,72 215-1,-108-287 1,-18-72 0,0 36-1,0 54 1,-72 162 0,36 0-1,36-198 1,0-54-1,-18-36 79,18-36-94</inkml:trace>
  <inkml:trace contextRef="#ctx0" brushRef="#br0" timeOffset="1830.34">1367 12254 0,'0'72'47,"0"-36"-32,0 18 1,0-1-1,36 145 1,216 486 0,-36-270-1,-108-162 1,-90-180 0,0-72 109,-90 90-16</inkml:trace>
  <inkml:trace contextRef="#ctx0" brushRef="#br0" timeOffset="4712.46">3491 16194 0,'0'36'47,"0"54"-16,0-36-15,-18 0-1,-18-18 1,18 18-1,0 18 1,0-18 0,-18 36-1,18-54 79,-144 468-78,162-486-1,-18 18 1,0 18 0,18-18-1,-18 18 1,18 18-1,0-18 1,0 0 0,0 0-1,18 18 1,-18-36 0,18-18-1,-18 18 1,18-36 156,0 0-157,0 0-15,18 0 32,18 18-17,-36 0 1,18 0-1,0-18 1,-18 0 0,36 0 140,-36 0-125,0 0-15,-18 18-1,18-18 1,18-18 93,18-18-93,17 0 0,-35 18-1,-36 0 1,18 0 62,0 18-15,18 18 46,-18 0-93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2-04T16:59:07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15941 8223 0,'-126'108'46,"73"-36"-30,-19 90 0,-72 72-1,72-126-15,-18 18 16,-342 306 0,72-145-1,90-35 1,54-108-1,90-54 1,54-18 0,18-18-1,0 18 1,-36 18 0,18-18-1,18-18 16,18 18-15,0-36 0,18 18-1,18 0 1,36 54 0,72 90-1,-18-90 1,72 90-1,162 198 1,126 144 0,0 35-1,-18-17 1,-1-144 0,37 36-1,-252-342 1,-54-18 15,126-18-15,90 54-1,0-36 1,-1 0 0,-89-18-1,-36 0 1,-18-54-1,36 18 1,216 53 0,-36-17-1,-19-18 1,-17-54 0,-36-54-1,-18-36 1,144 1 15,-234-1-31,215-54 16,-89-126-1,-126 54 1,36-72 0,-72-36-1,-162 0 1,-72-72-1,-72-90 1,-54 55 0,126 269-1,0 54-15,36-216 16,36-18 0,-18 90-1,36-36 1,0 54 15,-36 72-15,-54 90-1,0-36 1,-72-18 0,0 0-1,0 72 1,0-18-1,-18 0 1,54 55 0,-36-1-1,-666-54 1,-251 72 0,-19-36-1,324 18 16,379 108-15,161-19 0,36 109-1,18 18 1,-90 0 0,36-126-1,0 0 1,18 0-1,-108 18 1,108-18 0,18 90-1,90 126 1,18 108 0,36 0-1,36-90 1,-18-72 15,-18-127-15,18 73-1,54 72 1,-54-126-16,36 18 16,108 252-1,-108-288 1,-36-18-1,18 36 1,18 0 0,0-54-1,-18 54 1,36 36 0,108 108-1,-162-216 1,-18-18 15,-18-36-15,18 54-1,36 0 1,17 18 0,-35-18-1,0 18 1,-18-18-16,0 53 15,108 325 1,-72-288 0,-72-108-1,0-18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2/4/2026 9:01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24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92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F7DE-4A7A-7E9C-533A-7FE59904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6FD2-C4F8-2612-B02C-5C3E6B176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BA89B-47F3-83BC-AB1E-88C97BB68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A8B34E4-4DE0-80C6-D3A0-4D267ADDEDA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37F95-6A7E-9681-837E-11034F29B5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C8E6E-26E8-AAE5-500F-25A548700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85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F2FE-1F6A-E6D5-6FD1-C3A4861D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00B1D-86BA-326F-22E6-D43001C45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136E6-69E4-5BA9-7964-03C503CF8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08215A-3807-89F3-152D-9B6AFB25440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A0E8E-35F4-09B7-1B31-E5E48DF9E5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0E3E4-2E60-1037-1515-7180A23C0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75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customXml" Target="../ink/ink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Best Practices with Fabric CI/CD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DE1A3F-F67F-D084-B7C7-58D1B87C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CI/CD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5357B7-A4D8-C8ED-CF23-3E7BFBD07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847207"/>
          </a:xfrm>
        </p:spPr>
        <p:txBody>
          <a:bodyPr/>
          <a:lstStyle/>
          <a:p>
            <a:r>
              <a:rPr lang="en-US" dirty="0"/>
              <a:t>What is CI/CD?</a:t>
            </a:r>
          </a:p>
          <a:p>
            <a:pPr lvl="1"/>
            <a:r>
              <a:rPr lang="en-US" b="1" dirty="0"/>
              <a:t>Continuous Integration (CI)</a:t>
            </a:r>
            <a:r>
              <a:rPr lang="en-US" dirty="0"/>
              <a:t> is practice of frequently merging code changes to shared repository</a:t>
            </a:r>
          </a:p>
          <a:p>
            <a:pPr lvl="1"/>
            <a:r>
              <a:rPr lang="en-US" b="1" dirty="0"/>
              <a:t>Continuous Deployment (CD)</a:t>
            </a:r>
            <a:r>
              <a:rPr lang="en-US" dirty="0"/>
              <a:t> is practice of automating deployment to target environments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CI provides development process where multiple work on same codebase at the same time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344488" lvl="1" indent="0">
              <a:lnSpc>
                <a:spcPct val="150000"/>
              </a:lnSpc>
            </a:pPr>
            <a:endParaRPr lang="en-US" dirty="0"/>
          </a:p>
          <a:p>
            <a:pPr lvl="1"/>
            <a:r>
              <a:rPr lang="en-US" dirty="0"/>
              <a:t>CD provides release process to move changes through a set of stages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E88F9C-3DE2-ACC4-42CA-8EAFD904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02" y="2898520"/>
            <a:ext cx="3810387" cy="1603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E58DB2-55EB-FEF3-AE2C-1F8A651B9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71" y="5139329"/>
            <a:ext cx="4653757" cy="140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D0A2-8F5C-23B2-988E-3D27AE6C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Support for CI/CD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E4ED3-89C8-7BA2-9499-87437977E5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85433"/>
          </a:xfrm>
        </p:spPr>
        <p:txBody>
          <a:bodyPr/>
          <a:lstStyle/>
          <a:p>
            <a:r>
              <a:rPr lang="en-US" dirty="0"/>
              <a:t>GIT Integration</a:t>
            </a:r>
          </a:p>
          <a:p>
            <a:r>
              <a:rPr lang="en-US" dirty="0"/>
              <a:t>Deployment pipelines</a:t>
            </a:r>
          </a:p>
          <a:p>
            <a:r>
              <a:rPr lang="en-US" dirty="0"/>
              <a:t>Variable Library</a:t>
            </a:r>
          </a:p>
          <a:p>
            <a:pPr lvl="0"/>
            <a:r>
              <a:rPr lang="en-US" dirty="0"/>
              <a:t>Workspace Item Types</a:t>
            </a:r>
          </a:p>
          <a:p>
            <a:pPr lvl="0"/>
            <a:r>
              <a:rPr lang="en-US" dirty="0"/>
              <a:t>Item Definitions</a:t>
            </a:r>
          </a:p>
          <a:p>
            <a:r>
              <a:rPr lang="en-US" dirty="0"/>
              <a:t>Fabric REST APIs</a:t>
            </a:r>
          </a:p>
        </p:txBody>
      </p:sp>
    </p:spTree>
    <p:extLst>
      <p:ext uri="{BB962C8B-B14F-4D97-AF65-F5344CB8AC3E}">
        <p14:creationId xmlns:p14="http://schemas.microsoft.com/office/powerpoint/2010/main" val="46050482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" y="4098980"/>
            <a:ext cx="4261130" cy="2615593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2A23D7-5E39-19A6-68E7-1504ABA9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Fabric Solution - Product Sales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6B1F1-AF7F-A28B-42C2-4F972FF90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744341"/>
          </a:xfrm>
        </p:spPr>
        <p:txBody>
          <a:bodyPr/>
          <a:lstStyle/>
          <a:p>
            <a:r>
              <a:rPr lang="en-US" dirty="0"/>
              <a:t>Workspace items are building blocks used to build Fabric solution</a:t>
            </a:r>
          </a:p>
          <a:p>
            <a:pPr lvl="1"/>
            <a:r>
              <a:rPr lang="en-US" dirty="0"/>
              <a:t>Example of a simple Fabric solution</a:t>
            </a:r>
          </a:p>
          <a:p>
            <a:pPr lvl="1"/>
            <a:endParaRPr lang="en-US" dirty="0"/>
          </a:p>
          <a:p>
            <a:pPr marL="234950" lvl="2" indent="0"/>
            <a:endParaRPr lang="en-US" dirty="0"/>
          </a:p>
          <a:p>
            <a:pPr marL="234950" lvl="2" indent="0"/>
            <a:endParaRPr lang="en-US" dirty="0"/>
          </a:p>
          <a:p>
            <a:r>
              <a:rPr lang="en-US" dirty="0"/>
              <a:t>Some Fabric solutions can be deployed to a single workspace</a:t>
            </a:r>
          </a:p>
          <a:p>
            <a:pPr lvl="1"/>
            <a:r>
              <a:rPr lang="en-US" dirty="0"/>
              <a:t>More complex Fabric solutions can be spread across multiple workspaces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70CE5-6694-00D2-A917-426082562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54" y="1953300"/>
            <a:ext cx="3149381" cy="113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41" y="3041369"/>
            <a:ext cx="5712814" cy="317621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810" y="3041369"/>
            <a:ext cx="3774560" cy="317621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A300338-5CC0-4AEA-A0D5-C067D87A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GIT Integration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81C8B-17AA-1218-2D28-632BF8CF92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661993"/>
          </a:xfrm>
        </p:spPr>
        <p:txBody>
          <a:bodyPr/>
          <a:lstStyle/>
          <a:p>
            <a:r>
              <a:rPr lang="en-US" dirty="0"/>
              <a:t>Fabric supported GIT providers Azure DevOps, GitHub and GitHub Enterprise</a:t>
            </a:r>
          </a:p>
          <a:p>
            <a:pPr lvl="1"/>
            <a:r>
              <a:rPr lang="en-US" dirty="0"/>
              <a:t>Other GIT provides will be added over time</a:t>
            </a:r>
          </a:p>
          <a:p>
            <a:r>
              <a:rPr lang="en-US" dirty="0"/>
              <a:t>Fabric GIT integration enabled at workspace scope</a:t>
            </a:r>
          </a:p>
          <a:p>
            <a:pPr lvl="1"/>
            <a:r>
              <a:rPr lang="en-US" dirty="0"/>
              <a:t>Workspace is connected to branch in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4F66-377A-812B-2F91-D2FF859E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Source Control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A6ED8-BA77-C291-E87A-F47A6B9DF8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878259"/>
          </a:xfrm>
        </p:spPr>
        <p:txBody>
          <a:bodyPr/>
          <a:lstStyle/>
          <a:p>
            <a:r>
              <a:rPr lang="en-US" dirty="0"/>
              <a:t>Fabric provides GIT source control connectors for creating GIT connections</a:t>
            </a:r>
          </a:p>
          <a:p>
            <a:pPr lvl="1"/>
            <a:r>
              <a:rPr lang="en-US" dirty="0"/>
              <a:t>Azure Dev Ops source control connection can be created using service principal credentials</a:t>
            </a:r>
          </a:p>
          <a:p>
            <a:pPr lvl="1"/>
            <a:r>
              <a:rPr lang="en-US" dirty="0"/>
              <a:t>GitHub source control connection must be configured using a personal access token (PAT)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Source control connection has path to repository - not to a specific branch</a:t>
            </a:r>
          </a:p>
          <a:p>
            <a:pPr lvl="1"/>
            <a:r>
              <a:rPr lang="en-US" dirty="0"/>
              <a:t>You can reuse single source control connection to connect N branches to N workspaces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8A40C-A010-A449-4B19-18C8974E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9" y="2456826"/>
            <a:ext cx="8049333" cy="254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682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A3DD93-B8FF-01D4-449E-E04293601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447098"/>
          </a:xfrm>
        </p:spPr>
        <p:txBody>
          <a:bodyPr/>
          <a:lstStyle/>
          <a:p>
            <a:r>
              <a:rPr lang="en-US" dirty="0"/>
              <a:t>When you connect workspace to GIT branch…</a:t>
            </a:r>
          </a:p>
          <a:p>
            <a:pPr lvl="1"/>
            <a:r>
              <a:rPr lang="en-US" dirty="0"/>
              <a:t>Fabric GIT integration serializes workspace item definitions and writes definition files to branch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Fabric GIT integration can create/update workspace items from item definitions in GIT branch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730896-397A-E8ED-F9BC-0D876804B388}"/>
              </a:ext>
            </a:extLst>
          </p:cNvPr>
          <p:cNvGrpSpPr/>
          <p:nvPr/>
        </p:nvGrpSpPr>
        <p:grpSpPr>
          <a:xfrm>
            <a:off x="1057296" y="2099101"/>
            <a:ext cx="8516890" cy="2125401"/>
            <a:chOff x="254017" y="657648"/>
            <a:chExt cx="11702757" cy="292043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DDAC804-1FA6-153B-71B7-A4A921D89442}"/>
                </a:ext>
              </a:extLst>
            </p:cNvPr>
            <p:cNvSpPr/>
            <p:nvPr/>
          </p:nvSpPr>
          <p:spPr bwMode="auto">
            <a:xfrm>
              <a:off x="254017" y="657648"/>
              <a:ext cx="11702757" cy="29204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CC52C1-218D-5D86-DAC7-49730A9AD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6455" y="779179"/>
              <a:ext cx="5449713" cy="2639882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27B48C-57B7-EC6A-8F3A-9DF2071D2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132" y="779180"/>
              <a:ext cx="4694307" cy="263988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52CDF10-60ED-AC54-F0AD-23E1E950168E}"/>
                </a:ext>
              </a:extLst>
            </p:cNvPr>
            <p:cNvSpPr/>
            <p:nvPr/>
          </p:nvSpPr>
          <p:spPr bwMode="auto">
            <a:xfrm>
              <a:off x="5094066" y="1926554"/>
              <a:ext cx="1559934" cy="776452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1E9DA04F-9AD8-B12B-B811-A63CE05A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of Workspace Items to Item Definitions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540EDE-D59A-0C9B-DC50-A109C72F050F}"/>
              </a:ext>
            </a:extLst>
          </p:cNvPr>
          <p:cNvGrpSpPr/>
          <p:nvPr/>
        </p:nvGrpSpPr>
        <p:grpSpPr>
          <a:xfrm>
            <a:off x="1057295" y="4735057"/>
            <a:ext cx="8516891" cy="2089108"/>
            <a:chOff x="303320" y="323549"/>
            <a:chExt cx="11444733" cy="280727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64FE73-F0FB-234D-F8F0-6B8BFC9E771C}"/>
                </a:ext>
              </a:extLst>
            </p:cNvPr>
            <p:cNvSpPr/>
            <p:nvPr/>
          </p:nvSpPr>
          <p:spPr bwMode="auto">
            <a:xfrm>
              <a:off x="303320" y="323549"/>
              <a:ext cx="11444733" cy="28072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D91303-E72C-A09A-BF52-2C3552C25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581" y="417919"/>
              <a:ext cx="4605312" cy="2563138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4C219E-894C-12B9-39AA-4131FB442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97468" y="417919"/>
              <a:ext cx="5015255" cy="2563138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F4E473B-6699-334C-D6C5-DDF83D8656D1}"/>
                </a:ext>
              </a:extLst>
            </p:cNvPr>
            <p:cNvSpPr/>
            <p:nvPr/>
          </p:nvSpPr>
          <p:spPr bwMode="auto">
            <a:xfrm flipH="1">
              <a:off x="4769540" y="1615056"/>
              <a:ext cx="1850587" cy="776452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C44D-1F03-3FFB-3567-3524C5A9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Workspaces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BE8DC-5F5D-FCAB-27C3-EEECD9084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006499"/>
          </a:xfrm>
        </p:spPr>
        <p:txBody>
          <a:bodyPr/>
          <a:lstStyle/>
          <a:p>
            <a:r>
              <a:rPr lang="en-US" dirty="0"/>
              <a:t>New feature workspace can be initialized using </a:t>
            </a:r>
            <a:r>
              <a:rPr lang="en-US" sz="24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</a:t>
            </a:r>
          </a:p>
          <a:p>
            <a:pPr lvl="1"/>
            <a:r>
              <a:rPr lang="en-US" dirty="0"/>
              <a:t>GIT synchronization creates matching set of workspace items</a:t>
            </a:r>
          </a:p>
          <a:p>
            <a:pPr lvl="1"/>
            <a:r>
              <a:rPr lang="en-US" dirty="0"/>
              <a:t>Feature workspace provides isolated environment for development work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Workspace items might need modification before workspace is ready</a:t>
            </a:r>
          </a:p>
          <a:p>
            <a:pPr lvl="1"/>
            <a:r>
              <a:rPr lang="en-US" dirty="0"/>
              <a:t>You might need to run pipeline/notebook to populate lakehouse with data</a:t>
            </a:r>
          </a:p>
          <a:p>
            <a:pPr lvl="1"/>
            <a:r>
              <a:rPr lang="en-US" dirty="0"/>
              <a:t>You might need to </a:t>
            </a:r>
            <a:r>
              <a:rPr lang="en-US" dirty="0" err="1"/>
              <a:t>to</a:t>
            </a:r>
            <a:r>
              <a:rPr lang="en-US" dirty="0"/>
              <a:t> create connection to bind semantic model to datasource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12ACC-6DA8-C67B-FC31-664C110DD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42" y="2632557"/>
            <a:ext cx="2706358" cy="195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5211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63FB136-F858-76FD-159D-C20F1DBB25C6}"/>
              </a:ext>
            </a:extLst>
          </p:cNvPr>
          <p:cNvSpPr/>
          <p:nvPr/>
        </p:nvSpPr>
        <p:spPr bwMode="auto">
          <a:xfrm>
            <a:off x="1219189" y="3279331"/>
            <a:ext cx="7407975" cy="23885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6166067" y="3395265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release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C87A2-F3D4-0FBE-D567-04F4CFE05747}"/>
              </a:ext>
            </a:extLst>
          </p:cNvPr>
          <p:cNvSpPr/>
          <p:nvPr/>
        </p:nvSpPr>
        <p:spPr bwMode="auto">
          <a:xfrm>
            <a:off x="3739966" y="3395265"/>
            <a:ext cx="1261062" cy="614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33287C-C93B-555E-74B9-55E6E1BE2B4A}"/>
              </a:ext>
            </a:extLst>
          </p:cNvPr>
          <p:cNvSpPr/>
          <p:nvPr/>
        </p:nvSpPr>
        <p:spPr bwMode="auto">
          <a:xfrm>
            <a:off x="1317878" y="3395265"/>
            <a:ext cx="1261062" cy="6140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1713E6E1-EE9B-059C-E07A-4F7160D278AB}"/>
              </a:ext>
            </a:extLst>
          </p:cNvPr>
          <p:cNvSpPr/>
          <p:nvPr/>
        </p:nvSpPr>
        <p:spPr bwMode="auto">
          <a:xfrm flipH="1">
            <a:off x="2617432" y="3549626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93B93-0E8E-2DB5-A177-893FD1BD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230243"/>
            <a:ext cx="11801475" cy="498598"/>
          </a:xfrm>
        </p:spPr>
        <p:txBody>
          <a:bodyPr/>
          <a:lstStyle/>
          <a:p>
            <a:r>
              <a:rPr lang="en-US" dirty="0"/>
              <a:t>Development Process for Contiguous Integration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B6F40D-A655-8589-49CB-5B00A41F6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95363"/>
          </a:xfrm>
        </p:spPr>
        <p:txBody>
          <a:bodyPr/>
          <a:lstStyle/>
          <a:p>
            <a:r>
              <a:rPr lang="en-US" dirty="0"/>
              <a:t>Feature workspaces provide recommended approach for development</a:t>
            </a:r>
          </a:p>
          <a:p>
            <a:pPr lvl="1"/>
            <a:r>
              <a:rPr lang="en-US" dirty="0"/>
              <a:t>Feature branches must be paired with feature workspace</a:t>
            </a:r>
          </a:p>
          <a:p>
            <a:pPr lvl="1"/>
            <a:r>
              <a:rPr lang="en-US" dirty="0"/>
              <a:t>Release branch is shared branch where all changes are merged together</a:t>
            </a:r>
          </a:p>
          <a:p>
            <a:pPr lvl="1"/>
            <a:r>
              <a:rPr lang="en-US" dirty="0"/>
              <a:t>Feature branches should be just lived to avoid merge release branch conflicts 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84EDE710-010F-F079-B1AA-158225203D55}"/>
              </a:ext>
            </a:extLst>
          </p:cNvPr>
          <p:cNvSpPr/>
          <p:nvPr/>
        </p:nvSpPr>
        <p:spPr bwMode="auto">
          <a:xfrm flipH="1">
            <a:off x="5063264" y="3529788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5FBA8-7FDA-3C6D-BA9A-48DA12986F2C}"/>
              </a:ext>
            </a:extLst>
          </p:cNvPr>
          <p:cNvSpPr/>
          <p:nvPr/>
        </p:nvSpPr>
        <p:spPr bwMode="auto">
          <a:xfrm>
            <a:off x="3739966" y="4090727"/>
            <a:ext cx="1261062" cy="614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F929F5-726E-EF06-DC66-1848B87F7285}"/>
              </a:ext>
            </a:extLst>
          </p:cNvPr>
          <p:cNvSpPr/>
          <p:nvPr/>
        </p:nvSpPr>
        <p:spPr bwMode="auto">
          <a:xfrm>
            <a:off x="1317878" y="4090727"/>
            <a:ext cx="1261062" cy="6140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102EE3CE-CB55-B3FA-18E5-FCEC73802588}"/>
              </a:ext>
            </a:extLst>
          </p:cNvPr>
          <p:cNvSpPr/>
          <p:nvPr/>
        </p:nvSpPr>
        <p:spPr bwMode="auto">
          <a:xfrm flipH="1">
            <a:off x="2617432" y="4245088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DE288973-B7EB-CADB-161F-7630E081AD73}"/>
              </a:ext>
            </a:extLst>
          </p:cNvPr>
          <p:cNvSpPr/>
          <p:nvPr/>
        </p:nvSpPr>
        <p:spPr bwMode="auto">
          <a:xfrm flipH="1">
            <a:off x="5063264" y="4225250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0C7B54-1E16-5C2E-F40A-C873E701F62A}"/>
              </a:ext>
            </a:extLst>
          </p:cNvPr>
          <p:cNvSpPr/>
          <p:nvPr/>
        </p:nvSpPr>
        <p:spPr bwMode="auto">
          <a:xfrm>
            <a:off x="3739966" y="4875640"/>
            <a:ext cx="1261062" cy="614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B4D8EB-8A45-42AA-9B86-C2B8B08AB3D6}"/>
              </a:ext>
            </a:extLst>
          </p:cNvPr>
          <p:cNvSpPr/>
          <p:nvPr/>
        </p:nvSpPr>
        <p:spPr bwMode="auto">
          <a:xfrm>
            <a:off x="1317878" y="4875640"/>
            <a:ext cx="1261062" cy="6140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DD9FFB72-327D-095F-870B-526A8BC35B17}"/>
              </a:ext>
            </a:extLst>
          </p:cNvPr>
          <p:cNvSpPr/>
          <p:nvPr/>
        </p:nvSpPr>
        <p:spPr bwMode="auto">
          <a:xfrm flipH="1">
            <a:off x="2617432" y="5030001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FACF213-B796-C0A5-1D15-31D701266579}"/>
              </a:ext>
            </a:extLst>
          </p:cNvPr>
          <p:cNvSpPr/>
          <p:nvPr/>
        </p:nvSpPr>
        <p:spPr bwMode="auto">
          <a:xfrm flipH="1">
            <a:off x="5063264" y="5010163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</p:spTree>
    <p:extLst>
      <p:ext uri="{BB962C8B-B14F-4D97-AF65-F5344CB8AC3E}">
        <p14:creationId xmlns:p14="http://schemas.microsoft.com/office/powerpoint/2010/main" val="267289680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58A1E74-6FD2-9FCF-B429-6429FF4E800E}"/>
              </a:ext>
            </a:extLst>
          </p:cNvPr>
          <p:cNvGrpSpPr/>
          <p:nvPr/>
        </p:nvGrpSpPr>
        <p:grpSpPr>
          <a:xfrm>
            <a:off x="864704" y="1744338"/>
            <a:ext cx="3667540" cy="1951633"/>
            <a:chOff x="2097156" y="3071191"/>
            <a:chExt cx="5526156" cy="294067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10FB9B-2D77-D766-290B-45A7BC59F082}"/>
                </a:ext>
              </a:extLst>
            </p:cNvPr>
            <p:cNvSpPr/>
            <p:nvPr/>
          </p:nvSpPr>
          <p:spPr bwMode="auto">
            <a:xfrm>
              <a:off x="2097156" y="3071191"/>
              <a:ext cx="5526156" cy="29406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E31E3CA-BAB2-94F1-8C47-CEDC5BDF5D63}"/>
                </a:ext>
              </a:extLst>
            </p:cNvPr>
            <p:cNvGrpSpPr/>
            <p:nvPr/>
          </p:nvGrpSpPr>
          <p:grpSpPr>
            <a:xfrm>
              <a:off x="2256959" y="4645140"/>
              <a:ext cx="3728222" cy="1129571"/>
              <a:chOff x="1570383" y="1506117"/>
              <a:chExt cx="3728222" cy="13927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12443B7-B265-553A-F9FE-EAE550812956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5" name="Arrow: Right 4">
                  <a:extLst>
                    <a:ext uri="{FF2B5EF4-FFF2-40B4-BE49-F238E27FC236}">
                      <a16:creationId xmlns:a16="http://schemas.microsoft.com/office/drawing/2014/main" id="{6DFAC19B-0504-8436-6B0D-0BC434D25BE0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9AD60E9-3D53-84DB-4FDA-0586E705563F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D0620D5-FCBC-F6A0-8870-06AF0D457CA2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17" name="Arrow: Left-Right 16">
                  <a:extLst>
                    <a:ext uri="{FF2B5EF4-FFF2-40B4-BE49-F238E27FC236}">
                      <a16:creationId xmlns:a16="http://schemas.microsoft.com/office/drawing/2014/main" id="{A570E0CC-E548-208D-3BDD-8EF0CB082A4E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EA7376B-8206-C8FC-60D0-A92AD711CBF2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22" name="Arrow: Right 21">
                  <a:extLst>
                    <a:ext uri="{FF2B5EF4-FFF2-40B4-BE49-F238E27FC236}">
                      <a16:creationId xmlns:a16="http://schemas.microsoft.com/office/drawing/2014/main" id="{28AE91F9-5190-F67E-340A-424CC59FFBF0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87D3B73-0ADE-F3FF-24BA-7F0020285964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5D2BAB3-DBEF-6866-B48B-A5264282EC9F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5" name="Arrow: Left-Right 24">
                  <a:extLst>
                    <a:ext uri="{FF2B5EF4-FFF2-40B4-BE49-F238E27FC236}">
                      <a16:creationId xmlns:a16="http://schemas.microsoft.com/office/drawing/2014/main" id="{C0A355FB-E51E-C96C-D1D9-4EA2A715C137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4B0380-2B9B-A7C8-FA7E-ED3E328B9983}"/>
                </a:ext>
              </a:extLst>
            </p:cNvPr>
            <p:cNvSpPr/>
            <p:nvPr/>
          </p:nvSpPr>
          <p:spPr bwMode="auto">
            <a:xfrm>
              <a:off x="6134298" y="45373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61CDA8-492B-6ADC-B5AE-67E85CB1B9CE}"/>
                </a:ext>
              </a:extLst>
            </p:cNvPr>
            <p:cNvSpPr/>
            <p:nvPr/>
          </p:nvSpPr>
          <p:spPr bwMode="auto">
            <a:xfrm>
              <a:off x="6134298" y="32103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DD09F07D-DBB1-890E-52F3-63231C35064A}"/>
                </a:ext>
              </a:extLst>
            </p:cNvPr>
            <p:cNvSpPr/>
            <p:nvPr/>
          </p:nvSpPr>
          <p:spPr bwMode="auto">
            <a:xfrm rot="16200000">
              <a:off x="6561289" y="41785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A977554-5C5A-B9A1-7D67-D1D6BA66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Overview of End-to-End Workflows for CI/CD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9EAEDA-385C-4FC7-8E33-F1565067CB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85433"/>
          </a:xfrm>
        </p:spPr>
        <p:txBody>
          <a:bodyPr/>
          <a:lstStyle/>
          <a:p>
            <a:r>
              <a:rPr lang="en-US" dirty="0"/>
              <a:t>Simple CI/CD workflow with </a:t>
            </a:r>
            <a:r>
              <a:rPr lang="en-US" sz="20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as release branch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intricate CI/CD workflow with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as the release branch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B3A972-6DCB-229B-B0A8-C39273DC7BB6}"/>
              </a:ext>
            </a:extLst>
          </p:cNvPr>
          <p:cNvGrpSpPr/>
          <p:nvPr/>
        </p:nvGrpSpPr>
        <p:grpSpPr>
          <a:xfrm>
            <a:off x="864704" y="4422958"/>
            <a:ext cx="7136297" cy="2283164"/>
            <a:chOff x="1162877" y="455294"/>
            <a:chExt cx="9508029" cy="30419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8006CD-3E0A-B5F1-D5D3-5F18712819FA}"/>
                </a:ext>
              </a:extLst>
            </p:cNvPr>
            <p:cNvSpPr/>
            <p:nvPr/>
          </p:nvSpPr>
          <p:spPr bwMode="auto">
            <a:xfrm>
              <a:off x="1162877" y="455294"/>
              <a:ext cx="9508029" cy="30419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A48629-9A64-7162-16AF-8193EC02EE23}"/>
                </a:ext>
              </a:extLst>
            </p:cNvPr>
            <p:cNvGrpSpPr/>
            <p:nvPr/>
          </p:nvGrpSpPr>
          <p:grpSpPr>
            <a:xfrm>
              <a:off x="1362438" y="2130540"/>
              <a:ext cx="3728222" cy="1129571"/>
              <a:chOff x="1570383" y="1506117"/>
              <a:chExt cx="3728222" cy="13927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DF59EE2-C19C-99FE-FAD9-88A378D495D9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19CCE469-B974-A32D-033C-236DAB9949B4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7B6DAE1-9553-71F5-F1CD-758D3A726C40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3D0AF967-5AD9-07E2-8638-13D8F7D87CB8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32" name="Arrow: Left-Right 31">
                  <a:extLst>
                    <a:ext uri="{FF2B5EF4-FFF2-40B4-BE49-F238E27FC236}">
                      <a16:creationId xmlns:a16="http://schemas.microsoft.com/office/drawing/2014/main" id="{28299584-0E32-9EBF-442C-EB8553AA1315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2523A0E-ADA6-2FF3-A322-FACD13B66C13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19" name="Arrow: Right 18">
                  <a:extLst>
                    <a:ext uri="{FF2B5EF4-FFF2-40B4-BE49-F238E27FC236}">
                      <a16:creationId xmlns:a16="http://schemas.microsoft.com/office/drawing/2014/main" id="{EABA1E04-F669-AEFF-2A85-00684AF3E71F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91D536B-523C-3B1E-80EF-7A7AAD8BD0FB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1F15F71-6F65-F579-8FBE-618EB4AB4712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8" name="Arrow: Left-Right 27">
                  <a:extLst>
                    <a:ext uri="{FF2B5EF4-FFF2-40B4-BE49-F238E27FC236}">
                      <a16:creationId xmlns:a16="http://schemas.microsoft.com/office/drawing/2014/main" id="{BEFC35EA-E199-ECBC-8389-0A2DBAF3601E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9EF327E-9CED-D3B6-7D71-0F80D2233094}"/>
                </a:ext>
              </a:extLst>
            </p:cNvPr>
            <p:cNvGrpSpPr/>
            <p:nvPr/>
          </p:nvGrpSpPr>
          <p:grpSpPr>
            <a:xfrm>
              <a:off x="5239777" y="695739"/>
              <a:ext cx="1261062" cy="2601961"/>
              <a:chOff x="5239777" y="695739"/>
              <a:chExt cx="1261062" cy="2601961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21B6421-3A41-68E2-4EB4-7C68FAC23B61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A328D0C-D43A-922F-7E0A-08449D6DC882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EBD635B3-B8A4-2DE4-FD12-78887669ABBB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48C61BC-54A7-66AD-8644-54FEFD022CD2}"/>
                </a:ext>
              </a:extLst>
            </p:cNvPr>
            <p:cNvGrpSpPr/>
            <p:nvPr/>
          </p:nvGrpSpPr>
          <p:grpSpPr>
            <a:xfrm>
              <a:off x="7173640" y="695739"/>
              <a:ext cx="1261062" cy="2601961"/>
              <a:chOff x="5239777" y="695739"/>
              <a:chExt cx="1261062" cy="2601961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B67A8A7-6221-0CA5-0BED-7F4B8FB36AD9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73B9DC2-491F-33A4-0E76-B1371E0DA67F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0" name="Arrow: Right 39">
                <a:extLst>
                  <a:ext uri="{FF2B5EF4-FFF2-40B4-BE49-F238E27FC236}">
                    <a16:creationId xmlns:a16="http://schemas.microsoft.com/office/drawing/2014/main" id="{EF54572F-2E85-FAB5-C90C-726161384C9E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C892C084-D9CC-7AB7-99CB-AF1B65E0D250}"/>
                </a:ext>
              </a:extLst>
            </p:cNvPr>
            <p:cNvSpPr/>
            <p:nvPr/>
          </p:nvSpPr>
          <p:spPr bwMode="auto">
            <a:xfrm>
              <a:off x="6551805" y="2514583"/>
              <a:ext cx="572820" cy="35087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A59E42B-0B34-D47F-DC2B-0EA60EF9715C}"/>
                </a:ext>
              </a:extLst>
            </p:cNvPr>
            <p:cNvGrpSpPr/>
            <p:nvPr/>
          </p:nvGrpSpPr>
          <p:grpSpPr>
            <a:xfrm>
              <a:off x="9107503" y="695739"/>
              <a:ext cx="1261062" cy="2601961"/>
              <a:chOff x="5239777" y="695739"/>
              <a:chExt cx="1261062" cy="260196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AFD5E6-3C6F-E3D0-30A3-87D689D406E5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main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9BC4E27-8730-3F14-486C-CB6C064AEB35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6" name="Arrow: Right 45">
                <a:extLst>
                  <a:ext uri="{FF2B5EF4-FFF2-40B4-BE49-F238E27FC236}">
                    <a16:creationId xmlns:a16="http://schemas.microsoft.com/office/drawing/2014/main" id="{E10CA0F5-B355-280B-432B-D7323F1367F5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C2999C93-9F05-DAB1-9533-9F0F5874EB3D}"/>
                </a:ext>
              </a:extLst>
            </p:cNvPr>
            <p:cNvSpPr/>
            <p:nvPr/>
          </p:nvSpPr>
          <p:spPr bwMode="auto">
            <a:xfrm>
              <a:off x="8483717" y="2503369"/>
              <a:ext cx="572820" cy="35087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5C0CDA8-D30F-1E25-9487-15355571E407}"/>
              </a:ext>
            </a:extLst>
          </p:cNvPr>
          <p:cNvGrpSpPr/>
          <p:nvPr/>
        </p:nvGrpSpPr>
        <p:grpSpPr>
          <a:xfrm>
            <a:off x="1143117" y="2633871"/>
            <a:ext cx="7334961" cy="2375452"/>
            <a:chOff x="1421413" y="3190462"/>
            <a:chExt cx="7334961" cy="23754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D0F33B-8E66-1EB2-4DAA-184BF5512580}"/>
                </a:ext>
              </a:extLst>
            </p:cNvPr>
            <p:cNvSpPr/>
            <p:nvPr/>
          </p:nvSpPr>
          <p:spPr bwMode="auto">
            <a:xfrm>
              <a:off x="1421413" y="3583159"/>
              <a:ext cx="7334961" cy="19827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41CF202-AF18-D659-48DB-6819A02237EC}"/>
                </a:ext>
              </a:extLst>
            </p:cNvPr>
            <p:cNvSpPr/>
            <p:nvPr/>
          </p:nvSpPr>
          <p:spPr bwMode="auto">
            <a:xfrm>
              <a:off x="1624347" y="3715963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86395A-8706-C849-1610-FE141D412E02}"/>
                </a:ext>
              </a:extLst>
            </p:cNvPr>
            <p:cNvSpPr/>
            <p:nvPr/>
          </p:nvSpPr>
          <p:spPr bwMode="auto">
            <a:xfrm>
              <a:off x="4235551" y="3739697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8DB05AD7-634E-1912-1EBB-121F6F7075B7}"/>
                </a:ext>
              </a:extLst>
            </p:cNvPr>
            <p:cNvSpPr/>
            <p:nvPr/>
          </p:nvSpPr>
          <p:spPr bwMode="auto">
            <a:xfrm>
              <a:off x="3323857" y="4243305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A5CF38-891D-F18A-09D9-3A52030CDEF3}"/>
                </a:ext>
              </a:extLst>
            </p:cNvPr>
            <p:cNvSpPr/>
            <p:nvPr/>
          </p:nvSpPr>
          <p:spPr bwMode="auto">
            <a:xfrm>
              <a:off x="6856831" y="3739697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52724F3B-5267-3854-B51F-EF7F6C960F64}"/>
                </a:ext>
              </a:extLst>
            </p:cNvPr>
            <p:cNvSpPr/>
            <p:nvPr/>
          </p:nvSpPr>
          <p:spPr bwMode="auto">
            <a:xfrm>
              <a:off x="5945137" y="4243305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F9420B-62C3-1701-E3B1-B37EE5822221}"/>
                </a:ext>
              </a:extLst>
            </p:cNvPr>
            <p:cNvSpPr/>
            <p:nvPr/>
          </p:nvSpPr>
          <p:spPr bwMode="auto">
            <a:xfrm>
              <a:off x="1421413" y="3190462"/>
              <a:ext cx="7334961" cy="39269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Deployment Pipeline</a:t>
              </a: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5C888D9-B61E-7903-B0EC-91EAB942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Pipelines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6FD479-B557-3EED-0D1C-9B647BCC54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Deployment pipelines provide a continuous deployment mechanism </a:t>
            </a:r>
          </a:p>
          <a:p>
            <a:pPr lvl="1"/>
            <a:r>
              <a:rPr lang="en-US" dirty="0"/>
              <a:t>Deployment pipeline manages the lifecycle of workspace items across stages</a:t>
            </a:r>
          </a:p>
          <a:p>
            <a:pPr lvl="1"/>
            <a:r>
              <a:rPr lang="en-US" dirty="0"/>
              <a:t>Each stage represents a specific environment implemented using a Fabric workspace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5B78E6F-7929-7253-4E8A-8FED89949EA0}"/>
              </a:ext>
            </a:extLst>
          </p:cNvPr>
          <p:cNvGrpSpPr/>
          <p:nvPr/>
        </p:nvGrpSpPr>
        <p:grpSpPr>
          <a:xfrm>
            <a:off x="1123122" y="2677000"/>
            <a:ext cx="9645926" cy="3716793"/>
            <a:chOff x="688423" y="876094"/>
            <a:chExt cx="11268352" cy="43419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A8740D2-F051-D967-20A0-F49481439CFD}"/>
                </a:ext>
              </a:extLst>
            </p:cNvPr>
            <p:cNvSpPr/>
            <p:nvPr/>
          </p:nvSpPr>
          <p:spPr bwMode="auto">
            <a:xfrm>
              <a:off x="688423" y="876094"/>
              <a:ext cx="11268352" cy="43419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014FA5-1AE2-3BF2-BE0C-6FAEFD270B42}"/>
                </a:ext>
              </a:extLst>
            </p:cNvPr>
            <p:cNvGrpSpPr/>
            <p:nvPr/>
          </p:nvGrpSpPr>
          <p:grpSpPr>
            <a:xfrm>
              <a:off x="4452848" y="1386610"/>
              <a:ext cx="7334961" cy="1806435"/>
              <a:chOff x="4452848" y="1386609"/>
              <a:chExt cx="7334961" cy="228019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EDB799-4EDC-6DA7-6DC6-63624D4C63B5}"/>
                  </a:ext>
                </a:extLst>
              </p:cNvPr>
              <p:cNvSpPr/>
              <p:nvPr/>
            </p:nvSpPr>
            <p:spPr bwMode="auto">
              <a:xfrm>
                <a:off x="4452848" y="1386609"/>
                <a:ext cx="7334961" cy="22801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1CBE36-F47C-A3C7-44EE-DF777A5BF25B}"/>
                  </a:ext>
                </a:extLst>
              </p:cNvPr>
              <p:cNvSpPr/>
              <p:nvPr/>
            </p:nvSpPr>
            <p:spPr bwMode="auto">
              <a:xfrm>
                <a:off x="4655782" y="1519414"/>
                <a:ext cx="1632212" cy="166707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77D81F3-53BD-F0CF-973A-69AAF5701F42}"/>
                  </a:ext>
                </a:extLst>
              </p:cNvPr>
              <p:cNvSpPr/>
              <p:nvPr/>
            </p:nvSpPr>
            <p:spPr bwMode="auto">
              <a:xfrm>
                <a:off x="7266986" y="1543148"/>
                <a:ext cx="1625443" cy="164333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F1406E28-9EF8-74BC-3746-836227367A4B}"/>
                  </a:ext>
                </a:extLst>
              </p:cNvPr>
              <p:cNvSpPr/>
              <p:nvPr/>
            </p:nvSpPr>
            <p:spPr bwMode="auto">
              <a:xfrm>
                <a:off x="635529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DC150BE-B485-0129-3C80-BFCC1B591EF6}"/>
                  </a:ext>
                </a:extLst>
              </p:cNvPr>
              <p:cNvSpPr/>
              <p:nvPr/>
            </p:nvSpPr>
            <p:spPr bwMode="auto">
              <a:xfrm>
                <a:off x="9888266" y="1543148"/>
                <a:ext cx="1625443" cy="16433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0A9AAFB-6719-2827-27AA-B3C525AE6906}"/>
                  </a:ext>
                </a:extLst>
              </p:cNvPr>
              <p:cNvSpPr/>
              <p:nvPr/>
            </p:nvSpPr>
            <p:spPr bwMode="auto">
              <a:xfrm>
                <a:off x="897657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FCE019-1553-9442-81F3-76DDBE8CABC0}"/>
                </a:ext>
              </a:extLst>
            </p:cNvPr>
            <p:cNvSpPr/>
            <p:nvPr/>
          </p:nvSpPr>
          <p:spPr bwMode="auto">
            <a:xfrm>
              <a:off x="4452848" y="993913"/>
              <a:ext cx="7334961" cy="392696"/>
            </a:xfrm>
            <a:prstGeom prst="rect">
              <a:avLst/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Deployment Pipeline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C4B5E6-17B4-6FE2-CD22-63802EAF1AC0}"/>
                </a:ext>
              </a:extLst>
            </p:cNvPr>
            <p:cNvSpPr/>
            <p:nvPr/>
          </p:nvSpPr>
          <p:spPr bwMode="auto">
            <a:xfrm>
              <a:off x="4655782" y="3801478"/>
              <a:ext cx="1632212" cy="125364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277234A2-F2B2-37F3-6DE7-70DFCF5FE6A9}"/>
                </a:ext>
              </a:extLst>
            </p:cNvPr>
            <p:cNvSpPr/>
            <p:nvPr/>
          </p:nvSpPr>
          <p:spPr bwMode="auto">
            <a:xfrm>
              <a:off x="5007668" y="2840669"/>
              <a:ext cx="864083" cy="914650"/>
            </a:xfrm>
            <a:prstGeom prst="upArrow">
              <a:avLst>
                <a:gd name="adj1" fmla="val 66197"/>
                <a:gd name="adj2" fmla="val 40186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GIT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SYNC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0BD2416-059F-2178-43FA-187F1762C1B0}"/>
                </a:ext>
              </a:extLst>
            </p:cNvPr>
            <p:cNvGrpSpPr/>
            <p:nvPr/>
          </p:nvGrpSpPr>
          <p:grpSpPr>
            <a:xfrm>
              <a:off x="825725" y="3863513"/>
              <a:ext cx="3728222" cy="1129571"/>
              <a:chOff x="1570383" y="1506117"/>
              <a:chExt cx="3728222" cy="13927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9CDA7E4-50A0-0A38-337A-E44C39F0D03B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0F57848C-D709-67A1-4CEA-920A4B147617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A68D836-332E-59C3-A418-103F3D97C1A4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A160FCB-9C25-B88C-E9E8-32149572A44D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7" name="Arrow: Left-Right 26">
                  <a:extLst>
                    <a:ext uri="{FF2B5EF4-FFF2-40B4-BE49-F238E27FC236}">
                      <a16:creationId xmlns:a16="http://schemas.microsoft.com/office/drawing/2014/main" id="{941B9BE0-A7EA-C898-2075-DA2CBFE70FB2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51E2647-6769-A88B-14A1-D8C4D7724D18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20" name="Arrow: Right 19">
                  <a:extLst>
                    <a:ext uri="{FF2B5EF4-FFF2-40B4-BE49-F238E27FC236}">
                      <a16:creationId xmlns:a16="http://schemas.microsoft.com/office/drawing/2014/main" id="{3A531C8B-8BB7-FCEB-1542-7F08E0CE65E5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9F601B9-DD29-76DE-6829-D7BB1EFCF2B7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9CB66B-39AF-9E74-F008-C3BBEBA8F1C4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3" name="Arrow: Left-Right 22">
                  <a:extLst>
                    <a:ext uri="{FF2B5EF4-FFF2-40B4-BE49-F238E27FC236}">
                      <a16:creationId xmlns:a16="http://schemas.microsoft.com/office/drawing/2014/main" id="{4BA43AD6-3D33-CD7B-894C-E28CBE306CE4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</p:grpSp>
      <p:sp>
        <p:nvSpPr>
          <p:cNvPr id="16" name="Title 15">
            <a:extLst>
              <a:ext uri="{FF2B5EF4-FFF2-40B4-BE49-F238E27FC236}">
                <a16:creationId xmlns:a16="http://schemas.microsoft.com/office/drawing/2014/main" id="{E1F177ED-9215-128C-CC36-7314165E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GIT Sync with Deployment Pipeline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2EB4F2-620F-9E09-FBC8-05ED6227BF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GIT integration and deployment pipeline used together for end-to-end CI/CD workflow</a:t>
            </a:r>
          </a:p>
          <a:p>
            <a:pPr lvl="1"/>
            <a:r>
              <a:rPr lang="en-US" dirty="0"/>
              <a:t>CI provides by GIT integration</a:t>
            </a:r>
          </a:p>
          <a:p>
            <a:pPr lvl="1"/>
            <a:r>
              <a:rPr lang="en-US" dirty="0"/>
              <a:t>CD provided by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A2B99BD-4BCB-C6A2-B187-7BEA73EDA78F}"/>
              </a:ext>
            </a:extLst>
          </p:cNvPr>
          <p:cNvGrpSpPr/>
          <p:nvPr/>
        </p:nvGrpSpPr>
        <p:grpSpPr>
          <a:xfrm>
            <a:off x="1087060" y="4274676"/>
            <a:ext cx="5122802" cy="2620458"/>
            <a:chOff x="731346" y="3088270"/>
            <a:chExt cx="6903218" cy="353119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000CA16-DD7F-3FFC-6CE8-27CCD2E52A0F}"/>
                </a:ext>
              </a:extLst>
            </p:cNvPr>
            <p:cNvGrpSpPr/>
            <p:nvPr/>
          </p:nvGrpSpPr>
          <p:grpSpPr>
            <a:xfrm>
              <a:off x="731346" y="3088270"/>
              <a:ext cx="6903218" cy="3531190"/>
              <a:chOff x="1446963" y="783953"/>
              <a:chExt cx="6390751" cy="453485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DE0593-E92A-B4AF-067E-88990EC25C23}"/>
                  </a:ext>
                </a:extLst>
              </p:cNvPr>
              <p:cNvSpPr/>
              <p:nvPr/>
            </p:nvSpPr>
            <p:spPr bwMode="auto">
              <a:xfrm>
                <a:off x="1446963" y="1317204"/>
                <a:ext cx="6390751" cy="4001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B3B96C0-05B9-467B-0AE5-F84ED0A49675}"/>
                  </a:ext>
                </a:extLst>
              </p:cNvPr>
              <p:cNvSpPr/>
              <p:nvPr/>
            </p:nvSpPr>
            <p:spPr bwMode="auto">
              <a:xfrm>
                <a:off x="1446963" y="783953"/>
                <a:ext cx="6390751" cy="53325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00EFEF8-50CB-18EA-9929-4AE399C06E90}"/>
                </a:ext>
              </a:extLst>
            </p:cNvPr>
            <p:cNvGrpSpPr/>
            <p:nvPr/>
          </p:nvGrpSpPr>
          <p:grpSpPr>
            <a:xfrm>
              <a:off x="848002" y="3647808"/>
              <a:ext cx="4300599" cy="2810223"/>
              <a:chOff x="1734441" y="1741680"/>
              <a:chExt cx="4300599" cy="3683367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2E05B73-3815-B0BE-9A65-3E8720EBF8DD}"/>
                  </a:ext>
                </a:extLst>
              </p:cNvPr>
              <p:cNvGrpSpPr/>
              <p:nvPr/>
            </p:nvGrpSpPr>
            <p:grpSpPr>
              <a:xfrm>
                <a:off x="1734441" y="1741680"/>
                <a:ext cx="2349433" cy="3683367"/>
                <a:chOff x="1734441" y="1741680"/>
                <a:chExt cx="2349433" cy="3683367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F1E8789E-C083-1E95-B1F8-2B3A91218B73}"/>
                    </a:ext>
                  </a:extLst>
                </p:cNvPr>
                <p:cNvSpPr/>
                <p:nvPr/>
              </p:nvSpPr>
              <p:spPr bwMode="auto">
                <a:xfrm>
                  <a:off x="1734443" y="2515196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Pipeline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341B282-8C89-52C8-7FD4-871B7B8F640D}"/>
                    </a:ext>
                  </a:extLst>
                </p:cNvPr>
                <p:cNvSpPr/>
                <p:nvPr/>
              </p:nvSpPr>
              <p:spPr bwMode="auto">
                <a:xfrm>
                  <a:off x="1734443" y="1741680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Notebook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22DC64C-305C-F2CF-9ECE-638CE90AF008}"/>
                    </a:ext>
                  </a:extLst>
                </p:cNvPr>
                <p:cNvSpPr/>
                <p:nvPr/>
              </p:nvSpPr>
              <p:spPr bwMode="auto">
                <a:xfrm>
                  <a:off x="1734443" y="3288712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Copyjob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D5FC9D02-A88E-2BE4-6643-058D6FBAC13E}"/>
                    </a:ext>
                  </a:extLst>
                </p:cNvPr>
                <p:cNvSpPr/>
                <p:nvPr/>
              </p:nvSpPr>
              <p:spPr bwMode="auto">
                <a:xfrm>
                  <a:off x="1734442" y="4062228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Dataflow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884DCB22-DFF6-0664-8481-CB833696C445}"/>
                    </a:ext>
                  </a:extLst>
                </p:cNvPr>
                <p:cNvSpPr/>
                <p:nvPr/>
              </p:nvSpPr>
              <p:spPr bwMode="auto">
                <a:xfrm>
                  <a:off x="1734441" y="4835743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OneLake Shortcut</a:t>
                  </a:r>
                </a:p>
              </p:txBody>
            </p: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ADED1FF-0783-31E6-3C4C-A433E4FB1F30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>
                <a:off x="4083874" y="2036332"/>
                <a:ext cx="1951166" cy="9026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1C40E68-C70C-C089-3408-C58644FF9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3872" y="3615894"/>
                <a:ext cx="17341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1D2B30A7-045F-9314-CFE5-AF0CE9E851C3}"/>
                  </a:ext>
                </a:extLst>
              </p:cNvPr>
              <p:cNvCxnSpPr>
                <a:cxnSpLocks/>
                <a:stCxn id="2" idx="3"/>
              </p:cNvCxnSpPr>
              <p:nvPr/>
            </p:nvCxnSpPr>
            <p:spPr>
              <a:xfrm>
                <a:off x="4083874" y="2809848"/>
                <a:ext cx="1814508" cy="407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70E49DD-D107-BCAE-1242-9B9C232D9085}"/>
                  </a:ext>
                </a:extLst>
              </p:cNvPr>
              <p:cNvCxnSpPr>
                <a:cxnSpLocks/>
                <a:stCxn id="32" idx="3"/>
              </p:cNvCxnSpPr>
              <p:nvPr/>
            </p:nvCxnSpPr>
            <p:spPr>
              <a:xfrm flipV="1">
                <a:off x="4083873" y="3960451"/>
                <a:ext cx="1765607" cy="3964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F4B33AA-4001-FD2B-17AA-3F8C59CE1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78066" y="4276562"/>
                <a:ext cx="1900702" cy="8538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6AE63BF-BD04-8C63-D239-D13099D85110}"/>
                </a:ext>
              </a:extLst>
            </p:cNvPr>
            <p:cNvGrpSpPr/>
            <p:nvPr/>
          </p:nvGrpSpPr>
          <p:grpSpPr>
            <a:xfrm>
              <a:off x="5361780" y="4597494"/>
              <a:ext cx="1919206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F849CE5-FB11-3825-5F47-373265281DDE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7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var1 - string - 'foo'</a:t>
                </a:r>
                <a:endParaRPr lang="en-US" sz="700" b="1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7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var2 - string - 'bar'</a:t>
                </a:r>
                <a:endParaRPr lang="en-US" sz="700" b="1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7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var3 - integer - 42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41F01C4-3B54-FBE4-1E80-1583D6C74469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31FBD081-6AF5-7DD9-2B67-B2348FCE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Library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5FFB3-3EF4-504D-1F96-B86531630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54655"/>
          </a:xfrm>
        </p:spPr>
        <p:txBody>
          <a:bodyPr/>
          <a:lstStyle/>
          <a:p>
            <a:r>
              <a:rPr lang="en-US" dirty="0"/>
              <a:t>Variable library create as a set of variables</a:t>
            </a:r>
          </a:p>
          <a:p>
            <a:pPr lvl="1"/>
            <a:r>
              <a:rPr lang="en-US" dirty="0"/>
              <a:t>Each variable defined with name, type and default value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Other types of workspace items are able to read variable values</a:t>
            </a:r>
          </a:p>
          <a:p>
            <a:pPr lvl="1"/>
            <a:r>
              <a:rPr lang="en-US" dirty="0"/>
              <a:t>Getting all types of workspace items to support variable library is work in progress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C32F97-DF1F-993D-8968-99F001B77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913720"/>
              </p:ext>
            </p:extLst>
          </p:nvPr>
        </p:nvGraphicFramePr>
        <p:xfrm>
          <a:off x="1087060" y="2112416"/>
          <a:ext cx="5820607" cy="104245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04166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88450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231935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47486">
                <a:tc>
                  <a:txBody>
                    <a:bodyPr/>
                    <a:lstStyle/>
                    <a:p>
                      <a:r>
                        <a:rPr lang="en-US" sz="1300" dirty="0"/>
                        <a:t>Variable Name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Type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Default Value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47486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47486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3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51142B3-FD4A-DC22-5A57-B3368AD09962}"/>
              </a:ext>
            </a:extLst>
          </p:cNvPr>
          <p:cNvGrpSpPr/>
          <p:nvPr/>
        </p:nvGrpSpPr>
        <p:grpSpPr>
          <a:xfrm>
            <a:off x="934125" y="1762311"/>
            <a:ext cx="5804605" cy="2176641"/>
            <a:chOff x="1520534" y="1931276"/>
            <a:chExt cx="7333768" cy="27500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01B015-973F-06CE-FD81-00149E6E17F4}"/>
                </a:ext>
              </a:extLst>
            </p:cNvPr>
            <p:cNvSpPr/>
            <p:nvPr/>
          </p:nvSpPr>
          <p:spPr bwMode="auto">
            <a:xfrm>
              <a:off x="1520534" y="1931276"/>
              <a:ext cx="7333768" cy="2750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4F9AF17D-1D9B-436B-5614-B0D9C658D335}"/>
                </a:ext>
              </a:extLst>
            </p:cNvPr>
            <p:cNvSpPr/>
            <p:nvPr/>
          </p:nvSpPr>
          <p:spPr bwMode="auto">
            <a:xfrm rot="5400000">
              <a:off x="7544354" y="3376453"/>
              <a:ext cx="528689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444DA0A-CAB9-EDA1-F4A0-51C0BA509F9C}"/>
                </a:ext>
              </a:extLst>
            </p:cNvPr>
            <p:cNvSpPr/>
            <p:nvPr/>
          </p:nvSpPr>
          <p:spPr bwMode="auto">
            <a:xfrm>
              <a:off x="1763495" y="2095884"/>
              <a:ext cx="1632212" cy="124366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8D3E5D-8480-2E3B-57B6-0E47E533F981}"/>
                </a:ext>
              </a:extLst>
            </p:cNvPr>
            <p:cNvSpPr/>
            <p:nvPr/>
          </p:nvSpPr>
          <p:spPr bwMode="auto">
            <a:xfrm>
              <a:off x="4374699" y="2113590"/>
              <a:ext cx="1625443" cy="122595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EA7539D-2D62-62A9-0A25-2046C96F48EE}"/>
                </a:ext>
              </a:extLst>
            </p:cNvPr>
            <p:cNvSpPr/>
            <p:nvPr/>
          </p:nvSpPr>
          <p:spPr bwMode="auto">
            <a:xfrm>
              <a:off x="3463005" y="2489290"/>
              <a:ext cx="879837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A2DFEE4-419D-F5DF-51D6-AD80EF95AEC2}"/>
                </a:ext>
              </a:extLst>
            </p:cNvPr>
            <p:cNvSpPr/>
            <p:nvPr/>
          </p:nvSpPr>
          <p:spPr bwMode="auto">
            <a:xfrm>
              <a:off x="6995979" y="2113590"/>
              <a:ext cx="1625443" cy="122595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5749CE5-BE50-45C7-AB51-976A6A8BE75C}"/>
                </a:ext>
              </a:extLst>
            </p:cNvPr>
            <p:cNvSpPr/>
            <p:nvPr/>
          </p:nvSpPr>
          <p:spPr bwMode="auto">
            <a:xfrm>
              <a:off x="6084285" y="2489290"/>
              <a:ext cx="879837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1" name="Graphic 10" descr="Database with solid fill">
              <a:extLst>
                <a:ext uri="{FF2B5EF4-FFF2-40B4-BE49-F238E27FC236}">
                  <a16:creationId xmlns:a16="http://schemas.microsoft.com/office/drawing/2014/main" id="{1EB11C1E-650E-D561-CC26-EA7B7C473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22399" y="3916017"/>
              <a:ext cx="914400" cy="587721"/>
            </a:xfrm>
            <a:prstGeom prst="rect">
              <a:avLst/>
            </a:prstGeom>
          </p:spPr>
        </p:pic>
        <p:pic>
          <p:nvPicPr>
            <p:cNvPr id="13" name="Graphic 12" descr="Database outline">
              <a:extLst>
                <a:ext uri="{FF2B5EF4-FFF2-40B4-BE49-F238E27FC236}">
                  <a16:creationId xmlns:a16="http://schemas.microsoft.com/office/drawing/2014/main" id="{0274E0E5-2194-0DB1-EA46-B717AFE84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94644" y="3806169"/>
              <a:ext cx="1185548" cy="708026"/>
            </a:xfrm>
            <a:prstGeom prst="rect">
              <a:avLst/>
            </a:prstGeom>
          </p:spPr>
        </p:pic>
        <p:pic>
          <p:nvPicPr>
            <p:cNvPr id="14" name="Graphic 13" descr="Database outline">
              <a:extLst>
                <a:ext uri="{FF2B5EF4-FFF2-40B4-BE49-F238E27FC236}">
                  <a16:creationId xmlns:a16="http://schemas.microsoft.com/office/drawing/2014/main" id="{6BF15019-DA71-DB66-A01E-86779A610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10359" y="3793467"/>
              <a:ext cx="1625443" cy="806383"/>
            </a:xfrm>
            <a:prstGeom prst="rect">
              <a:avLst/>
            </a:prstGeom>
          </p:spPr>
        </p:pic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2ADC86ED-0D20-0559-3154-EF9A107C860E}"/>
                </a:ext>
              </a:extLst>
            </p:cNvPr>
            <p:cNvSpPr/>
            <p:nvPr/>
          </p:nvSpPr>
          <p:spPr bwMode="auto">
            <a:xfrm rot="5400000">
              <a:off x="2291365" y="3438927"/>
              <a:ext cx="576468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EE0BD12D-627A-E3BA-E877-45EEBC3DDBC7}"/>
                </a:ext>
              </a:extLst>
            </p:cNvPr>
            <p:cNvSpPr/>
            <p:nvPr/>
          </p:nvSpPr>
          <p:spPr bwMode="auto">
            <a:xfrm rot="5400000">
              <a:off x="4936453" y="3389834"/>
              <a:ext cx="501930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91D0E67-02DC-0C87-1601-6C07E994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a Parameterization Strategy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0DE590-32D9-0DAC-D850-2DAC6ED310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231654"/>
          </a:xfrm>
        </p:spPr>
        <p:txBody>
          <a:bodyPr/>
          <a:lstStyle/>
          <a:p>
            <a:r>
              <a:rPr lang="en-US" dirty="0"/>
              <a:t>Consider classic scenario where each stage connect to different database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Start by creating variable library with variables with connection settings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A3CDDA-6F78-20A8-84AA-5448C8FBB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13" y="4589379"/>
            <a:ext cx="6428454" cy="199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4F41DC9-5978-2580-D1FC-CD2D4B107D6E}"/>
              </a:ext>
            </a:extLst>
          </p:cNvPr>
          <p:cNvGrpSpPr/>
          <p:nvPr/>
        </p:nvGrpSpPr>
        <p:grpSpPr>
          <a:xfrm>
            <a:off x="878913" y="4779189"/>
            <a:ext cx="9871404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6950E8C-C853-FF41-D857-33C36ED9DDC5}"/>
              </a:ext>
            </a:extLst>
          </p:cNvPr>
          <p:cNvSpPr/>
          <p:nvPr/>
        </p:nvSpPr>
        <p:spPr bwMode="auto">
          <a:xfrm>
            <a:off x="878913" y="1663524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A4B5B-98D2-B3E8-8B18-3EAE1ADCB720}"/>
              </a:ext>
            </a:extLst>
          </p:cNvPr>
          <p:cNvSpPr/>
          <p:nvPr/>
        </p:nvSpPr>
        <p:spPr bwMode="auto">
          <a:xfrm>
            <a:off x="5706892" y="2075506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375031C-A497-D5DF-457C-4CC269BB5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634713"/>
              </p:ext>
            </p:extLst>
          </p:nvPr>
        </p:nvGraphicFramePr>
        <p:xfrm>
          <a:off x="6053787" y="2246619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4C1A04-F14A-A187-8466-C6CB118A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27576"/>
              </p:ext>
            </p:extLst>
          </p:nvPr>
        </p:nvGraphicFramePr>
        <p:xfrm>
          <a:off x="7944552" y="2257103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1C02CF-8D00-9BBE-D068-F35F3AB3D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612110"/>
              </p:ext>
            </p:extLst>
          </p:nvPr>
        </p:nvGraphicFramePr>
        <p:xfrm>
          <a:off x="1085700" y="2246619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sp>
        <p:nvSpPr>
          <p:cNvPr id="13" name="Title 12">
            <a:extLst>
              <a:ext uri="{FF2B5EF4-FFF2-40B4-BE49-F238E27FC236}">
                <a16:creationId xmlns:a16="http://schemas.microsoft.com/office/drawing/2014/main" id="{F3F4A759-F74E-9869-B79D-C87704F4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Variable Library with Value Sets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91F838-6BC1-795E-F1D8-31C26A58EE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70153"/>
          </a:xfrm>
        </p:spPr>
        <p:txBody>
          <a:bodyPr/>
          <a:lstStyle/>
          <a:p>
            <a:r>
              <a:rPr lang="en-US" dirty="0"/>
              <a:t>Variable library can be extended with value sets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workspace has setting to active value set</a:t>
            </a:r>
          </a:p>
        </p:txBody>
      </p: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19FF-0CC2-8F0F-E0C3-04BCB6B3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9876A05-8DD6-D63E-150D-FDDE7C00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Workspace Item Type Capabilities for CI/CD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D9D6C4C-5859-93FB-3C30-7525120E6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2431435"/>
          </a:xfrm>
        </p:spPr>
        <p:txBody>
          <a:bodyPr/>
          <a:lstStyle/>
          <a:p>
            <a:r>
              <a:rPr lang="en-US" dirty="0"/>
              <a:t>CI/CD capabilities that are supported by some but not all workspace item types.</a:t>
            </a:r>
          </a:p>
          <a:p>
            <a:pPr lvl="1"/>
            <a:r>
              <a:rPr lang="en-US" dirty="0"/>
              <a:t>Support for reading variables from a variable library</a:t>
            </a:r>
          </a:p>
          <a:p>
            <a:pPr lvl="1"/>
            <a:r>
              <a:rPr lang="en-US" dirty="0"/>
              <a:t>Support with Fabric REST APIs to create and update items using item definitions</a:t>
            </a:r>
          </a:p>
          <a:p>
            <a:pPr lvl="1"/>
            <a:r>
              <a:rPr lang="en-US" dirty="0"/>
              <a:t>Support for calling Fabric APIs using a Service Principal identity</a:t>
            </a:r>
          </a:p>
          <a:p>
            <a:pPr lvl="1"/>
            <a:r>
              <a:rPr lang="en-US" dirty="0"/>
              <a:t>Support for auto-binding workspace item dependencies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64788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8ADF-8A87-2047-1E06-521EE43D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Auto-bind behavior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6E581-CAEE-DED1-9EDD-0146FE1D0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431435"/>
          </a:xfrm>
        </p:spPr>
        <p:txBody>
          <a:bodyPr/>
          <a:lstStyle/>
          <a:p>
            <a:r>
              <a:rPr lang="en-US" dirty="0"/>
              <a:t>Come workspace item types self-manage their relations to other workspace items</a:t>
            </a:r>
          </a:p>
          <a:p>
            <a:pPr lvl="1"/>
            <a:r>
              <a:rPr lang="en-US" dirty="0"/>
              <a:t>For example, pipelines support auto-binding behavior</a:t>
            </a:r>
          </a:p>
          <a:p>
            <a:pPr lvl="1"/>
            <a:r>
              <a:rPr lang="en-US" dirty="0"/>
              <a:t>notebooks will support auto-binding behavior soon</a:t>
            </a:r>
          </a:p>
          <a:p>
            <a:pPr lvl="1"/>
            <a:r>
              <a:rPr lang="en-US" dirty="0"/>
              <a:t>You might encounter workspace item types that do not yet support auto-binding. </a:t>
            </a:r>
          </a:p>
          <a:p>
            <a:r>
              <a:rPr lang="en-US" dirty="0"/>
              <a:t>When you encounter workspace item types that do not support auto-binding…</a:t>
            </a:r>
          </a:p>
          <a:p>
            <a:pPr lvl="1"/>
            <a:r>
              <a:rPr lang="en-US" dirty="0"/>
              <a:t>required to run a post-sync job script to correctly reestablish relations to other workspace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2D0D2-83C0-F39D-6A3E-BE063E1B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3" y="3735801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8189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2958E4-9F37-3A43-5204-E5302ADE23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39376"/>
          </a:xfrm>
        </p:spPr>
        <p:txBody>
          <a:bodyPr/>
          <a:lstStyle/>
          <a:p>
            <a:r>
              <a:rPr lang="en-US" dirty="0"/>
              <a:t>item definition is set of files that contain the metadata for workspace item instance </a:t>
            </a:r>
          </a:p>
          <a:p>
            <a:pPr lvl="1"/>
            <a:r>
              <a:rPr lang="en-US" dirty="0"/>
              <a:t>All item definitions contain common platform file name </a:t>
            </a:r>
            <a:r>
              <a:rPr lang="en-US" b="1" dirty="0"/>
              <a:t>.platform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Files required and/or allowed in item definition determined by workspace item type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37" y="2103715"/>
            <a:ext cx="6493630" cy="18755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7" y="4767299"/>
            <a:ext cx="3632618" cy="117475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822" y="4767299"/>
            <a:ext cx="2938602" cy="154619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1ED825-DFFA-3540-0368-0BA9537E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Definition Files</a:t>
            </a: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B2DA-16A6-112B-6D5C-148E37A3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Model Item Definition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D5EB8-9F8E-533A-B49E-D79940D5F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Some workspace item types can have item definitions that are far more complex</a:t>
            </a:r>
          </a:p>
          <a:p>
            <a:pPr lvl="1"/>
            <a:r>
              <a:rPr lang="en-US" dirty="0"/>
              <a:t>Item definition for a semantic model can include dozens or even hundreds of TMDL files</a:t>
            </a:r>
          </a:p>
          <a:p>
            <a:pPr lvl="1"/>
            <a:r>
              <a:rPr lang="en-US" dirty="0"/>
              <a:t>More files in item definitions results in more granularity in CI/CD development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D5A15-B4E7-45E5-24C1-32A1E3EC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69" y="2446894"/>
            <a:ext cx="3390749" cy="404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C794-A17B-1616-EA3D-2DECE443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Fabric CI/CD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D110C-E11D-B221-6DC7-7A30AEDD45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970318"/>
          </a:xfrm>
        </p:spPr>
        <p:txBody>
          <a:bodyPr/>
          <a:lstStyle/>
          <a:p>
            <a:r>
              <a:rPr lang="en-US" dirty="0"/>
              <a:t>Public Microsoft APIs used for automation in Fabric CI/CD</a:t>
            </a:r>
          </a:p>
          <a:p>
            <a:pPr lvl="1"/>
            <a:r>
              <a:rPr lang="en-US" b="1" dirty="0"/>
              <a:t>Fabric REST APIs</a:t>
            </a:r>
            <a:r>
              <a:rPr lang="en-US" dirty="0"/>
              <a:t> provides the ability to create workspaces, connections and workspace items</a:t>
            </a:r>
          </a:p>
          <a:p>
            <a:pPr lvl="1"/>
            <a:r>
              <a:rPr lang="en-US" b="1" dirty="0"/>
              <a:t>Azure Microsoft Fabric REST API</a:t>
            </a:r>
            <a:r>
              <a:rPr lang="en-US" dirty="0"/>
              <a:t> provides the ability to create and manage Fabric capacities</a:t>
            </a:r>
          </a:p>
          <a:p>
            <a:pPr lvl="1"/>
            <a:r>
              <a:rPr lang="en-US" b="1" dirty="0"/>
              <a:t>Power BI REST API</a:t>
            </a:r>
            <a:r>
              <a:rPr lang="en-US" dirty="0"/>
              <a:t> fills some gaps in scenarios for updating semantic models and reports</a:t>
            </a:r>
          </a:p>
          <a:p>
            <a:pPr lvl="1"/>
            <a:endParaRPr lang="en-US" dirty="0"/>
          </a:p>
          <a:p>
            <a:r>
              <a:rPr lang="en-US" dirty="0"/>
              <a:t>What are options for writing automation logic?</a:t>
            </a:r>
          </a:p>
          <a:p>
            <a:pPr lvl="1"/>
            <a:r>
              <a:rPr lang="en-US" dirty="0"/>
              <a:t>Use Terraform for automating of creating tenant-level resources</a:t>
            </a:r>
          </a:p>
          <a:p>
            <a:pPr lvl="1"/>
            <a:r>
              <a:rPr lang="en-US" dirty="0"/>
              <a:t>Use Fabric CLI for easiest path to writing automation logic with Fabric REST APIs</a:t>
            </a:r>
          </a:p>
          <a:p>
            <a:pPr lvl="1"/>
            <a:r>
              <a:rPr lang="en-US" dirty="0"/>
              <a:t>Call Fabric REST APIs directly when greater control is preferred or required</a:t>
            </a:r>
          </a:p>
          <a:p>
            <a:pPr lvl="1"/>
            <a:r>
              <a:rPr lang="en-US" dirty="0"/>
              <a:t>Leverage </a:t>
            </a:r>
            <a:r>
              <a:rPr lang="en-US" b="1" dirty="0">
                <a:solidFill>
                  <a:srgbClr val="8A0000"/>
                </a:solidFill>
              </a:rPr>
              <a:t>fabric-</a:t>
            </a:r>
            <a:r>
              <a:rPr lang="en-US" b="1" dirty="0" err="1">
                <a:solidFill>
                  <a:srgbClr val="8A0000"/>
                </a:solidFill>
              </a:rPr>
              <a:t>cicd</a:t>
            </a:r>
            <a:r>
              <a:rPr lang="en-US" dirty="0"/>
              <a:t> Python library to implement API-driven release process</a:t>
            </a:r>
          </a:p>
        </p:txBody>
      </p:sp>
    </p:spTree>
    <p:extLst>
      <p:ext uri="{BB962C8B-B14F-4D97-AF65-F5344CB8AC3E}">
        <p14:creationId xmlns:p14="http://schemas.microsoft.com/office/powerpoint/2010/main" val="36804639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8F0C-715A-E3B3-5267-8F047755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Required After Update-from-GIT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DA14B-D54F-BB6C-2863-9B8D5E45E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dirty="0"/>
              <a:t>Automation often required after Update from GIT operation completes</a:t>
            </a:r>
          </a:p>
          <a:p>
            <a:pPr lvl="1"/>
            <a:r>
              <a:rPr lang="en-US" dirty="0"/>
              <a:t>Workspace items need modification before workspace is ready for use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Post-deploy jobs</a:t>
            </a:r>
            <a:r>
              <a:rPr lang="en-US" dirty="0"/>
              <a:t> run only once after an empty workspace is first initialized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Post-sync jobs</a:t>
            </a:r>
            <a:r>
              <a:rPr lang="en-US" dirty="0"/>
              <a:t> run each time after an Update from GIT operation completes on a workspace</a:t>
            </a:r>
          </a:p>
          <a:p>
            <a:pPr lvl="1"/>
            <a:r>
              <a:rPr lang="en-US" dirty="0"/>
              <a:t>Updates required for workspace items that do not support auto-binding</a:t>
            </a:r>
          </a:p>
          <a:p>
            <a:pPr lvl="1"/>
            <a:r>
              <a:rPr lang="en-US" dirty="0"/>
              <a:t>Updates required for workspace items that do not support variable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F6EA2-05B4-1F34-FBF7-77B6BBAD2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98" y="3776705"/>
            <a:ext cx="3734380" cy="26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5249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98E48-9861-81F3-1196-7F66D017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3E095-D309-68FF-B635-9DFAE66C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What are options for writing automation logic?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04A38-43B1-EE8C-30FB-05A5F54EF8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5186035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Terraform</a:t>
            </a:r>
            <a:r>
              <a:rPr lang="en-US" dirty="0"/>
              <a:t> for automating of creating tenant-level resources</a:t>
            </a:r>
          </a:p>
          <a:p>
            <a:pPr lvl="1"/>
            <a:r>
              <a:rPr lang="en-US" dirty="0"/>
              <a:t>Used to create tenant-level resources for Fabric CI/CD project</a:t>
            </a:r>
          </a:p>
          <a:p>
            <a:pPr lvl="1"/>
            <a:r>
              <a:rPr lang="en-US" dirty="0"/>
              <a:t>Based on best practice of </a:t>
            </a:r>
            <a:r>
              <a:rPr lang="en-US" b="1" dirty="0"/>
              <a:t>Infrastructure as Code (IaC)</a:t>
            </a:r>
          </a:p>
          <a:p>
            <a:pPr>
              <a:lnSpc>
                <a:spcPct val="150000"/>
              </a:lnSpc>
            </a:pPr>
            <a:r>
              <a:rPr lang="en-US" dirty="0"/>
              <a:t>Use </a:t>
            </a:r>
            <a:r>
              <a:rPr lang="en-US" b="1" dirty="0"/>
              <a:t>Fabric CLI</a:t>
            </a:r>
            <a:r>
              <a:rPr lang="en-US" dirty="0"/>
              <a:t> for easiest path to writing automation logic with Fabric REST APIs</a:t>
            </a:r>
          </a:p>
          <a:p>
            <a:pPr lvl="1"/>
            <a:r>
              <a:rPr lang="en-US" dirty="0"/>
              <a:t>Acts as façade to Fabric REST APIs to boost productivity</a:t>
            </a:r>
          </a:p>
          <a:p>
            <a:pPr>
              <a:lnSpc>
                <a:spcPct val="150000"/>
              </a:lnSpc>
            </a:pPr>
            <a:r>
              <a:rPr lang="en-US" dirty="0"/>
              <a:t>Program using </a:t>
            </a:r>
            <a:r>
              <a:rPr lang="en-US" b="1" dirty="0"/>
              <a:t>Fabric REST APIs</a:t>
            </a:r>
            <a:r>
              <a:rPr lang="en-US" dirty="0"/>
              <a:t> when greater control is preferred or required</a:t>
            </a:r>
          </a:p>
          <a:p>
            <a:pPr lvl="1"/>
            <a:r>
              <a:rPr lang="en-US" dirty="0"/>
              <a:t>Provides ability to work directly with items definition</a:t>
            </a:r>
          </a:p>
          <a:p>
            <a:pPr lvl="1"/>
            <a:r>
              <a:rPr lang="en-US" dirty="0"/>
              <a:t>Significant complexity makes it a good fit for professional developers - but not for others</a:t>
            </a:r>
          </a:p>
          <a:p>
            <a:pPr>
              <a:lnSpc>
                <a:spcPct val="150000"/>
              </a:lnSpc>
            </a:pPr>
            <a:r>
              <a:rPr lang="en-US" dirty="0"/>
              <a:t>Leverage </a:t>
            </a:r>
            <a:r>
              <a:rPr lang="en-US" b="1" dirty="0"/>
              <a:t>fabric-cicd</a:t>
            </a:r>
            <a:r>
              <a:rPr lang="en-US" dirty="0"/>
              <a:t> Python library to implement API-driven release process</a:t>
            </a:r>
          </a:p>
          <a:p>
            <a:pPr lvl="1"/>
            <a:r>
              <a:rPr lang="en-US" dirty="0"/>
              <a:t>Eliminates need to implement a deployment process using Fabric REST APIs</a:t>
            </a:r>
          </a:p>
          <a:p>
            <a:pPr lvl="1"/>
            <a:r>
              <a:rPr lang="en-US" dirty="0"/>
              <a:t>Provide built-in code to implement full release process for contiguous deployment</a:t>
            </a:r>
          </a:p>
        </p:txBody>
      </p:sp>
    </p:spTree>
    <p:extLst>
      <p:ext uri="{BB962C8B-B14F-4D97-AF65-F5344CB8AC3E}">
        <p14:creationId xmlns:p14="http://schemas.microsoft.com/office/powerpoint/2010/main" val="28569972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17E5-F96B-EDA9-F5F8-EE7901F3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Terraform for Fabric CI/CD project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0FF64-4491-BD4B-4386-98F4F8B33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816156"/>
          </a:xfrm>
        </p:spPr>
        <p:txBody>
          <a:bodyPr/>
          <a:lstStyle/>
          <a:p>
            <a:r>
              <a:rPr lang="en-US" dirty="0"/>
              <a:t>Terraform is an open-source tool built on the principles of infrastructure as code (IaC)</a:t>
            </a:r>
          </a:p>
          <a:p>
            <a:pPr lvl="1"/>
            <a:r>
              <a:rPr lang="en-US" dirty="0"/>
              <a:t>Infrastructure defined using configuration files instead manual processes or procedural code</a:t>
            </a:r>
          </a:p>
          <a:p>
            <a:pPr lvl="1"/>
            <a:r>
              <a:rPr lang="en-US" dirty="0"/>
              <a:t>Used during project setup to create tenant-level items - workspace, capacities, connections,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Terraform deployment process is versionable and repeatable</a:t>
            </a:r>
          </a:p>
          <a:p>
            <a:r>
              <a:rPr lang="en-US" dirty="0"/>
              <a:t>Example of Fabric CI/CD project resources deployed using Terraform</a:t>
            </a:r>
          </a:p>
          <a:p>
            <a:pPr lvl="1"/>
            <a:r>
              <a:rPr lang="en-US" dirty="0"/>
              <a:t>Terraform providers available for creating Azure resources such as Azure storage account</a:t>
            </a:r>
          </a:p>
          <a:p>
            <a:pPr lvl="1"/>
            <a:r>
              <a:rPr lang="en-US" dirty="0"/>
              <a:t>Fabric provider for Terraform makes it possible to create Fabric tenant level items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F82B1-4DF5-7493-46DB-3C6771CC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907" y="4119566"/>
            <a:ext cx="8148918" cy="254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1864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55EA-18FE-56CC-FD33-80E4A26D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fabric-cicd Python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8AC37-A8C3-6A1A-3030-7D1C6CEC29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b="1" dirty="0"/>
              <a:t>fabric-cicd</a:t>
            </a:r>
            <a:r>
              <a:rPr lang="en-US" dirty="0"/>
              <a:t> library provide wrapper on Fabric REST APIs</a:t>
            </a:r>
          </a:p>
          <a:p>
            <a:pPr lvl="1"/>
            <a:r>
              <a:rPr lang="en-US" dirty="0"/>
              <a:t>Provides reusable library of code for implementing a release process</a:t>
            </a:r>
          </a:p>
          <a:p>
            <a:pPr lvl="1"/>
            <a:r>
              <a:rPr lang="en-US" dirty="0"/>
              <a:t>Deploys from folder of item definitions to set of items in target workspace</a:t>
            </a:r>
          </a:p>
          <a:p>
            <a:pPr lvl="1"/>
            <a:r>
              <a:rPr lang="en-US" dirty="0"/>
              <a:t>Built-in code handles all Fabric REST API programming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08CE9-B258-AE4E-DD1E-354B7A54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42" y="2917457"/>
            <a:ext cx="9717352" cy="28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9890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F358-7F62-6168-75C6-1C93B7E7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Parameterization with fabric-cicd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39F88-1D7D-E887-163C-F8C7FB02B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447098"/>
          </a:xfrm>
        </p:spPr>
        <p:txBody>
          <a:bodyPr/>
          <a:lstStyle/>
          <a:p>
            <a:r>
              <a:rPr lang="en-US" dirty="0"/>
              <a:t>Parameterization allows updates to item definition files on the fly</a:t>
            </a:r>
          </a:p>
          <a:p>
            <a:pPr lvl="1"/>
            <a:r>
              <a:rPr lang="en-US" dirty="0"/>
              <a:t>Parameterization required to deal with environment-specific settings committed to GIT</a:t>
            </a:r>
          </a:p>
          <a:p>
            <a:pPr lvl="1"/>
            <a:r>
              <a:rPr lang="en-US" dirty="0"/>
              <a:t>Parameterization enabled by adding </a:t>
            </a:r>
            <a:r>
              <a:rPr lang="en-US" b="1" dirty="0" err="1"/>
              <a:t>parameter.yml</a:t>
            </a:r>
            <a:r>
              <a:rPr lang="en-US" b="1" dirty="0"/>
              <a:t> file</a:t>
            </a:r>
            <a:r>
              <a:rPr lang="en-US" dirty="0"/>
              <a:t> to root folder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44488" lvl="1" indent="0">
              <a:buNone/>
            </a:pPr>
            <a:endParaRPr lang="en-US" dirty="0"/>
          </a:p>
          <a:p>
            <a:pPr lvl="1"/>
            <a:r>
              <a:rPr lang="en-US" dirty="0"/>
              <a:t>Parameterization used to update item definition files using substitution patterns (e.g. find-replace)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5638C-5391-5092-7DF8-D9992BE87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41" y="2461971"/>
            <a:ext cx="2861290" cy="176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2C9C65-5A41-595A-C9F8-95D716799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41" y="4766553"/>
            <a:ext cx="8781275" cy="179561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388291-DFEC-A3A3-12B5-BCD00B8F0DEB}"/>
                  </a:ext>
                </a:extLst>
              </p14:cNvPr>
              <p14:cNvContentPartPr/>
              <p14:nvPr/>
            </p14:nvContentPartPr>
            <p14:xfrm>
              <a:off x="58320" y="3128760"/>
              <a:ext cx="1308600" cy="3330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388291-DFEC-A3A3-12B5-BCD00B8F0D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60" y="3119400"/>
                <a:ext cx="1327320" cy="33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979140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8C57-CEAC-20C3-4E30-32D98F79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Code for fabric-cicd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F2868-E9FB-1EDD-9C8D-184BAD9AD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231654"/>
          </a:xfrm>
        </p:spPr>
        <p:txBody>
          <a:bodyPr/>
          <a:lstStyle/>
          <a:p>
            <a:r>
              <a:rPr lang="en-US" dirty="0"/>
              <a:t>Create FabricWorkspace object and call publish_all_items - that's it!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fabric-cicd</a:t>
            </a:r>
            <a:r>
              <a:rPr lang="en-US" dirty="0"/>
              <a:t> provides flexibility of one-to-many between GIT branch and workspaces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C99DF-FF71-B377-D295-3FEB02C62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28" y="1718155"/>
            <a:ext cx="4570020" cy="21151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B25B2-B68F-71DA-05F5-E91E535A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95" y="4459093"/>
            <a:ext cx="2848801" cy="23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7306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5D22-2674-233B-D19B-FB0E3D9A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CI/CD Workflows using GIT Provider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5CE09-B1FB-EE66-00B4-BB2E07B136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Fabric CI/CD workflows developed using support in cloud-based GIT provider</a:t>
            </a:r>
          </a:p>
          <a:p>
            <a:pPr lvl="1"/>
            <a:r>
              <a:rPr lang="en-US" dirty="0"/>
              <a:t>If using Azure Dev Ops, workflows developed using </a:t>
            </a:r>
            <a:r>
              <a:rPr lang="en-US" sz="1800" b="1" dirty="0">
                <a:solidFill>
                  <a:srgbClr val="8A0000"/>
                </a:solidFill>
              </a:rPr>
              <a:t>Azure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If using GitHub, workflows developed using </a:t>
            </a:r>
            <a:r>
              <a:rPr lang="en-US" sz="1800" b="1" dirty="0">
                <a:solidFill>
                  <a:srgbClr val="8A0000"/>
                </a:solidFill>
              </a:rPr>
              <a:t>GitHub Workflow Actions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F3792-0980-D120-9638-11EAA5A0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93" y="2553083"/>
            <a:ext cx="4045468" cy="3965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F8CC5C-471E-06F8-7200-B2A97F3E1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92" y="2553083"/>
            <a:ext cx="4771674" cy="387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8809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2DF4-90B0-023A-2649-9D2D631B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16F5B9E-0605-3B9A-C7EA-FB7209726F6A}"/>
              </a:ext>
            </a:extLst>
          </p:cNvPr>
          <p:cNvGrpSpPr/>
          <p:nvPr/>
        </p:nvGrpSpPr>
        <p:grpSpPr>
          <a:xfrm>
            <a:off x="1123122" y="2677000"/>
            <a:ext cx="9645926" cy="3716793"/>
            <a:chOff x="688423" y="876094"/>
            <a:chExt cx="11268352" cy="43419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022E73-32C7-DAE9-848C-44D2985878C8}"/>
                </a:ext>
              </a:extLst>
            </p:cNvPr>
            <p:cNvSpPr/>
            <p:nvPr/>
          </p:nvSpPr>
          <p:spPr bwMode="auto">
            <a:xfrm>
              <a:off x="688423" y="876094"/>
              <a:ext cx="11268352" cy="43419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E4A172B-CE61-05E3-223F-E7A4BA07BE0E}"/>
                </a:ext>
              </a:extLst>
            </p:cNvPr>
            <p:cNvGrpSpPr/>
            <p:nvPr/>
          </p:nvGrpSpPr>
          <p:grpSpPr>
            <a:xfrm>
              <a:off x="4452848" y="1386610"/>
              <a:ext cx="7334961" cy="1806435"/>
              <a:chOff x="4452848" y="1386609"/>
              <a:chExt cx="7334961" cy="228019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B018593-BA11-8ECD-72E4-5194A3CFE49C}"/>
                  </a:ext>
                </a:extLst>
              </p:cNvPr>
              <p:cNvSpPr/>
              <p:nvPr/>
            </p:nvSpPr>
            <p:spPr bwMode="auto">
              <a:xfrm>
                <a:off x="4452848" y="1386609"/>
                <a:ext cx="7334961" cy="22801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C730C01-0244-7727-3692-9174AFCFDE29}"/>
                  </a:ext>
                </a:extLst>
              </p:cNvPr>
              <p:cNvSpPr/>
              <p:nvPr/>
            </p:nvSpPr>
            <p:spPr bwMode="auto">
              <a:xfrm>
                <a:off x="4655782" y="1519414"/>
                <a:ext cx="1632212" cy="166707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CB1A7F8-3833-F9D5-2775-BB8F79270AF8}"/>
                  </a:ext>
                </a:extLst>
              </p:cNvPr>
              <p:cNvSpPr/>
              <p:nvPr/>
            </p:nvSpPr>
            <p:spPr bwMode="auto">
              <a:xfrm>
                <a:off x="7266986" y="1543148"/>
                <a:ext cx="1625443" cy="164333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03F341D-0517-497C-7280-BA9997C6A656}"/>
                  </a:ext>
                </a:extLst>
              </p:cNvPr>
              <p:cNvSpPr/>
              <p:nvPr/>
            </p:nvSpPr>
            <p:spPr bwMode="auto">
              <a:xfrm>
                <a:off x="635529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6B9359-CEC3-2D83-2283-D3519124E68B}"/>
                  </a:ext>
                </a:extLst>
              </p:cNvPr>
              <p:cNvSpPr/>
              <p:nvPr/>
            </p:nvSpPr>
            <p:spPr bwMode="auto">
              <a:xfrm>
                <a:off x="9888266" y="1543148"/>
                <a:ext cx="1625443" cy="16433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71DE1E75-EA14-663E-FE69-8EE14148C6D7}"/>
                  </a:ext>
                </a:extLst>
              </p:cNvPr>
              <p:cNvSpPr/>
              <p:nvPr/>
            </p:nvSpPr>
            <p:spPr bwMode="auto">
              <a:xfrm>
                <a:off x="897657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6A63CD-594F-4996-930F-4C670BE99AF0}"/>
                </a:ext>
              </a:extLst>
            </p:cNvPr>
            <p:cNvSpPr/>
            <p:nvPr/>
          </p:nvSpPr>
          <p:spPr bwMode="auto">
            <a:xfrm>
              <a:off x="4452848" y="993913"/>
              <a:ext cx="7334961" cy="392696"/>
            </a:xfrm>
            <a:prstGeom prst="rect">
              <a:avLst/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Deployment Pipeline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A9DA35-C27C-3E61-52B8-6003A891496B}"/>
                </a:ext>
              </a:extLst>
            </p:cNvPr>
            <p:cNvSpPr/>
            <p:nvPr/>
          </p:nvSpPr>
          <p:spPr bwMode="auto">
            <a:xfrm>
              <a:off x="4655782" y="3801478"/>
              <a:ext cx="1632212" cy="125364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E20A0061-91AC-434F-2F7F-BEB9184C9849}"/>
                </a:ext>
              </a:extLst>
            </p:cNvPr>
            <p:cNvSpPr/>
            <p:nvPr/>
          </p:nvSpPr>
          <p:spPr bwMode="auto">
            <a:xfrm>
              <a:off x="5007668" y="2840669"/>
              <a:ext cx="864083" cy="914650"/>
            </a:xfrm>
            <a:prstGeom prst="upArrow">
              <a:avLst>
                <a:gd name="adj1" fmla="val 66197"/>
                <a:gd name="adj2" fmla="val 40186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GIT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SYNC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053B543-BE29-AA58-006A-BF7B9E025C35}"/>
                </a:ext>
              </a:extLst>
            </p:cNvPr>
            <p:cNvGrpSpPr/>
            <p:nvPr/>
          </p:nvGrpSpPr>
          <p:grpSpPr>
            <a:xfrm>
              <a:off x="825725" y="3863513"/>
              <a:ext cx="3728222" cy="1129571"/>
              <a:chOff x="1570383" y="1506117"/>
              <a:chExt cx="3728222" cy="13927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BBC3ECB-8CF9-E9D8-E203-03C94D6E955B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7FF5E491-0D47-541E-E8D7-A4E5B0545E2C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0CD142D-6EEA-3ACB-39C0-F6830E335B8A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45D492D-30EA-747C-D338-E5EC522981AA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7" name="Arrow: Left-Right 26">
                  <a:extLst>
                    <a:ext uri="{FF2B5EF4-FFF2-40B4-BE49-F238E27FC236}">
                      <a16:creationId xmlns:a16="http://schemas.microsoft.com/office/drawing/2014/main" id="{B78B09C4-1B2D-5488-2F0C-85C30C45920A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93538F1-11E8-03A9-5E19-09D8F6A706C5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20" name="Arrow: Right 19">
                  <a:extLst>
                    <a:ext uri="{FF2B5EF4-FFF2-40B4-BE49-F238E27FC236}">
                      <a16:creationId xmlns:a16="http://schemas.microsoft.com/office/drawing/2014/main" id="{EA5DA674-9349-3DB6-481D-86DB8ACAB2D7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8D17C589-CFE7-E3A8-A5CB-7B4814F0E1E4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A1C2EE9-41D9-B28D-E644-97868F62B377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3" name="Arrow: Left-Right 22">
                  <a:extLst>
                    <a:ext uri="{FF2B5EF4-FFF2-40B4-BE49-F238E27FC236}">
                      <a16:creationId xmlns:a16="http://schemas.microsoft.com/office/drawing/2014/main" id="{8A5C1B39-4F50-16EB-C593-4C1FFA60F7C9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</p:grpSp>
      <p:sp>
        <p:nvSpPr>
          <p:cNvPr id="16" name="Title 15">
            <a:extLst>
              <a:ext uri="{FF2B5EF4-FFF2-40B4-BE49-F238E27FC236}">
                <a16:creationId xmlns:a16="http://schemas.microsoft.com/office/drawing/2014/main" id="{262015BC-A922-2573-2923-F5123595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1: Release process using Deployment Pipeline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BBC5333-E128-EE2D-6071-8EEF1C944B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GIT integration and deployment pipeline used together for end-to-end CI/CD workflow</a:t>
            </a:r>
          </a:p>
          <a:p>
            <a:pPr lvl="1"/>
            <a:r>
              <a:rPr lang="en-US" dirty="0"/>
              <a:t>CI provides by GIT integration</a:t>
            </a:r>
          </a:p>
          <a:p>
            <a:pPr lvl="1"/>
            <a:r>
              <a:rPr lang="en-US" dirty="0"/>
              <a:t>CD provided by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53229873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94B8-1F46-FE40-BA79-C06DDCE6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5FFA082-0A8A-CCD8-02D3-EBA23C793543}"/>
              </a:ext>
            </a:extLst>
          </p:cNvPr>
          <p:cNvSpPr/>
          <p:nvPr/>
        </p:nvSpPr>
        <p:spPr bwMode="auto">
          <a:xfrm>
            <a:off x="790986" y="2438461"/>
            <a:ext cx="9645926" cy="4260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78547-33A6-C434-8C53-7DAEC4A4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2: Release process using GIT Sync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D2001-07A1-601F-3578-5B9F7F4841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You need to create or reuse existing Fabric workspace for each GIT branch</a:t>
            </a:r>
          </a:p>
          <a:p>
            <a:pPr lvl="1"/>
            <a:r>
              <a:rPr lang="en-US" dirty="0"/>
              <a:t>The challenge is managing dependencies between workspace items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F4F72C-ED3E-E83C-7238-804627997788}"/>
              </a:ext>
            </a:extLst>
          </p:cNvPr>
          <p:cNvSpPr/>
          <p:nvPr/>
        </p:nvSpPr>
        <p:spPr bwMode="auto">
          <a:xfrm>
            <a:off x="4171137" y="5252286"/>
            <a:ext cx="2026755" cy="125364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BA4C8-6BE9-E962-4396-2D340D9DDF18}"/>
              </a:ext>
            </a:extLst>
          </p:cNvPr>
          <p:cNvSpPr/>
          <p:nvPr/>
        </p:nvSpPr>
        <p:spPr bwMode="auto">
          <a:xfrm>
            <a:off x="1073899" y="5232176"/>
            <a:ext cx="2009952" cy="1253642"/>
          </a:xfrm>
          <a:prstGeom prst="rect">
            <a:avLst/>
          </a:prstGeom>
          <a:solidFill>
            <a:srgbClr val="6C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B13CE-EA56-DB14-C88E-5B02A08DD356}"/>
              </a:ext>
            </a:extLst>
          </p:cNvPr>
          <p:cNvSpPr/>
          <p:nvPr/>
        </p:nvSpPr>
        <p:spPr bwMode="auto">
          <a:xfrm>
            <a:off x="7413528" y="5280270"/>
            <a:ext cx="2018350" cy="123579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CC2F655-8831-0203-BFCF-8C59DE7BCD2E}"/>
              </a:ext>
            </a:extLst>
          </p:cNvPr>
          <p:cNvSpPr/>
          <p:nvPr/>
        </p:nvSpPr>
        <p:spPr bwMode="auto">
          <a:xfrm>
            <a:off x="3081238" y="5668626"/>
            <a:ext cx="1092513" cy="38074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FAD72C1-E6B5-EC58-2F88-F57B82530F9D}"/>
              </a:ext>
            </a:extLst>
          </p:cNvPr>
          <p:cNvSpPr/>
          <p:nvPr/>
        </p:nvSpPr>
        <p:spPr bwMode="auto">
          <a:xfrm>
            <a:off x="6259453" y="5668626"/>
            <a:ext cx="1092513" cy="38074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6FE53C-4911-C643-317B-92A36AF52EAA}"/>
              </a:ext>
            </a:extLst>
          </p:cNvPr>
          <p:cNvSpPr/>
          <p:nvPr/>
        </p:nvSpPr>
        <p:spPr bwMode="auto">
          <a:xfrm>
            <a:off x="4171137" y="2666291"/>
            <a:ext cx="2026755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4E0CB5-851D-6643-A3E9-E9D5A9CA3705}"/>
              </a:ext>
            </a:extLst>
          </p:cNvPr>
          <p:cNvSpPr/>
          <p:nvPr/>
        </p:nvSpPr>
        <p:spPr bwMode="auto">
          <a:xfrm>
            <a:off x="1073899" y="2646181"/>
            <a:ext cx="2009952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0C4D30-D479-DCFE-FA99-8741AE3FB69D}"/>
              </a:ext>
            </a:extLst>
          </p:cNvPr>
          <p:cNvSpPr/>
          <p:nvPr/>
        </p:nvSpPr>
        <p:spPr bwMode="auto">
          <a:xfrm>
            <a:off x="7413528" y="2694275"/>
            <a:ext cx="2018350" cy="123579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10156308-CC4F-1BE9-F8B6-C44049D1F880}"/>
              </a:ext>
            </a:extLst>
          </p:cNvPr>
          <p:cNvSpPr/>
          <p:nvPr/>
        </p:nvSpPr>
        <p:spPr bwMode="auto">
          <a:xfrm>
            <a:off x="1697655" y="3930069"/>
            <a:ext cx="762440" cy="1253641"/>
          </a:xfrm>
          <a:prstGeom prst="upDownArrow">
            <a:avLst>
              <a:gd name="adj1" fmla="val 68655"/>
              <a:gd name="adj2" fmla="val 48915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35B37DC6-7E42-4CBD-6B6B-E9E0CA4E62DD}"/>
              </a:ext>
            </a:extLst>
          </p:cNvPr>
          <p:cNvSpPr/>
          <p:nvPr/>
        </p:nvSpPr>
        <p:spPr bwMode="auto">
          <a:xfrm>
            <a:off x="4755079" y="3919933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83DF18C9-0AD2-A772-BA33-AFABE2B5C014}"/>
              </a:ext>
            </a:extLst>
          </p:cNvPr>
          <p:cNvSpPr/>
          <p:nvPr/>
        </p:nvSpPr>
        <p:spPr bwMode="auto">
          <a:xfrm>
            <a:off x="7993268" y="3939098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11847292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E26C-4261-E14E-4B19-6DB5EA41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282FB7-B399-4510-4B62-4370FBBD1522}"/>
              </a:ext>
            </a:extLst>
          </p:cNvPr>
          <p:cNvSpPr/>
          <p:nvPr/>
        </p:nvSpPr>
        <p:spPr bwMode="auto">
          <a:xfrm>
            <a:off x="192664" y="2262749"/>
            <a:ext cx="11923133" cy="42970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FB493-387C-936E-2B14-47330441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3: Release process using fabric-</a:t>
            </a:r>
            <a:r>
              <a:rPr lang="en-US" dirty="0" err="1"/>
              <a:t>cicd</a:t>
            </a:r>
            <a:r>
              <a:rPr lang="en-US" dirty="0"/>
              <a:t> (multi-branch)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0FCA-8E05-3AA9-12B0-E1A1F034F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You need to create or reuse existing Fabric workspace for each GIT branch</a:t>
            </a:r>
          </a:p>
          <a:p>
            <a:pPr lvl="1"/>
            <a:r>
              <a:rPr lang="en-US" dirty="0"/>
              <a:t>The challenge is managing dependencies between workspace items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C4078-A470-DCE9-0737-C3785627C627}"/>
              </a:ext>
            </a:extLst>
          </p:cNvPr>
          <p:cNvSpPr/>
          <p:nvPr/>
        </p:nvSpPr>
        <p:spPr bwMode="auto">
          <a:xfrm>
            <a:off x="3485337" y="5065085"/>
            <a:ext cx="2026755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EEA8E-D8CF-69D1-6071-DA46D16ED1D7}"/>
              </a:ext>
            </a:extLst>
          </p:cNvPr>
          <p:cNvSpPr/>
          <p:nvPr/>
        </p:nvSpPr>
        <p:spPr bwMode="auto">
          <a:xfrm>
            <a:off x="388099" y="5065085"/>
            <a:ext cx="2009952" cy="1253642"/>
          </a:xfrm>
          <a:prstGeom prst="rect">
            <a:avLst/>
          </a:prstGeom>
          <a:solidFill>
            <a:srgbClr val="6C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2B243A-9A66-36AB-2BF4-868AE170C262}"/>
              </a:ext>
            </a:extLst>
          </p:cNvPr>
          <p:cNvSpPr/>
          <p:nvPr/>
        </p:nvSpPr>
        <p:spPr bwMode="auto">
          <a:xfrm>
            <a:off x="6727728" y="5074009"/>
            <a:ext cx="2018350" cy="123579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74A4AD8-41B4-9700-9946-0550DAFC8DF9}"/>
              </a:ext>
            </a:extLst>
          </p:cNvPr>
          <p:cNvSpPr/>
          <p:nvPr/>
        </p:nvSpPr>
        <p:spPr bwMode="auto">
          <a:xfrm>
            <a:off x="2392824" y="5314879"/>
            <a:ext cx="1092513" cy="75405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269782-ECA8-3B74-B16F-F37B8FF9E744}"/>
              </a:ext>
            </a:extLst>
          </p:cNvPr>
          <p:cNvSpPr/>
          <p:nvPr/>
        </p:nvSpPr>
        <p:spPr bwMode="auto">
          <a:xfrm>
            <a:off x="3485337" y="2477450"/>
            <a:ext cx="2026755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8122F0-7E20-6290-D014-10D742328E97}"/>
              </a:ext>
            </a:extLst>
          </p:cNvPr>
          <p:cNvSpPr/>
          <p:nvPr/>
        </p:nvSpPr>
        <p:spPr bwMode="auto">
          <a:xfrm>
            <a:off x="388099" y="2457340"/>
            <a:ext cx="2009952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049B6-B9FD-8FF8-9786-5B83DEA03A8D}"/>
              </a:ext>
            </a:extLst>
          </p:cNvPr>
          <p:cNvSpPr/>
          <p:nvPr/>
        </p:nvSpPr>
        <p:spPr bwMode="auto">
          <a:xfrm>
            <a:off x="6727728" y="2505434"/>
            <a:ext cx="2018350" cy="123579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63920391-DE58-39EE-997E-3AE105E243EF}"/>
              </a:ext>
            </a:extLst>
          </p:cNvPr>
          <p:cNvSpPr/>
          <p:nvPr/>
        </p:nvSpPr>
        <p:spPr bwMode="auto">
          <a:xfrm>
            <a:off x="1011855" y="3741228"/>
            <a:ext cx="762440" cy="1253641"/>
          </a:xfrm>
          <a:prstGeom prst="upDownArrow">
            <a:avLst>
              <a:gd name="adj1" fmla="val 68655"/>
              <a:gd name="adj2" fmla="val 48915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7CA70B7D-1970-46FE-9E64-CC081FD30216}"/>
              </a:ext>
            </a:extLst>
          </p:cNvPr>
          <p:cNvSpPr/>
          <p:nvPr/>
        </p:nvSpPr>
        <p:spPr bwMode="auto">
          <a:xfrm>
            <a:off x="4069279" y="3731092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03A76F-3D3A-1F99-4BB0-CEB325300C6A}"/>
              </a:ext>
            </a:extLst>
          </p:cNvPr>
          <p:cNvSpPr/>
          <p:nvPr/>
        </p:nvSpPr>
        <p:spPr bwMode="auto">
          <a:xfrm>
            <a:off x="10030825" y="5074009"/>
            <a:ext cx="2018350" cy="123579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36B6F-94B3-A744-F952-A0316C9676C1}"/>
              </a:ext>
            </a:extLst>
          </p:cNvPr>
          <p:cNvSpPr/>
          <p:nvPr/>
        </p:nvSpPr>
        <p:spPr bwMode="auto">
          <a:xfrm>
            <a:off x="10030825" y="2518688"/>
            <a:ext cx="2018350" cy="123579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060276FC-D2C4-69E8-08DA-A0E22980F2C6}"/>
              </a:ext>
            </a:extLst>
          </p:cNvPr>
          <p:cNvSpPr/>
          <p:nvPr/>
        </p:nvSpPr>
        <p:spPr bwMode="auto">
          <a:xfrm>
            <a:off x="10610565" y="3763511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cicd</a:t>
            </a: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3EC881E2-99A1-7F21-FA84-630E19C46505}"/>
              </a:ext>
            </a:extLst>
          </p:cNvPr>
          <p:cNvSpPr/>
          <p:nvPr/>
        </p:nvSpPr>
        <p:spPr bwMode="auto">
          <a:xfrm>
            <a:off x="7307468" y="3763511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cicd</a:t>
            </a: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14B42A0-5420-3185-8477-44DCCC3CB74E}"/>
              </a:ext>
            </a:extLst>
          </p:cNvPr>
          <p:cNvSpPr/>
          <p:nvPr/>
        </p:nvSpPr>
        <p:spPr bwMode="auto">
          <a:xfrm>
            <a:off x="5512092" y="5314879"/>
            <a:ext cx="1092513" cy="75405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A1DDC9F-BCA2-E654-4EC3-11299D37651A}"/>
              </a:ext>
            </a:extLst>
          </p:cNvPr>
          <p:cNvSpPr/>
          <p:nvPr/>
        </p:nvSpPr>
        <p:spPr bwMode="auto">
          <a:xfrm>
            <a:off x="8746078" y="5314879"/>
            <a:ext cx="1092513" cy="75405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F24070D-8FE6-9F84-6229-CAC67DEA3F7A}"/>
                  </a:ext>
                </a:extLst>
              </p14:cNvPr>
              <p14:cNvContentPartPr/>
              <p14:nvPr/>
            </p14:nvContentPartPr>
            <p14:xfrm>
              <a:off x="4857840" y="2960280"/>
              <a:ext cx="3977640" cy="2766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F24070D-8FE6-9F84-6229-CAC67DEA3F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8480" y="2950920"/>
                <a:ext cx="3996360" cy="278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30541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A07E-4BE5-3BEA-AD87-7151F2B7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310A63-4807-8782-CB7B-1E183EC86C5F}"/>
              </a:ext>
            </a:extLst>
          </p:cNvPr>
          <p:cNvSpPr/>
          <p:nvPr/>
        </p:nvSpPr>
        <p:spPr bwMode="auto">
          <a:xfrm>
            <a:off x="596347" y="1315622"/>
            <a:ext cx="10545418" cy="4363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8523FD-E413-8200-86FA-2C65D270F645}"/>
              </a:ext>
            </a:extLst>
          </p:cNvPr>
          <p:cNvSpPr/>
          <p:nvPr/>
        </p:nvSpPr>
        <p:spPr bwMode="auto">
          <a:xfrm>
            <a:off x="9311094" y="3672462"/>
            <a:ext cx="1456549" cy="8003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9E9A2A7-6E06-59DD-EA4C-E9807B18489D}"/>
              </a:ext>
            </a:extLst>
          </p:cNvPr>
          <p:cNvSpPr/>
          <p:nvPr/>
        </p:nvSpPr>
        <p:spPr bwMode="auto">
          <a:xfrm>
            <a:off x="4949770" y="3722369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83C4E73-1A8F-B2AD-9299-5030D30B443A}"/>
              </a:ext>
            </a:extLst>
          </p:cNvPr>
          <p:cNvSpPr/>
          <p:nvPr/>
        </p:nvSpPr>
        <p:spPr bwMode="auto">
          <a:xfrm>
            <a:off x="2433269" y="3750581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C03BF-7AD8-84BA-4968-C092AD7E7573}"/>
              </a:ext>
            </a:extLst>
          </p:cNvPr>
          <p:cNvSpPr/>
          <p:nvPr/>
        </p:nvSpPr>
        <p:spPr bwMode="auto">
          <a:xfrm>
            <a:off x="3419398" y="3648711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C323A-94B0-4F3D-F786-BE9377ED6E45}"/>
              </a:ext>
            </a:extLst>
          </p:cNvPr>
          <p:cNvSpPr/>
          <p:nvPr/>
        </p:nvSpPr>
        <p:spPr bwMode="auto">
          <a:xfrm>
            <a:off x="890378" y="3648711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28D5BE7-DCD1-76D0-23EB-78C51A6D7ACC}"/>
              </a:ext>
            </a:extLst>
          </p:cNvPr>
          <p:cNvSpPr/>
          <p:nvPr/>
        </p:nvSpPr>
        <p:spPr bwMode="auto">
          <a:xfrm>
            <a:off x="2402162" y="4688172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30E62F-CD8A-1FC3-0B63-5C9BF3C1BF68}"/>
              </a:ext>
            </a:extLst>
          </p:cNvPr>
          <p:cNvSpPr/>
          <p:nvPr/>
        </p:nvSpPr>
        <p:spPr bwMode="auto">
          <a:xfrm>
            <a:off x="3419397" y="4605215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0C0FAE-9813-B496-31B4-1DB93F2F0C2B}"/>
              </a:ext>
            </a:extLst>
          </p:cNvPr>
          <p:cNvSpPr/>
          <p:nvPr/>
        </p:nvSpPr>
        <p:spPr bwMode="auto">
          <a:xfrm>
            <a:off x="890377" y="4586301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2372722-55FA-6DA4-831A-71C813FAFDEB}"/>
              </a:ext>
            </a:extLst>
          </p:cNvPr>
          <p:cNvSpPr/>
          <p:nvPr/>
        </p:nvSpPr>
        <p:spPr bwMode="auto">
          <a:xfrm>
            <a:off x="4980875" y="4659959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CFE0BF-80D6-9CFE-0DFE-7F941A2C6237}"/>
              </a:ext>
            </a:extLst>
          </p:cNvPr>
          <p:cNvSpPr/>
          <p:nvPr/>
        </p:nvSpPr>
        <p:spPr bwMode="auto">
          <a:xfrm>
            <a:off x="9311094" y="4605215"/>
            <a:ext cx="1456549" cy="8003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BCA9E3-0C37-EC7D-F0F8-0BD2556988CE}"/>
              </a:ext>
            </a:extLst>
          </p:cNvPr>
          <p:cNvSpPr/>
          <p:nvPr/>
        </p:nvSpPr>
        <p:spPr bwMode="auto">
          <a:xfrm>
            <a:off x="6397141" y="3648711"/>
            <a:ext cx="1387689" cy="17379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167938-2493-7B07-D4A2-817C0B5A513A}"/>
              </a:ext>
            </a:extLst>
          </p:cNvPr>
          <p:cNvSpPr/>
          <p:nvPr/>
        </p:nvSpPr>
        <p:spPr bwMode="auto">
          <a:xfrm>
            <a:off x="6397141" y="1563506"/>
            <a:ext cx="1387689" cy="103559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1F7C543-F803-3CD7-15EC-645DF90B5ABC}"/>
              </a:ext>
            </a:extLst>
          </p:cNvPr>
          <p:cNvSpPr/>
          <p:nvPr/>
        </p:nvSpPr>
        <p:spPr bwMode="auto">
          <a:xfrm rot="16200000">
            <a:off x="6612520" y="2825605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928FFCB-85CE-8C3F-AA9C-8648BEE79275}"/>
              </a:ext>
            </a:extLst>
          </p:cNvPr>
          <p:cNvSpPr/>
          <p:nvPr/>
        </p:nvSpPr>
        <p:spPr bwMode="auto">
          <a:xfrm>
            <a:off x="7863103" y="3718252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fabric_cicd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DD0B49E-29FB-B5C7-6664-DEA81B10C6C0}"/>
              </a:ext>
            </a:extLst>
          </p:cNvPr>
          <p:cNvSpPr/>
          <p:nvPr/>
        </p:nvSpPr>
        <p:spPr bwMode="auto">
          <a:xfrm>
            <a:off x="7894208" y="4628049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fabric_cicd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C679E96-7AFD-FE3B-DC0C-F0BD22D9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4: Release process using fabric-</a:t>
            </a:r>
            <a:r>
              <a:rPr lang="en-US" dirty="0" err="1"/>
              <a:t>cicd</a:t>
            </a:r>
            <a:r>
              <a:rPr lang="en-US" dirty="0"/>
              <a:t> (single-branch)</a:t>
            </a:r>
          </a:p>
        </p:txBody>
      </p:sp>
    </p:spTree>
    <p:extLst>
      <p:ext uri="{BB962C8B-B14F-4D97-AF65-F5344CB8AC3E}">
        <p14:creationId xmlns:p14="http://schemas.microsoft.com/office/powerpoint/2010/main" val="118647121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D175-C06F-3F9F-DFD4-2750622D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5CE6E5-2B94-FAA3-4880-6DC3C8B878AC}"/>
              </a:ext>
            </a:extLst>
          </p:cNvPr>
          <p:cNvSpPr/>
          <p:nvPr/>
        </p:nvSpPr>
        <p:spPr bwMode="auto">
          <a:xfrm>
            <a:off x="298018" y="1460829"/>
            <a:ext cx="10923260" cy="5198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307493A-2C21-9366-6BA5-B5D0B36D29A6}"/>
              </a:ext>
            </a:extLst>
          </p:cNvPr>
          <p:cNvSpPr/>
          <p:nvPr/>
        </p:nvSpPr>
        <p:spPr bwMode="auto">
          <a:xfrm>
            <a:off x="6929507" y="4432014"/>
            <a:ext cx="2573835" cy="50004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fabric-</a:t>
            </a: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2244A-DD7D-A7E9-B209-408FF1BD7207}"/>
              </a:ext>
            </a:extLst>
          </p:cNvPr>
          <p:cNvSpPr/>
          <p:nvPr/>
        </p:nvSpPr>
        <p:spPr bwMode="auto">
          <a:xfrm>
            <a:off x="9557115" y="2701843"/>
            <a:ext cx="145654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Tenant 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C2A02B3-C08C-28EB-4F73-1D64EEF899EF}"/>
              </a:ext>
            </a:extLst>
          </p:cNvPr>
          <p:cNvSpPr/>
          <p:nvPr/>
        </p:nvSpPr>
        <p:spPr bwMode="auto">
          <a:xfrm>
            <a:off x="4515685" y="3818103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4B0E979-AC45-3010-8E6F-6953372BB595}"/>
              </a:ext>
            </a:extLst>
          </p:cNvPr>
          <p:cNvSpPr/>
          <p:nvPr/>
        </p:nvSpPr>
        <p:spPr bwMode="auto">
          <a:xfrm>
            <a:off x="2048879" y="3846315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06F11E-7F78-8D9C-EC10-094EE463D83C}"/>
              </a:ext>
            </a:extLst>
          </p:cNvPr>
          <p:cNvSpPr/>
          <p:nvPr/>
        </p:nvSpPr>
        <p:spPr bwMode="auto">
          <a:xfrm>
            <a:off x="3035008" y="3744445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35554D-C32E-388C-7829-0BF753531547}"/>
              </a:ext>
            </a:extLst>
          </p:cNvPr>
          <p:cNvSpPr/>
          <p:nvPr/>
        </p:nvSpPr>
        <p:spPr bwMode="auto">
          <a:xfrm>
            <a:off x="505988" y="3744445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DAF8F54-168B-6E63-5309-6D4345B2B44A}"/>
              </a:ext>
            </a:extLst>
          </p:cNvPr>
          <p:cNvSpPr/>
          <p:nvPr/>
        </p:nvSpPr>
        <p:spPr bwMode="auto">
          <a:xfrm>
            <a:off x="2017772" y="4783906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04BB58-FBAC-0570-F08A-651B389E67B0}"/>
              </a:ext>
            </a:extLst>
          </p:cNvPr>
          <p:cNvSpPr/>
          <p:nvPr/>
        </p:nvSpPr>
        <p:spPr bwMode="auto">
          <a:xfrm>
            <a:off x="3035007" y="4700949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90213-FE15-A393-901D-15670589B5CE}"/>
              </a:ext>
            </a:extLst>
          </p:cNvPr>
          <p:cNvSpPr/>
          <p:nvPr/>
        </p:nvSpPr>
        <p:spPr bwMode="auto">
          <a:xfrm>
            <a:off x="505987" y="4682035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1BB275B-3383-8550-387F-E93E33CD9845}"/>
              </a:ext>
            </a:extLst>
          </p:cNvPr>
          <p:cNvSpPr/>
          <p:nvPr/>
        </p:nvSpPr>
        <p:spPr bwMode="auto">
          <a:xfrm>
            <a:off x="4546790" y="4755693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696E608-F130-76EA-D39A-16A0E20F0743}"/>
              </a:ext>
            </a:extLst>
          </p:cNvPr>
          <p:cNvSpPr/>
          <p:nvPr/>
        </p:nvSpPr>
        <p:spPr bwMode="auto">
          <a:xfrm rot="19949882">
            <a:off x="6624889" y="3654920"/>
            <a:ext cx="3009978" cy="50004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fabric-</a:t>
            </a: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C4E207A-A0C7-F7E5-D6F7-89545FE3A1C3}"/>
              </a:ext>
            </a:extLst>
          </p:cNvPr>
          <p:cNvSpPr/>
          <p:nvPr/>
        </p:nvSpPr>
        <p:spPr bwMode="auto">
          <a:xfrm rot="1459479">
            <a:off x="6605421" y="5113862"/>
            <a:ext cx="3009813" cy="50004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fabric-</a:t>
            </a: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1AE1B1-0786-E5F5-23A2-811654EFBE3B}"/>
              </a:ext>
            </a:extLst>
          </p:cNvPr>
          <p:cNvSpPr/>
          <p:nvPr/>
        </p:nvSpPr>
        <p:spPr bwMode="auto">
          <a:xfrm>
            <a:off x="9557115" y="4092108"/>
            <a:ext cx="145654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Tenant 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B389F7-9F0D-9262-29BF-F6671D094AFA}"/>
              </a:ext>
            </a:extLst>
          </p:cNvPr>
          <p:cNvSpPr/>
          <p:nvPr/>
        </p:nvSpPr>
        <p:spPr bwMode="auto">
          <a:xfrm>
            <a:off x="9557115" y="5482374"/>
            <a:ext cx="145654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Tenant 3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83C78-05F8-C176-257A-42388FA4D4D0}"/>
              </a:ext>
            </a:extLst>
          </p:cNvPr>
          <p:cNvSpPr/>
          <p:nvPr/>
        </p:nvSpPr>
        <p:spPr bwMode="auto">
          <a:xfrm>
            <a:off x="6012751" y="3744445"/>
            <a:ext cx="1387689" cy="1737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9DB9B3-959A-DE74-9FAF-BBE15963F69E}"/>
              </a:ext>
            </a:extLst>
          </p:cNvPr>
          <p:cNvSpPr/>
          <p:nvPr/>
        </p:nvSpPr>
        <p:spPr bwMode="auto">
          <a:xfrm>
            <a:off x="6012751" y="1646230"/>
            <a:ext cx="138768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22B840D-F415-6D7E-C55B-A1530C514A82}"/>
              </a:ext>
            </a:extLst>
          </p:cNvPr>
          <p:cNvSpPr/>
          <p:nvPr/>
        </p:nvSpPr>
        <p:spPr bwMode="auto">
          <a:xfrm rot="16200000">
            <a:off x="6152743" y="2921340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6DDB2-8628-69F7-CC36-CB340C40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5: Release process using fabric-</a:t>
            </a:r>
            <a:r>
              <a:rPr lang="en-US" dirty="0" err="1"/>
              <a:t>cicd</a:t>
            </a:r>
            <a:r>
              <a:rPr lang="en-US" dirty="0"/>
              <a:t> (multi-tenant)</a:t>
            </a:r>
          </a:p>
        </p:txBody>
      </p:sp>
    </p:spTree>
    <p:extLst>
      <p:ext uri="{BB962C8B-B14F-4D97-AF65-F5344CB8AC3E}">
        <p14:creationId xmlns:p14="http://schemas.microsoft.com/office/powerpoint/2010/main" val="231698883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Props1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12537</TotalTime>
  <Words>1866</Words>
  <Application>Microsoft Office PowerPoint</Application>
  <PresentationFormat>Custom</PresentationFormat>
  <Paragraphs>476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Best Practices with Fabric CI/CD</vt:lpstr>
      <vt:lpstr>Motivation for CI/CD</vt:lpstr>
      <vt:lpstr>Fabric Support for CI/CD</vt:lpstr>
      <vt:lpstr>Example Fabric Solution - Product Sales</vt:lpstr>
      <vt:lpstr>Fabric GIT Integration</vt:lpstr>
      <vt:lpstr>GIT Source Control Connections</vt:lpstr>
      <vt:lpstr>Serialization of Workspace Items to Item Definitions</vt:lpstr>
      <vt:lpstr>Feature Workspaces</vt:lpstr>
      <vt:lpstr>Development Process for Contiguous Integration</vt:lpstr>
      <vt:lpstr>High-level Overview of End-to-End Workflows for CI/CD</vt:lpstr>
      <vt:lpstr>Deployment Pipelines</vt:lpstr>
      <vt:lpstr>Integrating GIT Sync with Deployment Pipeline</vt:lpstr>
      <vt:lpstr>Variable Library</vt:lpstr>
      <vt:lpstr>Motivation for a Parameterization Strategy</vt:lpstr>
      <vt:lpstr>Extending Variable Library with Value Sets</vt:lpstr>
      <vt:lpstr>Workspace Item Type Capabilities for CI/CD</vt:lpstr>
      <vt:lpstr>Auto-bind behavior</vt:lpstr>
      <vt:lpstr>Item Definition Files</vt:lpstr>
      <vt:lpstr>Semantic Model Item Definition</vt:lpstr>
      <vt:lpstr>Automation in Fabric CI/CD project</vt:lpstr>
      <vt:lpstr>Automation Required After Update-from-GIT Operation</vt:lpstr>
      <vt:lpstr>What are options for writing automation logic? </vt:lpstr>
      <vt:lpstr>Using Terraform for Fabric CI/CD project setup</vt:lpstr>
      <vt:lpstr>The fabric-cicd Python Library</vt:lpstr>
      <vt:lpstr>Parameterization with fabric-cicd</vt:lpstr>
      <vt:lpstr>Python Code for fabric-cicd Deployment</vt:lpstr>
      <vt:lpstr>Developing CI/CD Workflows using GIT Provider</vt:lpstr>
      <vt:lpstr>Option 1: Release process using Deployment Pipeline</vt:lpstr>
      <vt:lpstr>Option 2: Release process using GIT Sync</vt:lpstr>
      <vt:lpstr>Option 3: Release process using fabric-cicd (multi-branch)</vt:lpstr>
      <vt:lpstr>Option 4: Release process using fabric-cicd (single-branch)</vt:lpstr>
      <vt:lpstr>Option 5: Release process using fabric-cicd (multi-tenant)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44</cp:revision>
  <cp:lastPrinted>2025-03-29T10:59:42Z</cp:lastPrinted>
  <dcterms:created xsi:type="dcterms:W3CDTF">2018-09-21T01:16:59Z</dcterms:created>
  <dcterms:modified xsi:type="dcterms:W3CDTF">2026-02-04T17:22:53Z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